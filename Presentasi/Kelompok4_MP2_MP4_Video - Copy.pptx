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charts/chart6.xml" ContentType="application/vnd.openxmlformats-officedocument.drawingml.chart+xml"/>
  <Override PartName="/ppt/notesSlides/notesSlide13.xml" ContentType="application/vnd.openxmlformats-officedocument.presentationml.notesSlide+xml"/>
  <Override PartName="/ppt/charts/chart7.xml" ContentType="application/vnd.openxmlformats-officedocument.drawingml.chart+xml"/>
  <Override PartName="/ppt/notesSlides/notesSlide14.xml" ContentType="application/vnd.openxmlformats-officedocument.presentationml.notesSlide+xml"/>
  <Override PartName="/ppt/charts/chart8.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2" autoAdjust="0"/>
  </p:normalViewPr>
  <p:slideViewPr>
    <p:cSldViewPr snapToGrid="0">
      <p:cViewPr varScale="1">
        <p:scale>
          <a:sx n="103" d="100"/>
          <a:sy n="103" d="100"/>
        </p:scale>
        <p:origin x="79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Jumlah kunjungan</c:v>
          </c:tx>
          <c:spPr>
            <a:solidFill>
              <a:srgbClr val="087F8C"/>
            </a:solidFill>
          </c:spPr>
          <c:invertIfNegative val="0"/>
          <c:dLbls>
            <c:numFmt formatCode="#,##0" sourceLinked="0"/>
            <c:spPr>
              <a:noFill/>
              <a:ln>
                <a:noFill/>
              </a:ln>
              <a:effectLst/>
            </c:spPr>
            <c:txPr>
              <a:bodyPr anchorCtr="1"/>
              <a:lstStyle/>
              <a:p>
                <a:pPr>
                  <a:defRPr sz="1500" b="1">
                    <a:solidFill>
                      <a:srgbClr val="15364A"/>
                    </a:solidFill>
                    <a:latin typeface="DejaVu Sans"/>
                    <a:ea typeface="DejaVu Sans"/>
                    <a:cs typeface="DejaVu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Bukan &lt;30</c:v>
                </c:pt>
                <c:pt idx="1">
                  <c:v>&lt;30</c:v>
                </c:pt>
              </c:strCache>
            </c:strRef>
          </c:cat>
          <c:val>
            <c:numRef>
              <c:f>'Chart Data'!$B$2:$B$3</c:f>
              <c:numCache>
                <c:formatCode>#,##0</c:formatCode>
                <c:ptCount val="2"/>
                <c:pt idx="0">
                  <c:v>90409</c:v>
                </c:pt>
                <c:pt idx="1">
                  <c:v>11357</c:v>
                </c:pt>
              </c:numCache>
            </c:numRef>
          </c:val>
          <c:extLst>
            <c:ext xmlns:c16="http://schemas.microsoft.com/office/drawing/2014/chart" uri="{C3380CC4-5D6E-409C-BE32-E72D297353CC}">
              <c16:uniqueId val="{00000000-10C0-4FC8-AD61-C12AC9ECF767}"/>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00">
                <a:solidFill>
                  <a:srgbClr val="52636F"/>
                </a:solidFill>
                <a:latin typeface="DejaVu Sans"/>
                <a:ea typeface="DejaVu Sans"/>
                <a:cs typeface="DejaVu Sans"/>
              </a:defRPr>
            </a:pPr>
            <a:endParaRPr lang="en-US"/>
          </a:p>
        </c:txPr>
        <c:crossAx val="48672768"/>
        <c:crosses val="autoZero"/>
        <c:auto val="1"/>
        <c:lblAlgn val="ctr"/>
        <c:lblOffset val="100"/>
        <c:noMultiLvlLbl val="1"/>
      </c:catAx>
      <c:valAx>
        <c:axId val="48672768"/>
        <c:scaling>
          <c:orientation val="minMax"/>
          <c:max val="110000"/>
          <c:min val="0"/>
        </c:scaling>
        <c:delete val="0"/>
        <c:axPos val="l"/>
        <c:majorGridlines>
          <c:spPr>
            <a:ln w="9525">
              <a:solidFill>
                <a:srgbClr val="DCE5E9"/>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52636F"/>
                </a:solidFill>
                <a:latin typeface="DejaVu Sans"/>
                <a:ea typeface="DejaVu Sans"/>
                <a:cs typeface="DejaVu Sans"/>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Nilai hilang</c:v>
          </c:tx>
          <c:spPr>
            <a:solidFill>
              <a:srgbClr val="087F8C"/>
            </a:solidFill>
          </c:spPr>
          <c:invertIfNegative val="0"/>
          <c:dLbls>
            <c:numFmt formatCode="0.0%" sourceLinked="0"/>
            <c:spPr>
              <a:noFill/>
              <a:ln>
                <a:noFill/>
              </a:ln>
              <a:effectLst/>
            </c:spPr>
            <c:txPr>
              <a:bodyPr anchorCtr="1"/>
              <a:lstStyle/>
              <a:p>
                <a:pPr>
                  <a:defRPr sz="1500" b="1">
                    <a:solidFill>
                      <a:srgbClr val="15364A"/>
                    </a:solidFill>
                    <a:latin typeface="DejaVu Sans"/>
                    <a:ea typeface="DejaVu Sans"/>
                    <a:cs typeface="DejaVu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Weight</c:v>
                </c:pt>
                <c:pt idx="1">
                  <c:v>Spesialisasi</c:v>
                </c:pt>
                <c:pt idx="2">
                  <c:v>Payer code</c:v>
                </c:pt>
                <c:pt idx="3">
                  <c:v>Race</c:v>
                </c:pt>
              </c:strCache>
            </c:strRef>
          </c:cat>
          <c:val>
            <c:numRef>
              <c:f>'Chart Data'!$B$2:$B$5</c:f>
              <c:numCache>
                <c:formatCode>0.0%</c:formatCode>
                <c:ptCount val="4"/>
                <c:pt idx="0">
                  <c:v>0.96858478999999997</c:v>
                </c:pt>
                <c:pt idx="1">
                  <c:v>0.49082207999999999</c:v>
                </c:pt>
                <c:pt idx="2">
                  <c:v>0.39557416000000001</c:v>
                </c:pt>
                <c:pt idx="3">
                  <c:v>2.2335549999999999E-2</c:v>
                </c:pt>
              </c:numCache>
            </c:numRef>
          </c:val>
          <c:extLst>
            <c:ext xmlns:c16="http://schemas.microsoft.com/office/drawing/2014/chart" uri="{C3380CC4-5D6E-409C-BE32-E72D297353CC}">
              <c16:uniqueId val="{00000000-DEBF-4DAC-AAAE-F9A63691ADF5}"/>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00">
                <a:solidFill>
                  <a:srgbClr val="52636F"/>
                </a:solidFill>
                <a:latin typeface="DejaVu Sans"/>
                <a:ea typeface="DejaVu Sans"/>
                <a:cs typeface="DejaVu Sans"/>
              </a:defRPr>
            </a:pPr>
            <a:endParaRPr lang="en-US"/>
          </a:p>
        </c:txPr>
        <c:crossAx val="48672768"/>
        <c:crosses val="autoZero"/>
        <c:auto val="1"/>
        <c:lblAlgn val="ctr"/>
        <c:lblOffset val="100"/>
        <c:noMultiLvlLbl val="1"/>
      </c:catAx>
      <c:valAx>
        <c:axId val="48672768"/>
        <c:scaling>
          <c:orientation val="minMax"/>
          <c:max val="1.1000000000000001"/>
          <c:min val="0"/>
        </c:scaling>
        <c:delete val="0"/>
        <c:axPos val="l"/>
        <c:majorGridlines>
          <c:spPr>
            <a:ln w="9525">
              <a:solidFill>
                <a:srgbClr val="DCE5E9"/>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350">
                <a:solidFill>
                  <a:srgbClr val="52636F"/>
                </a:solidFill>
                <a:latin typeface="DejaVu Sans"/>
                <a:ea typeface="DejaVu Sans"/>
                <a:cs typeface="DejaVu Sans"/>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Jumlah dimensi</c:v>
          </c:tx>
          <c:spPr>
            <a:solidFill>
              <a:srgbClr val="087F8C"/>
            </a:solidFill>
          </c:spPr>
          <c:invertIfNegative val="0"/>
          <c:dLbls>
            <c:numFmt formatCode="0" sourceLinked="0"/>
            <c:spPr>
              <a:noFill/>
              <a:ln>
                <a:noFill/>
              </a:ln>
              <a:effectLst/>
            </c:spPr>
            <c:txPr>
              <a:bodyPr anchorCtr="1"/>
              <a:lstStyle/>
              <a:p>
                <a:pPr>
                  <a:defRPr sz="1500" b="1">
                    <a:solidFill>
                      <a:srgbClr val="15364A"/>
                    </a:solidFill>
                    <a:latin typeface="DejaVu Sans"/>
                    <a:ea typeface="DejaVu Sans"/>
                    <a:cs typeface="DejaVu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Encoded</c:v>
                </c:pt>
                <c:pt idx="1">
                  <c:v>Nonconstant</c:v>
                </c:pt>
                <c:pt idx="2">
                  <c:v>Selected</c:v>
                </c:pt>
              </c:strCache>
            </c:strRef>
          </c:cat>
          <c:val>
            <c:numRef>
              <c:f>'Chart Data'!$B$2:$B$4</c:f>
              <c:numCache>
                <c:formatCode>0</c:formatCode>
                <c:ptCount val="3"/>
                <c:pt idx="0">
                  <c:v>944</c:v>
                </c:pt>
                <c:pt idx="1">
                  <c:v>941</c:v>
                </c:pt>
                <c:pt idx="2">
                  <c:v>705</c:v>
                </c:pt>
              </c:numCache>
            </c:numRef>
          </c:val>
          <c:extLst>
            <c:ext xmlns:c16="http://schemas.microsoft.com/office/drawing/2014/chart" uri="{C3380CC4-5D6E-409C-BE32-E72D297353CC}">
              <c16:uniqueId val="{00000000-5E18-43F8-ADC5-2D0409C45CBB}"/>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00">
                <a:solidFill>
                  <a:srgbClr val="52636F"/>
                </a:solidFill>
                <a:latin typeface="DejaVu Sans"/>
                <a:ea typeface="DejaVu Sans"/>
                <a:cs typeface="DejaVu Sans"/>
              </a:defRPr>
            </a:pPr>
            <a:endParaRPr lang="en-US"/>
          </a:p>
        </c:txPr>
        <c:crossAx val="48672768"/>
        <c:crosses val="autoZero"/>
        <c:auto val="1"/>
        <c:lblAlgn val="ctr"/>
        <c:lblOffset val="100"/>
        <c:noMultiLvlLbl val="1"/>
      </c:catAx>
      <c:valAx>
        <c:axId val="48672768"/>
        <c:scaling>
          <c:orientation val="minMax"/>
          <c:max val="1100"/>
          <c:min val="0"/>
        </c:scaling>
        <c:delete val="0"/>
        <c:axPos val="l"/>
        <c:majorGridlines>
          <c:spPr>
            <a:ln w="9525">
              <a:solidFill>
                <a:srgbClr val="DCE5E9"/>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52636F"/>
                </a:solidFill>
                <a:latin typeface="DejaVu Sans"/>
                <a:ea typeface="DejaVu Sans"/>
                <a:cs typeface="DejaVu Sans"/>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Baseline</c:v>
          </c:tx>
          <c:spPr>
            <a:solidFill>
              <a:srgbClr val="8196A3"/>
            </a:solidFill>
          </c:spPr>
          <c:invertIfNegative val="0"/>
          <c:dLbls>
            <c:numFmt formatCode="0.0%" sourceLinked="0"/>
            <c:spPr>
              <a:noFill/>
              <a:ln>
                <a:noFill/>
              </a:ln>
              <a:effectLst/>
            </c:spPr>
            <c:txPr>
              <a:bodyPr anchorCtr="1"/>
              <a:lstStyle/>
              <a:p>
                <a:pPr>
                  <a:defRPr sz="1500" b="1">
                    <a:solidFill>
                      <a:srgbClr val="15364A"/>
                    </a:solidFill>
                    <a:latin typeface="DejaVu Sans"/>
                    <a:ea typeface="DejaVu Sans"/>
                    <a:cs typeface="DejaVu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Accuracy</c:v>
                </c:pt>
                <c:pt idx="1">
                  <c:v>F1 positif</c:v>
                </c:pt>
                <c:pt idx="2">
                  <c:v>Recall</c:v>
                </c:pt>
              </c:strCache>
            </c:strRef>
          </c:cat>
          <c:val>
            <c:numRef>
              <c:f>'Chart Data'!$B$2:$B$4</c:f>
              <c:numCache>
                <c:formatCode>0.0%</c:formatCode>
                <c:ptCount val="3"/>
                <c:pt idx="0">
                  <c:v>0.62451199999999996</c:v>
                </c:pt>
                <c:pt idx="1">
                  <c:v>0.27294200000000002</c:v>
                </c:pt>
                <c:pt idx="2">
                  <c:v>0.61005500000000001</c:v>
                </c:pt>
              </c:numCache>
            </c:numRef>
          </c:val>
          <c:extLst>
            <c:ext xmlns:c16="http://schemas.microsoft.com/office/drawing/2014/chart" uri="{C3380CC4-5D6E-409C-BE32-E72D297353CC}">
              <c16:uniqueId val="{00000000-FDB6-4DA8-8CA5-979588A18BFC}"/>
            </c:ext>
          </c:extLst>
        </c:ser>
        <c:ser>
          <c:idx val="1"/>
          <c:order val="1"/>
          <c:tx>
            <c:v>Pipeline penuh</c:v>
          </c:tx>
          <c:spPr>
            <a:solidFill>
              <a:srgbClr val="087F8C"/>
            </a:solidFill>
          </c:spPr>
          <c:invertIfNegative val="0"/>
          <c:dLbls>
            <c:numFmt formatCode="0.0%" sourceLinked="0"/>
            <c:spPr>
              <a:noFill/>
              <a:ln>
                <a:noFill/>
              </a:ln>
              <a:effectLst/>
            </c:spPr>
            <c:txPr>
              <a:bodyPr anchorCtr="1"/>
              <a:lstStyle/>
              <a:p>
                <a:pPr>
                  <a:defRPr sz="1500" b="1">
                    <a:solidFill>
                      <a:srgbClr val="15364A"/>
                    </a:solidFill>
                    <a:latin typeface="DejaVu Sans"/>
                    <a:ea typeface="DejaVu Sans"/>
                    <a:cs typeface="DejaVu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Accuracy</c:v>
                </c:pt>
                <c:pt idx="1">
                  <c:v>F1 positif</c:v>
                </c:pt>
                <c:pt idx="2">
                  <c:v>Recall</c:v>
                </c:pt>
              </c:strCache>
            </c:strRef>
          </c:cat>
          <c:val>
            <c:numRef>
              <c:f>'Chart Data'!$D$2:$D$4</c:f>
              <c:numCache>
                <c:formatCode>0.0%</c:formatCode>
                <c:ptCount val="3"/>
                <c:pt idx="0">
                  <c:v>0.59971699999999994</c:v>
                </c:pt>
                <c:pt idx="1">
                  <c:v>0.27082800000000001</c:v>
                </c:pt>
                <c:pt idx="2">
                  <c:v>0.64343099999999998</c:v>
                </c:pt>
              </c:numCache>
            </c:numRef>
          </c:val>
          <c:extLst>
            <c:ext xmlns:c16="http://schemas.microsoft.com/office/drawing/2014/chart" uri="{C3380CC4-5D6E-409C-BE32-E72D297353CC}">
              <c16:uniqueId val="{00000001-FDB6-4DA8-8CA5-979588A18BFC}"/>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00">
                <a:solidFill>
                  <a:srgbClr val="52636F"/>
                </a:solidFill>
                <a:latin typeface="DejaVu Sans"/>
                <a:ea typeface="DejaVu Sans"/>
                <a:cs typeface="DejaVu Sans"/>
              </a:defRPr>
            </a:pPr>
            <a:endParaRPr lang="en-US"/>
          </a:p>
        </c:txPr>
        <c:crossAx val="48672768"/>
        <c:crosses val="autoZero"/>
        <c:auto val="1"/>
        <c:lblAlgn val="ctr"/>
        <c:lblOffset val="100"/>
        <c:noMultiLvlLbl val="1"/>
      </c:catAx>
      <c:valAx>
        <c:axId val="48672768"/>
        <c:scaling>
          <c:orientation val="minMax"/>
          <c:max val="0.8"/>
          <c:min val="0"/>
        </c:scaling>
        <c:delete val="0"/>
        <c:axPos val="l"/>
        <c:majorGridlines>
          <c:spPr>
            <a:ln w="9525">
              <a:solidFill>
                <a:srgbClr val="DCE5E9"/>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350">
                <a:solidFill>
                  <a:srgbClr val="52636F"/>
                </a:solidFill>
                <a:latin typeface="DejaVu Sans"/>
                <a:ea typeface="DejaVu Sans"/>
                <a:cs typeface="DejaVu Sans"/>
              </a:defRPr>
            </a:pPr>
            <a:endParaRPr lang="en-US"/>
          </a:p>
        </c:txPr>
        <c:crossAx val="48650112"/>
        <c:crosses val="autoZero"/>
        <c:crossBetween val="between"/>
      </c:valAx>
      <c:spPr>
        <a:solidFill>
          <a:srgbClr val="FFFFFF"/>
        </a:solidFill>
      </c:spPr>
    </c:plotArea>
    <c:legend>
      <c:legendPos val="b"/>
      <c:overlay val="0"/>
      <c:txPr>
        <a:bodyPr anchorCtr="1"/>
        <a:lstStyle/>
        <a:p>
          <a:pPr>
            <a:defRPr sz="1500">
              <a:latin typeface="DejaVu Sans"/>
              <a:ea typeface="DejaVu Sans"/>
              <a:cs typeface="DejaVu Sans"/>
            </a:defRPr>
          </a:pPr>
          <a:endParaRPr lang="en-US"/>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Proporsi readmisi &lt;30</c:v>
          </c:tx>
          <c:spPr>
            <a:solidFill>
              <a:srgbClr val="087F8C"/>
            </a:solidFill>
          </c:spPr>
          <c:invertIfNegative val="0"/>
          <c:dLbls>
            <c:numFmt formatCode="0.0%" sourceLinked="0"/>
            <c:spPr>
              <a:noFill/>
              <a:ln>
                <a:noFill/>
              </a:ln>
              <a:effectLst/>
            </c:spPr>
            <c:txPr>
              <a:bodyPr anchorCtr="1"/>
              <a:lstStyle/>
              <a:p>
                <a:pPr>
                  <a:defRPr sz="1500" b="1">
                    <a:solidFill>
                      <a:srgbClr val="15364A"/>
                    </a:solidFill>
                    <a:latin typeface="DejaVu Sans"/>
                    <a:ea typeface="DejaVu Sans"/>
                    <a:cs typeface="DejaVu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Data'!$A$2:$A$11</c:f>
              <c:strCache>
                <c:ptCount val="10"/>
                <c:pt idx="0">
                  <c:v>0–9</c:v>
                </c:pt>
                <c:pt idx="1">
                  <c:v>10–19</c:v>
                </c:pt>
                <c:pt idx="2">
                  <c:v>20–29</c:v>
                </c:pt>
                <c:pt idx="3">
                  <c:v>30–39</c:v>
                </c:pt>
                <c:pt idx="4">
                  <c:v>40–49</c:v>
                </c:pt>
                <c:pt idx="5">
                  <c:v>50–59</c:v>
                </c:pt>
                <c:pt idx="6">
                  <c:v>60–69</c:v>
                </c:pt>
                <c:pt idx="7">
                  <c:v>70–79</c:v>
                </c:pt>
                <c:pt idx="8">
                  <c:v>80–89</c:v>
                </c:pt>
                <c:pt idx="9">
                  <c:v>90–99</c:v>
                </c:pt>
              </c:strCache>
            </c:strRef>
          </c:cat>
          <c:val>
            <c:numRef>
              <c:f>'Chart Data'!$B$2:$B$11</c:f>
              <c:numCache>
                <c:formatCode>0.0%</c:formatCode>
                <c:ptCount val="10"/>
                <c:pt idx="0">
                  <c:v>3.2258000000000002E-2</c:v>
                </c:pt>
                <c:pt idx="1">
                  <c:v>5.5690000000000003E-2</c:v>
                </c:pt>
                <c:pt idx="2">
                  <c:v>0.139653</c:v>
                </c:pt>
                <c:pt idx="3">
                  <c:v>0.11340699999999999</c:v>
                </c:pt>
                <c:pt idx="4">
                  <c:v>0.107325</c:v>
                </c:pt>
                <c:pt idx="5">
                  <c:v>9.4705999999999999E-2</c:v>
                </c:pt>
                <c:pt idx="6">
                  <c:v>0.110196</c:v>
                </c:pt>
                <c:pt idx="7">
                  <c:v>0.11792999999999999</c:v>
                </c:pt>
                <c:pt idx="8">
                  <c:v>0.11999600000000001</c:v>
                </c:pt>
                <c:pt idx="9">
                  <c:v>0.111177</c:v>
                </c:pt>
              </c:numCache>
            </c:numRef>
          </c:val>
          <c:extLst>
            <c:ext xmlns:c16="http://schemas.microsoft.com/office/drawing/2014/chart" uri="{C3380CC4-5D6E-409C-BE32-E72D297353CC}">
              <c16:uniqueId val="{00000000-0F52-48AC-ABB8-9A8E9EA5CC6B}"/>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00">
                <a:solidFill>
                  <a:srgbClr val="52636F"/>
                </a:solidFill>
                <a:latin typeface="DejaVu Sans"/>
                <a:ea typeface="DejaVu Sans"/>
                <a:cs typeface="DejaVu Sans"/>
              </a:defRPr>
            </a:pPr>
            <a:endParaRPr lang="en-US"/>
          </a:p>
        </c:txPr>
        <c:crossAx val="48672768"/>
        <c:crosses val="autoZero"/>
        <c:auto val="1"/>
        <c:lblAlgn val="ctr"/>
        <c:lblOffset val="100"/>
        <c:noMultiLvlLbl val="1"/>
      </c:catAx>
      <c:valAx>
        <c:axId val="48672768"/>
        <c:scaling>
          <c:orientation val="minMax"/>
          <c:max val="0.18"/>
          <c:min val="0"/>
        </c:scaling>
        <c:delete val="0"/>
        <c:axPos val="l"/>
        <c:majorGridlines>
          <c:spPr>
            <a:ln w="9525">
              <a:solidFill>
                <a:srgbClr val="DCE5E9"/>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350">
                <a:solidFill>
                  <a:srgbClr val="52636F"/>
                </a:solidFill>
                <a:latin typeface="DejaVu Sans"/>
                <a:ea typeface="DejaVu Sans"/>
                <a:cs typeface="DejaVu Sans"/>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Proporsi readmisi &lt;30</c:v>
          </c:tx>
          <c:spPr>
            <a:solidFill>
              <a:srgbClr val="087F8C"/>
            </a:solidFill>
          </c:spPr>
          <c:invertIfNegative val="0"/>
          <c:dLbls>
            <c:numFmt formatCode="0.0%" sourceLinked="0"/>
            <c:spPr>
              <a:noFill/>
              <a:ln>
                <a:noFill/>
              </a:ln>
              <a:effectLst/>
            </c:spPr>
            <c:txPr>
              <a:bodyPr anchorCtr="1"/>
              <a:lstStyle/>
              <a:p>
                <a:pPr>
                  <a:defRPr sz="1500" b="1">
                    <a:solidFill>
                      <a:srgbClr val="15364A"/>
                    </a:solidFill>
                    <a:latin typeface="DejaVu Sans"/>
                    <a:ea typeface="DejaVu Sans"/>
                    <a:cs typeface="DejaVu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0</c:v>
                </c:pt>
                <c:pt idx="1">
                  <c:v>1</c:v>
                </c:pt>
                <c:pt idx="2">
                  <c:v>2</c:v>
                </c:pt>
                <c:pt idx="3">
                  <c:v>3+</c:v>
                </c:pt>
              </c:strCache>
            </c:strRef>
          </c:cat>
          <c:val>
            <c:numRef>
              <c:f>'Chart Data'!$B$2:$B$5</c:f>
              <c:numCache>
                <c:formatCode>0.0%</c:formatCode>
                <c:ptCount val="4"/>
                <c:pt idx="0">
                  <c:v>8.4277000000000005E-2</c:v>
                </c:pt>
                <c:pt idx="1">
                  <c:v>0.12823100000000001</c:v>
                </c:pt>
                <c:pt idx="2">
                  <c:v>0.17446200000000001</c:v>
                </c:pt>
                <c:pt idx="3">
                  <c:v>0.25553900000000002</c:v>
                </c:pt>
              </c:numCache>
            </c:numRef>
          </c:val>
          <c:extLst>
            <c:ext xmlns:c16="http://schemas.microsoft.com/office/drawing/2014/chart" uri="{C3380CC4-5D6E-409C-BE32-E72D297353CC}">
              <c16:uniqueId val="{00000000-800B-4CAC-A2E1-BB59D98B33A7}"/>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00">
                <a:solidFill>
                  <a:srgbClr val="52636F"/>
                </a:solidFill>
                <a:latin typeface="DejaVu Sans"/>
                <a:ea typeface="DejaVu Sans"/>
                <a:cs typeface="DejaVu Sans"/>
              </a:defRPr>
            </a:pPr>
            <a:endParaRPr lang="en-US"/>
          </a:p>
        </c:txPr>
        <c:crossAx val="48672768"/>
        <c:crosses val="autoZero"/>
        <c:auto val="1"/>
        <c:lblAlgn val="ctr"/>
        <c:lblOffset val="100"/>
        <c:noMultiLvlLbl val="1"/>
      </c:catAx>
      <c:valAx>
        <c:axId val="48672768"/>
        <c:scaling>
          <c:orientation val="minMax"/>
          <c:max val="0.32"/>
          <c:min val="0"/>
        </c:scaling>
        <c:delete val="0"/>
        <c:axPos val="l"/>
        <c:majorGridlines>
          <c:spPr>
            <a:ln w="9525">
              <a:solidFill>
                <a:srgbClr val="DCE5E9"/>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350">
                <a:solidFill>
                  <a:srgbClr val="52636F"/>
                </a:solidFill>
                <a:latin typeface="DejaVu Sans"/>
                <a:ea typeface="DejaVu Sans"/>
                <a:cs typeface="DejaVu Sans"/>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Skewness</c:v>
          </c:tx>
          <c:spPr>
            <a:solidFill>
              <a:srgbClr val="087F8C"/>
            </a:solidFill>
          </c:spPr>
          <c:invertIfNegative val="0"/>
          <c:dLbls>
            <c:numFmt formatCode="0.00" sourceLinked="0"/>
            <c:spPr>
              <a:noFill/>
              <a:ln>
                <a:noFill/>
              </a:ln>
              <a:effectLst/>
            </c:spPr>
            <c:txPr>
              <a:bodyPr anchorCtr="1"/>
              <a:lstStyle/>
              <a:p>
                <a:pPr>
                  <a:defRPr sz="1500" b="1">
                    <a:solidFill>
                      <a:srgbClr val="15364A"/>
                    </a:solidFill>
                    <a:latin typeface="DejaVu Sans"/>
                    <a:ea typeface="DejaVu Sans"/>
                    <a:cs typeface="DejaVu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Darurat</c:v>
                </c:pt>
                <c:pt idx="1">
                  <c:v>Rawat jalan</c:v>
                </c:pt>
                <c:pt idx="2">
                  <c:v>Rawat inap</c:v>
                </c:pt>
                <c:pt idx="3">
                  <c:v>Lama rawat</c:v>
                </c:pt>
              </c:strCache>
            </c:strRef>
          </c:cat>
          <c:val>
            <c:numRef>
              <c:f>'Chart Data'!$B$2:$B$5</c:f>
              <c:numCache>
                <c:formatCode>0.00</c:formatCode>
                <c:ptCount val="4"/>
                <c:pt idx="0">
                  <c:v>27.849658999999999</c:v>
                </c:pt>
                <c:pt idx="1">
                  <c:v>8.6503940000000004</c:v>
                </c:pt>
                <c:pt idx="2">
                  <c:v>3.4863390000000001</c:v>
                </c:pt>
                <c:pt idx="3">
                  <c:v>1.134415</c:v>
                </c:pt>
              </c:numCache>
            </c:numRef>
          </c:val>
          <c:extLst>
            <c:ext xmlns:c16="http://schemas.microsoft.com/office/drawing/2014/chart" uri="{C3380CC4-5D6E-409C-BE32-E72D297353CC}">
              <c16:uniqueId val="{00000000-92CE-480B-9939-0998CFE8373A}"/>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00">
                <a:solidFill>
                  <a:srgbClr val="52636F"/>
                </a:solidFill>
                <a:latin typeface="DejaVu Sans"/>
                <a:ea typeface="DejaVu Sans"/>
                <a:cs typeface="DejaVu Sans"/>
              </a:defRPr>
            </a:pPr>
            <a:endParaRPr lang="en-US"/>
          </a:p>
        </c:txPr>
        <c:crossAx val="48672768"/>
        <c:crosses val="autoZero"/>
        <c:auto val="1"/>
        <c:lblAlgn val="ctr"/>
        <c:lblOffset val="100"/>
        <c:noMultiLvlLbl val="1"/>
      </c:catAx>
      <c:valAx>
        <c:axId val="48672768"/>
        <c:scaling>
          <c:orientation val="minMax"/>
          <c:max val="34"/>
          <c:min val="0"/>
        </c:scaling>
        <c:delete val="0"/>
        <c:axPos val="l"/>
        <c:majorGridlines>
          <c:spPr>
            <a:ln w="9525">
              <a:solidFill>
                <a:srgbClr val="DCE5E9"/>
              </a:solidFill>
              <a:prstDash val="solid"/>
            </a:ln>
          </c:spPr>
        </c:majorGridlines>
        <c:numFmt formatCode="0.00" sourceLinked="1"/>
        <c:majorTickMark val="none"/>
        <c:minorTickMark val="none"/>
        <c:tickLblPos val="nextTo"/>
        <c:spPr>
          <a:ln w="9525">
            <a:solidFill>
              <a:srgbClr val="D4D4D4"/>
            </a:solidFill>
            <a:prstDash val="solid"/>
          </a:ln>
        </c:spPr>
        <c:txPr>
          <a:bodyPr anchorCtr="1"/>
          <a:lstStyle/>
          <a:p>
            <a:pPr>
              <a:defRPr sz="1350">
                <a:solidFill>
                  <a:srgbClr val="52636F"/>
                </a:solidFill>
                <a:latin typeface="DejaVu Sans"/>
                <a:ea typeface="DejaVu Sans"/>
                <a:cs typeface="DejaVu Sans"/>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Sebelum</c:v>
          </c:tx>
          <c:spPr>
            <a:solidFill>
              <a:srgbClr val="8196A3"/>
            </a:solidFill>
          </c:spPr>
          <c:invertIfNegative val="0"/>
          <c:dLbls>
            <c:numFmt formatCode="0.0%" sourceLinked="0"/>
            <c:spPr>
              <a:noFill/>
              <a:ln>
                <a:noFill/>
              </a:ln>
              <a:effectLst/>
            </c:spPr>
            <c:txPr>
              <a:bodyPr anchorCtr="1"/>
              <a:lstStyle/>
              <a:p>
                <a:pPr>
                  <a:defRPr sz="1500" b="1">
                    <a:solidFill>
                      <a:srgbClr val="15364A"/>
                    </a:solidFill>
                    <a:latin typeface="DejaVu Sans"/>
                    <a:ea typeface="DejaVu Sans"/>
                    <a:cs typeface="DejaVu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Caucasian</c:v>
                </c:pt>
                <c:pt idx="1">
                  <c:v>Race hilang</c:v>
                </c:pt>
              </c:strCache>
            </c:strRef>
          </c:cat>
          <c:val>
            <c:numRef>
              <c:f>'Chart Data'!$B$2:$B$3</c:f>
              <c:numCache>
                <c:formatCode>0.0%</c:formatCode>
                <c:ptCount val="2"/>
                <c:pt idx="0">
                  <c:v>0.74749498999999997</c:v>
                </c:pt>
                <c:pt idx="1">
                  <c:v>2.2520450000000001E-2</c:v>
                </c:pt>
              </c:numCache>
            </c:numRef>
          </c:val>
          <c:extLst>
            <c:ext xmlns:c16="http://schemas.microsoft.com/office/drawing/2014/chart" uri="{C3380CC4-5D6E-409C-BE32-E72D297353CC}">
              <c16:uniqueId val="{00000000-D47C-48A6-B248-903059871C5B}"/>
            </c:ext>
          </c:extLst>
        </c:ser>
        <c:ser>
          <c:idx val="1"/>
          <c:order val="1"/>
          <c:tx>
            <c:v>Sesudah</c:v>
          </c:tx>
          <c:spPr>
            <a:solidFill>
              <a:srgbClr val="087F8C"/>
            </a:solidFill>
          </c:spPr>
          <c:invertIfNegative val="0"/>
          <c:dLbls>
            <c:numFmt formatCode="0.0%" sourceLinked="0"/>
            <c:spPr>
              <a:noFill/>
              <a:ln>
                <a:noFill/>
              </a:ln>
              <a:effectLst/>
            </c:spPr>
            <c:txPr>
              <a:bodyPr anchorCtr="1"/>
              <a:lstStyle/>
              <a:p>
                <a:pPr>
                  <a:defRPr sz="1500" b="1">
                    <a:solidFill>
                      <a:srgbClr val="15364A"/>
                    </a:solidFill>
                    <a:latin typeface="DejaVu Sans"/>
                    <a:ea typeface="DejaVu Sans"/>
                    <a:cs typeface="DejaVu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Caucasian</c:v>
                </c:pt>
                <c:pt idx="1">
                  <c:v>Race hilang</c:v>
                </c:pt>
              </c:strCache>
            </c:strRef>
          </c:cat>
          <c:val>
            <c:numRef>
              <c:f>'Chart Data'!$D$2:$D$3</c:f>
              <c:numCache>
                <c:formatCode>0.0%</c:formatCode>
                <c:ptCount val="2"/>
                <c:pt idx="0">
                  <c:v>0.77001544</c:v>
                </c:pt>
                <c:pt idx="1">
                  <c:v>0</c:v>
                </c:pt>
              </c:numCache>
            </c:numRef>
          </c:val>
          <c:extLst>
            <c:ext xmlns:c16="http://schemas.microsoft.com/office/drawing/2014/chart" uri="{C3380CC4-5D6E-409C-BE32-E72D297353CC}">
              <c16:uniqueId val="{00000001-D47C-48A6-B248-903059871C5B}"/>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00">
                <a:solidFill>
                  <a:srgbClr val="52636F"/>
                </a:solidFill>
                <a:latin typeface="DejaVu Sans"/>
                <a:ea typeface="DejaVu Sans"/>
                <a:cs typeface="DejaVu Sans"/>
              </a:defRPr>
            </a:pPr>
            <a:endParaRPr lang="en-US"/>
          </a:p>
        </c:txPr>
        <c:crossAx val="48672768"/>
        <c:crosses val="autoZero"/>
        <c:auto val="1"/>
        <c:lblAlgn val="ctr"/>
        <c:lblOffset val="100"/>
        <c:noMultiLvlLbl val="1"/>
      </c:catAx>
      <c:valAx>
        <c:axId val="48672768"/>
        <c:scaling>
          <c:orientation val="minMax"/>
          <c:max val="0.9"/>
          <c:min val="0"/>
        </c:scaling>
        <c:delete val="0"/>
        <c:axPos val="l"/>
        <c:majorGridlines>
          <c:spPr>
            <a:ln w="9525">
              <a:solidFill>
                <a:srgbClr val="DCE5E9"/>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350">
                <a:solidFill>
                  <a:srgbClr val="52636F"/>
                </a:solidFill>
                <a:latin typeface="DejaVu Sans"/>
                <a:ea typeface="DejaVu Sans"/>
                <a:cs typeface="DejaVu Sans"/>
              </a:defRPr>
            </a:pPr>
            <a:endParaRPr lang="en-US"/>
          </a:p>
        </c:txPr>
        <c:crossAx val="48650112"/>
        <c:crosses val="autoZero"/>
        <c:crossBetween val="between"/>
      </c:valAx>
      <c:spPr>
        <a:solidFill>
          <a:srgbClr val="FFFFFF"/>
        </a:solidFill>
      </c:spPr>
    </c:plotArea>
    <c:legend>
      <c:legendPos val="b"/>
      <c:overlay val="0"/>
      <c:txPr>
        <a:bodyPr anchorCtr="1"/>
        <a:lstStyle/>
        <a:p>
          <a:pPr>
            <a:defRPr sz="1500">
              <a:latin typeface="DejaVu Sans"/>
              <a:ea typeface="DejaVu Sans"/>
              <a:cs typeface="DejaVu Sans"/>
            </a:defRPr>
          </a:pPr>
          <a:endParaRPr lang="en-US"/>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Bagus Hardiansyah</a:t>
            </a:r>
          </a:p>
          <a:p>
            <a:r>
              <a:t>NIM: 267150100111001</a:t>
            </a:r>
          </a:p>
          <a:p>
            <a:r>
              <a:t>WAKTU: 00:00–00:35 (35 detik)</a:t>
            </a:r>
          </a:p>
          <a:p>
            <a:endParaRPr/>
          </a:p>
          <a:p>
            <a:r>
              <a:t>NARASI DRAF:</a:t>
            </a:r>
          </a:p>
          <a:p>
            <a:r>
              <a:t>Selamat datang. Kami Kelompok 4 dari Program Doktor Ilmu Komputer Universitas Brawijaya. Presentasi ini membahas MP2 tentang pembersihan data terstruktur dan MP4 tentang exploratory data analysis. Saya Bagus Hardiansyah akan menjelaskan data dan rancangan eksperimen. Mitra Istiar Wardhana membahas keputusan prapemrosesan serta evaluasi model. Harris Imam Fathoni membahas pola EDA dan kesimpulan. Masing-masing mendapat waktu tiga menit dua puluh detik. Fokus kami adalah menunjukkan keputusan berbasis data dan membaca hasil model secara jujur.</a:t>
            </a:r>
          </a:p>
          <a:p>
            <a:endParaRPr/>
          </a:p>
          <a:p>
            <a:r>
              <a:t>SUMBER:</a:t>
            </a:r>
          </a:p>
          <a:p>
            <a:r>
              <a:t>Mini Project 2 (MP2) – Pembersihan Data Terstruktur.pdf, unggahan pengguna. Angka berasal dari eksperimen mp2_colab_.ipynb. Mini Project 4 (MP4) – Exploratory Data Analysis.pdf, unggahan pengguna. Angka berasal dari eksperimen mp4_eda_colab_.ipynb.</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Bagus Hardiansyah</a:t>
            </a:r>
          </a:p>
          <a:p>
            <a:r>
              <a:t>NIM: 267150100111001</a:t>
            </a:r>
          </a:p>
          <a:p>
            <a:r>
              <a:t>WAKTU: 00:35–01:15 (40 detik)</a:t>
            </a:r>
          </a:p>
          <a:p>
            <a:endParaRPr/>
          </a:p>
          <a:p>
            <a:r>
              <a:t>NARASI DRAF:</a:t>
            </a:r>
          </a:p>
          <a:p>
            <a:r>
              <a:t>Dataset yang kami gunakan adalah Diabetes 130-US Hospitals dari UCI, dengan lisensi CC BY 4.0. Berkas aktual memuat 101.766 kunjungan, 50 kolom, dan 71.518 pasien unik. Satu baris adalah kunjungan, sehingga seorang pasien dapat memiliki lebih dari satu baris. Kami menetapkan target positif sebagai readmisi kurang dari 30 hari. Jumlahnya 11.357, atau sekitar 11,16 persen. Ketidakseimbangan ini membuat accuracy saja tidak cukup. Model memakai informasi selama perawatan, sehingga prediksi diposisikan saat pasien keluar rumah sakit.</a:t>
            </a:r>
          </a:p>
          <a:p>
            <a:endParaRPr/>
          </a:p>
          <a:p>
            <a:r>
              <a:t>SUMBER:</a:t>
            </a:r>
          </a:p>
          <a:p>
            <a:r>
              <a:t>Mini Project 2 (MP2) – Pembersihan Data Terstruktur.pdf, unggahan pengguna. Angka berasal dari eksperimen mp2_colab_.ipynb. Hlm. 1. UCI DOI https://doi.org/10.24432/C5230J</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Bagus Hardiansyah</a:t>
            </a:r>
          </a:p>
          <a:p>
            <a:r>
              <a:t>NIM: 267150100111001</a:t>
            </a:r>
          </a:p>
          <a:p>
            <a:r>
              <a:t>WAKTU: 01:15–01:55 (40 detik)</a:t>
            </a:r>
          </a:p>
          <a:p>
            <a:endParaRPr/>
          </a:p>
          <a:p>
            <a:r>
              <a:t>NARASI DRAF:</a:t>
            </a:r>
          </a:p>
          <a:p>
            <a:r>
              <a:t>Kami membagi data berdasarkan identitas pasien, bukan mengacak kunjungan secara bebas. Tujuannya agar kunjungan pasien yang sama tidak muncul pada kelompok pelatihan dan pengujian. Train berisi 60.878 kunjungan, validation 20.400, dan test 20.488. Strategi imputasi dipilih memakai validation. Setelah itu model akhir dilatih ulang pada train ditambah validation dan diuji pada test. Untuk EDA, kami memakai cleaner terpisah yang hanya mempelajari train. Dengan demikian, analisis distribusi MP4 tidak memakai cleaner yang sudah belajar dari validation.</a:t>
            </a:r>
          </a:p>
          <a:p>
            <a:endParaRPr/>
          </a:p>
          <a:p>
            <a:r>
              <a:t>SUMBER:</a:t>
            </a:r>
          </a:p>
          <a:p>
            <a:r>
              <a:t>Mini Project 2 (MP2) – Pembersihan Data Terstruktur.pdf, unggahan pengguna. Angka berasal dari eksperimen mp2_colab_.ipynb. Hlm. 1 dan 4. Mini Project 4 (MP4) – Exploratory Data Analysis.pdf, unggahan pengguna. Angka berasal dari eksperimen mp4_eda_colab_.ipynb. Hlm. 1.</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Bagus Hardiansyah</a:t>
            </a:r>
          </a:p>
          <a:p>
            <a:r>
              <a:t>NIM: 267150100111001</a:t>
            </a:r>
          </a:p>
          <a:p>
            <a:r>
              <a:t>WAKTU: 01:55–02:40 (45 detik)</a:t>
            </a:r>
          </a:p>
          <a:p>
            <a:endParaRPr/>
          </a:p>
          <a:p>
            <a:r>
              <a:t>NARASI DRAF:</a:t>
            </a:r>
          </a:p>
          <a:p>
            <a:r>
              <a:t>Masalah kualitas terbesar adalah data hilang pada weight sebesar 96,86 persen, medical specialty 49,08 persen, dan payer code 39,56 persen. Ketiga fitur itu dikeluarkan dari pipeline penuh sebagai kompromi biaya dan informasi. Race dan diagnosis mempunyai kehilangan lebih kecil, sedangkan gender memiliki tiga kategori invalid. Audit tidak menemukan duplikat baris maupun duplikat encounter ID. Namun ada 16.773 pasien dengan kunjungan berulang. Kami mempertahankannya karena kunjungan berulang bukan duplikat catatan. Nol pelanggaran rentang logis juga tidak membuktikan bahwa semua data benar secara klinis.</a:t>
            </a:r>
          </a:p>
          <a:p>
            <a:endParaRPr/>
          </a:p>
          <a:p>
            <a:r>
              <a:t>SUMBER:</a:t>
            </a:r>
          </a:p>
          <a:p>
            <a:r>
              <a:t>Mini Project 2 (MP2) – Pembersihan Data Terstruktur.pdf, unggahan pengguna. Angka berasal dari eksperimen mp2_colab_.ipynb. Hlm. 2.</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Bagus Hardiansyah</a:t>
            </a:r>
          </a:p>
          <a:p>
            <a:r>
              <a:t>NIM: 267150100111001</a:t>
            </a:r>
          </a:p>
          <a:p>
            <a:r>
              <a:t>WAKTU: 02:40–03:20 (40 detik)</a:t>
            </a:r>
          </a:p>
          <a:p>
            <a:endParaRPr/>
          </a:p>
          <a:p>
            <a:r>
              <a:t>NARASI DRAF:</a:t>
            </a:r>
          </a:p>
          <a:p>
            <a:r>
              <a:t>Kami menggabungkan data utama dengan IDS mapping melalui tiga kode nominal, yaitu jenis penerimaan, disposisi keluar, dan asal penerimaan. Seluruh kode pada observasi berhasil dipetakan, dan setiap join mempertahankan 101.766 kunjungan. Kamus membantu interpretasi, tetapi kedua berkas berasal dari paket yang sama. Karena itu, kami tidak menyebutnya dua sumber klinis independen. Audit juga mencakup akurasi logis, kelengkapan, konsistensi, ketepatan waktu, kepercayaan, dan interpretabilitas. Selanjutnya, Mitra akan menjelaskan strategi pembersihan dan dampaknya pada model.</a:t>
            </a:r>
          </a:p>
          <a:p>
            <a:endParaRPr/>
          </a:p>
          <a:p>
            <a:r>
              <a:t>SUMBER:</a:t>
            </a:r>
          </a:p>
          <a:p>
            <a:r>
              <a:t>Mini Project 2 (MP2) – Pembersihan Data Terstruktur.pdf, unggahan pengguna. Angka berasal dari eksperimen mp2_colab_.ipynb. Hlm. 2.</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Mitra Istiar Wardhana</a:t>
            </a:r>
          </a:p>
          <a:p>
            <a:r>
              <a:t>NIM: 267150100111023</a:t>
            </a:r>
          </a:p>
          <a:p>
            <a:r>
              <a:t>WAKTU: 03:20–04:00 (40 detik)</a:t>
            </a:r>
          </a:p>
          <a:p>
            <a:endParaRPr/>
          </a:p>
          <a:p>
            <a:r>
              <a:t>NARASI DRAF:</a:t>
            </a:r>
          </a:p>
          <a:p>
            <a:r>
              <a:t>Terima kasih, Bagus. Kami membandingkan tiga strategi menggunakan model dan validation yang sama. Penghapusan baris hanya berlaku pada train, sementara missing pada validation tetap memakai modus train. Strategi kedua mengisi kategori dengan modus. Strategi ketiga memakai ExtraTrees untuk memprediksi kategori yang hilang dari delapan fitur numerik. Modus dan imputasi model memperoleh F1 makro yang sama, yaitu 0,527771. Pengurutan stabil memilih modus ketika kedua kriteria seri. Pilihan ini juga lebih sederhana. Kesamaan metrik tidak membuktikan bahwa semua hasil imputasinya identik.</a:t>
            </a:r>
          </a:p>
          <a:p>
            <a:endParaRPr/>
          </a:p>
          <a:p>
            <a:r>
              <a:t>SUMBER:</a:t>
            </a:r>
          </a:p>
          <a:p>
            <a:r>
              <a:t>Mini Project 2 (MP2) – Pembersihan Data Terstruktur.pdf, unggahan pengguna. Angka berasal dari eksperimen mp2_colab_.ipynb. Hlm. 3.</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Mitra Istiar Wardhana</a:t>
            </a:r>
          </a:p>
          <a:p>
            <a:r>
              <a:t>NIM: 267150100111023</a:t>
            </a:r>
          </a:p>
          <a:p>
            <a:r>
              <a:t>WAKTU: 04:00–04:35 (35 detik)</a:t>
            </a:r>
          </a:p>
          <a:p>
            <a:endParaRPr/>
          </a:p>
          <a:p>
            <a:r>
              <a:t>NARASI DRAF:</a:t>
            </a:r>
          </a:p>
          <a:p>
            <a:r>
              <a:t>Deteksi memakai IQR, Z-score, boxplot, dan scatter plot. Kami mempertahankan kandidat outlier karena hitungan layanan yang tinggi dapat merupakan observasi valid. Contoh pentingnya adalah rawat jalan dan darurat sebelumnya. Kuartil pertama dan ketiganya sama-sama nol, sehingga semua nilai positif ditandai oleh batas IQR. Menghapus semuanya akan membuang riwayat penggunaan layanan. Keputusan mempertahankan ini tidak menyatakan bahwa semua nilai pasti benar. Artinya, bukti statistik yang tersedia belum cukup untuk menyebutnya salah catat.</a:t>
            </a:r>
          </a:p>
          <a:p>
            <a:endParaRPr/>
          </a:p>
          <a:p>
            <a:r>
              <a:t>SUMBER:</a:t>
            </a:r>
          </a:p>
          <a:p>
            <a:r>
              <a:t>Mini Project 2 (MP2) – Pembersihan Data Terstruktur.pdf, unggahan pengguna. Angka berasal dari eksperimen mp2_colab_.ipynb. Hlm. 3.</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Mitra Istiar Wardhana</a:t>
            </a:r>
          </a:p>
          <a:p>
            <a:r>
              <a:t>NIM: 267150100111023</a:t>
            </a:r>
          </a:p>
          <a:p>
            <a:r>
              <a:t>WAKTU: 04:35–05:15 (40 detik)</a:t>
            </a:r>
          </a:p>
          <a:p>
            <a:endParaRPr/>
          </a:p>
          <a:p>
            <a:r>
              <a:t>NARASI DRAF:</a:t>
            </a:r>
          </a:p>
          <a:p>
            <a:r>
              <a:t>Pipeline penuh melakukan standardisasi numerik, encoding ordinal usia, one-hot untuk kategori nominal, serta pengelompokan lama rawat. VarianceThreshold menyaring fitur konstan dan SelectPercentile memilih 75 persen fitur yang tersisa. Matriks hasil model final berubah dari 944 menjadi 941 lalu 705 dimensi. Angka ini diperoleh saat pipeline final diterapkan pada train. Sampling bertingkat mengurangi 60.878 menjadi 15.219 baris hanya untuk demonstrasi numerosity, bukan eksperimen utama. Lama rawat berjenis diskrit, sehingga binning ini belum memenuhi secara literal persyaratan atribut kontinu.</a:t>
            </a:r>
          </a:p>
          <a:p>
            <a:endParaRPr/>
          </a:p>
          <a:p>
            <a:r>
              <a:t>SUMBER:</a:t>
            </a:r>
          </a:p>
          <a:p>
            <a:r>
              <a:t>Mini Project 2 (MP2) – Pembersihan Data Terstruktur.pdf, unggahan pengguna. Angka berasal dari eksperimen mp2_colab_.ipynb. Hlm. 4.</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Mitra Istiar Wardhana</a:t>
            </a:r>
          </a:p>
          <a:p>
            <a:r>
              <a:t>NIM: 267150100111023</a:t>
            </a:r>
          </a:p>
          <a:p>
            <a:r>
              <a:t>WAKTU: 05:15–06:05 (50 detik)</a:t>
            </a:r>
          </a:p>
          <a:p>
            <a:endParaRPr/>
          </a:p>
          <a:p>
            <a:r>
              <a:t>NARASI DRAF:</a:t>
            </a:r>
          </a:p>
          <a:p>
            <a:r>
              <a:t>Pada test yang sama, baseline memperoleh accuracy 0,624512 dan pipeline penuh 0,599717. F1 positif juga turun sedikit, dari 0,272942 menjadi 0,270828. Sebaliknya recall naik dari 0,610055 menjadi 0,643431. Jadi, pembersihan tidak meningkatkan semua ukuran kinerja secara bersamaan. Kedua model menggunakan Decision Tree dengan kedalaman maksimum enam, minimum seratus sampel daun, bobot kelas balanced, dan ambang nol koma lima. ROC-AUC keduanya sekitar 0,662. Karena beberapa komponen berubah sekaligus, kami belum dapat mengaitkan perubahan skor pada satu langkah tertentu. Diperlukan ablasi dengan rancangan validasi baru.</a:t>
            </a:r>
          </a:p>
          <a:p>
            <a:endParaRPr/>
          </a:p>
          <a:p>
            <a:r>
              <a:t>SUMBER:</a:t>
            </a:r>
          </a:p>
          <a:p>
            <a:r>
              <a:t>Mini Project 2 (MP2) – Pembersihan Data Terstruktur.pdf, unggahan pengguna. Angka berasal dari eksperimen mp2_colab_.ipynb. Hlm. 5.</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Mitra Istiar Wardhana</a:t>
            </a:r>
          </a:p>
          <a:p>
            <a:r>
              <a:t>NIM: 267150100111023</a:t>
            </a:r>
          </a:p>
          <a:p>
            <a:r>
              <a:t>WAKTU: 06:05–06:40 (35 detik)</a:t>
            </a:r>
          </a:p>
          <a:p>
            <a:endParaRPr/>
          </a:p>
          <a:p>
            <a:r>
              <a:t>NARASI DRAF:</a:t>
            </a:r>
          </a:p>
          <a:p>
            <a:r>
              <a:t>Confusion matrix menjelaskan perubahan tadi. Pipeline penuh mendeteksi 1.523 kasus positif, dibandingkan 1.444 pada baseline. Ada tambahan 79 kasus terdeteksi, tetapi false positive bertambah 587. Precision turun menjadi sekitar 17,15 persen, sehingga sebagian besar peringatan positif masih keliru. Kami menyimpulkan bahwa ada kompromi antara sensitivitas dan jumlah peringatan salah, bukan peningkatan universal. Hasil ini belum memadai untuk keputusan klinis. Berikutnya Harris akan menjelaskan pola data yang ditemukan melalui EDA train.</a:t>
            </a:r>
          </a:p>
          <a:p>
            <a:endParaRPr/>
          </a:p>
          <a:p>
            <a:r>
              <a:t>SUMBER:</a:t>
            </a:r>
          </a:p>
          <a:p>
            <a:r>
              <a:t>Mini Project 2 (MP2) – Pembersihan Data Terstruktur.pdf, unggahan pengguna. Angka berasal dari eksperimen mp2_colab_.ipynb. Hlm. 5.</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Harris Imam Fathoni</a:t>
            </a:r>
          </a:p>
          <a:p>
            <a:r>
              <a:t>NIM: 267150100111026</a:t>
            </a:r>
          </a:p>
          <a:p>
            <a:r>
              <a:t>WAKTU: 06:40–07:20 (40 detik)</a:t>
            </a:r>
          </a:p>
          <a:p>
            <a:endParaRPr/>
          </a:p>
          <a:p>
            <a:r>
              <a:t>NARASI DRAF:</a:t>
            </a:r>
          </a:p>
          <a:p>
            <a:r>
              <a:t>Terima kasih, Mitra. MP4 menggunakan 60.878 kunjungan train dari 42.910 pasien, dengan cleaner yang hanya fit pada train. Pertanyaan pertama adalah hubungan interval usia dengan proporsi readmisi dini. Proporsi tertinggi teramati pada usia dua puluh sampai kurang dari tiga puluh tahun, sekitar 13,97 persen. Sementara kelompok tujuh puluh sampai kurang dari delapan puluh tahun memiliki jumlah positif terbanyak karena ukuran kelompoknya besar. Polanya tidak monoton. Kelompok anak hanya 93 kunjungan, sehingga angka proporsinya perlu ditafsirkan hati-hati. Ini hubungan deskriptif, belum mengendalikan karakteristik pasien lainnya.</a:t>
            </a:r>
          </a:p>
          <a:p>
            <a:endParaRPr/>
          </a:p>
          <a:p>
            <a:r>
              <a:t>SUMBER:</a:t>
            </a:r>
          </a:p>
          <a:p>
            <a:r>
              <a:t>Mini Project 4 (MP4) – Exploratory Data Analysis.pdf, unggahan pengguna. Angka berasal dari eksperimen mp4_eda_colab_.ipynb. Hlm. 1 dan 3.</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Harris Imam Fathoni</a:t>
            </a:r>
          </a:p>
          <a:p>
            <a:r>
              <a:t>NIM: 267150100111026</a:t>
            </a:r>
          </a:p>
          <a:p>
            <a:r>
              <a:t>WAKTU: 07:20–08:05 (45 detik)</a:t>
            </a:r>
          </a:p>
          <a:p>
            <a:endParaRPr/>
          </a:p>
          <a:p>
            <a:r>
              <a:t>NARASI DRAF:</a:t>
            </a:r>
          </a:p>
          <a:p>
            <a:r>
              <a:t>Pertanyaan kedua menunjukkan kenaikan proporsi readmisi menurut rawat inap sebelumnya. Proporsinya 8,43 persen pada kelompok tanpa riwayat dan 25,55 persen pada kelompok tiga atau lebih. Selisihnya 17,13 poin persentase dan rasio proporsinya sekitar tiga kali. Ini belum merupakan efek kausal karena kompleksitas pasien dan faktor lain dapat berperan. Untuk pertanyaan ketiga, mean lama rawat kelas positif adalah 4,772 hari, lebih tinggi daripada 4,335 hari pada kelas lain. Namun median keduanya tetap empat hari. Jadi lama rawat sendiri memberi pemisahan yang terbatas.</a:t>
            </a:r>
          </a:p>
          <a:p>
            <a:endParaRPr/>
          </a:p>
          <a:p>
            <a:r>
              <a:t>SUMBER:</a:t>
            </a:r>
          </a:p>
          <a:p>
            <a:r>
              <a:t>Mini Project 4 (MP4) – Exploratory Data Analysis.pdf, unggahan pengguna. Angka berasal dari eksperimen mp4_eda_colab_.ipynb. Hlm. 3.</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Harris Imam Fathoni</a:t>
            </a:r>
          </a:p>
          <a:p>
            <a:r>
              <a:t>NIM: 267150100111026</a:t>
            </a:r>
          </a:p>
          <a:p>
            <a:r>
              <a:t>WAKTU: 08:05–08:45 (40 detik)</a:t>
            </a:r>
          </a:p>
          <a:p>
            <a:endParaRPr/>
          </a:p>
          <a:p>
            <a:r>
              <a:t>NARASI DRAF:</a:t>
            </a:r>
          </a:p>
          <a:p>
            <a:r>
              <a:t>Riwayat layanan memiliki distribusi yang sangat miring ke kanan. Skewness kunjungan darurat mencapai 27,85, sedangkan rawat jalan 8,65. Shapiro-Wilk pada lima ribu pasien per fitur menghasilkan nilai p di bawah nol koma nol lima untuk seluruh fitur. Hasil ini wajar dibaca bersama sifat data diskrit dan penumpukan nol, bukan alasan memaksakan normalitas. Decision Tree tidak mensyaratkan normalitas fitur. VIF pada delapan numerik berada antara 1,03 dan 1,53. Korelasi lama rawat dengan obat sekitar nol koma empat enam, dan pairplot menunjukkan kelas saling tumpang tindih.</a:t>
            </a:r>
          </a:p>
          <a:p>
            <a:endParaRPr/>
          </a:p>
          <a:p>
            <a:r>
              <a:t>SUMBER:</a:t>
            </a:r>
          </a:p>
          <a:p>
            <a:r>
              <a:t>Mini Project 4 (MP4) – Exploratory Data Analysis.pdf, unggahan pengguna. Angka berasal dari eksperimen mp4_eda_colab_.ipynb. Hlm. 2, 4, dan 5.</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Harris Imam Fathoni</a:t>
            </a:r>
          </a:p>
          <a:p>
            <a:r>
              <a:t>NIM: 267150100111026</a:t>
            </a:r>
          </a:p>
          <a:p>
            <a:r>
              <a:t>WAKTU: 08:45–09:25 (40 detik)</a:t>
            </a:r>
          </a:p>
          <a:p>
            <a:endParaRPr/>
          </a:p>
          <a:p>
            <a:r>
              <a:t>NARASI DRAF:</a:t>
            </a:r>
          </a:p>
          <a:p>
            <a:r>
              <a:t>Pembersihan kategori dan numerik memiliki dampak berbeda. Imputasi modus menaikkan proporsi Caucasian dari 74,75 menjadi 77 persen. Kenaikan 2,252 poin persentase sama dengan proporsi race yang hilang. Jadi kelengkapan membaik, tetapi komposisi kategori berubah. Sebaliknya, statistik numerik dan korelasi sebelum serta sesudah tetap sama karena nilainya dipertahankan. Pada tampilan modus laboratorium, NaN berasal dari pembacaan ulang teks None di CSV, bukan perubahan hasil model. Untuk studi selanjutnya, indikator missing dan evaluasi antarkelompok patut dipertimbangkan dalam validasi baru.</a:t>
            </a:r>
          </a:p>
          <a:p>
            <a:endParaRPr/>
          </a:p>
          <a:p>
            <a:r>
              <a:t>SUMBER:</a:t>
            </a:r>
          </a:p>
          <a:p>
            <a:r>
              <a:t>Mini Project 4 (MP4) – Exploratory Data Analysis.pdf, unggahan pengguna. Angka berasal dari eksperimen mp4_eda_colab_.ipynb. Hlm. 2 dan 4.</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Harris Imam Fathoni</a:t>
            </a:r>
          </a:p>
          <a:p>
            <a:r>
              <a:t>NIM: 267150100111026</a:t>
            </a:r>
          </a:p>
          <a:p>
            <a:r>
              <a:t>WAKTU: 09:25–10:00 (35 detik)</a:t>
            </a:r>
          </a:p>
          <a:p>
            <a:endParaRPr/>
          </a:p>
          <a:p>
            <a:r>
              <a:t>NARASI DRAF:</a:t>
            </a:r>
          </a:p>
          <a:p>
            <a:r>
              <a:t>Kesimpulannya, pipeline menghasilkan alur yang dapat ditelusuri, tetapi tidak meningkatkan semua metrik. EDA menunjukkan riwayat rawat inap sebagai kandidat informasi penting, usia yang tidak monoton, dan tumpang tindih lama rawat. Data historis dan kunjungan berulang membatasi generalisasi. Integrasi dua sumber independen serta syarat atribut kontinu masih perlu dituntaskan. Kami tidak memakai temuan EDA untuk menyesuaikan model setelah melihat test. Bantuan AI digunakan untuk kode dan draf materi, sedangkan interpretasi akhir harus ditinjau kelompok. Terima kasih.</a:t>
            </a:r>
          </a:p>
          <a:p>
            <a:endParaRPr/>
          </a:p>
          <a:p>
            <a:r>
              <a:t>SUMBER:</a:t>
            </a:r>
          </a:p>
          <a:p>
            <a:r>
              <a:t>Mini Project 2 (MP2) – Pembersihan Data Terstruktur.pdf, unggahan pengguna. Angka berasal dari eksperimen mp2_colab_.ipynb. Hlm. 6. Mini Project 4 (MP4) – Exploratory Data Analysis.pdf, unggahan pengguna. Angka berasal dari eksperimen mp4_eda_colab_.ipynb. Hlm. 6.</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PEMBICARA: Harris Imam Fathoni</a:t>
            </a:r>
          </a:p>
          <a:p>
            <a:r>
              <a:t>NIM: 267150100111026</a:t>
            </a:r>
          </a:p>
          <a:p>
            <a:r>
              <a:t>WAKTU: Referensi pendukung</a:t>
            </a:r>
          </a:p>
          <a:p>
            <a:endParaRPr/>
          </a:p>
          <a:p>
            <a:r>
              <a:t>NARASI DRAF:</a:t>
            </a:r>
          </a:p>
          <a:p>
            <a:r>
              <a:t>Slide pendukung setelah penutup, tidak menambah durasi narasi sepuluh menit. Referensi lengkap juga tersedia di laporan MP2 dan MP4. Materi presentasi ini merupakan draf berbantuan AI yang perlu ditinjau anggota sebelum direkam.</a:t>
            </a:r>
          </a:p>
          <a:p>
            <a:endParaRPr/>
          </a:p>
          <a:p>
            <a:r>
              <a:t>SUMBER:</a:t>
            </a:r>
          </a:p>
          <a:p>
            <a:r>
              <a:t>Mini Project 2 (MP2) – Pembersihan Data Terstruktur.pdf, unggahan pengguna. Angka berasal dari eksperimen mp2_colab_.ipynb. Mini Project 4 (MP4) – Exploratory Data Analysis.pdf, unggahan pengguna. Angka berasal dari eksperimen mp4_eda_colab_.ipynb.</a:t>
            </a:r>
          </a:p>
          <a:p>
            <a:endParaRPr/>
          </a:p>
          <a:p>
            <a:r>
              <a:t>Catatan: sesuaikan narasi dengan pemahaman kelompok. Pembagian ini adalah rencana presentasi, bukan rekonstruksi kontribusi eksperimen.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F60328C-1C1B-4041-B0F4-A4A7DD38AC87}"/>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B83CC276-120E-4879-8052-A8D840FD0AA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2D90DEC-2A9D-4106-AB33-A01E8EBE636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4D36D4E-EA58-40CF-9987-08706A358A1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0978C93F-5010-4C5C-97FD-7B863DB8664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5D0B16B-8B5F-45BE-9AC2-7CA5F93CE2F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F5BA1EC-0831-44F2-80D9-96678BB2389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E666893F-34FE-4FB0-9AA1-A7CB8043182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9B8F815-ED6A-4B82-A781-8725263596E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600AB5A-2D28-4E03-BED4-D71E5514BE6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1422A78-5AF7-4F64-94F3-F5949A403A21}"/>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Readmisi Dini Diabetes</a:t>
            </a:r>
          </a:p>
        </p:txBody>
      </p:sp>
      <p:sp>
        <p:nvSpPr>
          <p:cNvPr id="2" name="Rectangle 1">
            <a:extLst>
              <a:ext uri="{FF2B5EF4-FFF2-40B4-BE49-F238E27FC236}">
                <a16:creationId xmlns:a16="http://schemas.microsoft.com/office/drawing/2014/main" id="{E3FFFE74-4AB5-4B86-AA6F-194DDE203BF5}"/>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1.  Bagus Hardiansyah</a:t>
            </a:r>
          </a:p>
        </p:txBody>
      </p:sp>
      <p:sp>
        <p:nvSpPr>
          <p:cNvPr id="3" name="Rectangle 2">
            <a:extLst>
              <a:ext uri="{FF2B5EF4-FFF2-40B4-BE49-F238E27FC236}">
                <a16:creationId xmlns:a16="http://schemas.microsoft.com/office/drawing/2014/main" id="{9B7B8933-421C-4BA1-99E0-C76C2150FF9A}"/>
              </a:ext>
            </a:extLst>
          </p:cNvPr>
          <p:cNvSpPr>
            <a:spLocks noGrp="1"/>
          </p:cNvSpPr>
          <p:nvPr/>
        </p:nvSpPr>
        <p:spPr>
          <a:xfrm>
            <a:off x="609600" y="1628775"/>
            <a:ext cx="10477500" cy="1047750"/>
          </a:xfrm>
          <a:prstGeom prst="rect">
            <a:avLst/>
          </a:prstGeom>
          <a:noFill/>
          <a:ln w="0">
            <a:noFill/>
            <a:prstDash val="solid"/>
          </a:ln>
        </p:spPr>
        <p:txBody>
          <a:bodyPr lIns="0" tIns="0" rIns="0" bIns="0" anchor="t"/>
          <a:lstStyle>
            <a:defPPr>
              <a:defRPr sz="2550" b="1">
                <a:solidFill>
                  <a:srgbClr val="087F8C"/>
                </a:solidFill>
                <a:latin typeface="DejaVu Sans"/>
                <a:ea typeface="DejaVu Sans"/>
                <a:cs typeface="DejaVu Sans"/>
              </a:defRPr>
            </a:defPPr>
            <a:lvl1pPr>
              <a:defRPr sz="2550" b="1">
                <a:solidFill>
                  <a:srgbClr val="087F8C"/>
                </a:solidFill>
                <a:latin typeface="DejaVu Sans"/>
                <a:ea typeface="DejaVu Sans"/>
                <a:cs typeface="DejaVu Sans"/>
              </a:defRPr>
            </a:lvl1pPr>
            <a:lvl2pPr>
              <a:defRPr sz="2550" b="1">
                <a:solidFill>
                  <a:srgbClr val="087F8C"/>
                </a:solidFill>
                <a:latin typeface="DejaVu Sans"/>
                <a:ea typeface="DejaVu Sans"/>
                <a:cs typeface="DejaVu Sans"/>
              </a:defRPr>
            </a:lvl2pPr>
            <a:lvl3pPr>
              <a:defRPr sz="2550" b="1">
                <a:solidFill>
                  <a:srgbClr val="087F8C"/>
                </a:solidFill>
                <a:latin typeface="DejaVu Sans"/>
                <a:ea typeface="DejaVu Sans"/>
                <a:cs typeface="DejaVu Sans"/>
              </a:defRPr>
            </a:lvl3pPr>
            <a:lvl4pPr>
              <a:defRPr sz="2550" b="1">
                <a:solidFill>
                  <a:srgbClr val="087F8C"/>
                </a:solidFill>
                <a:latin typeface="DejaVu Sans"/>
                <a:ea typeface="DejaVu Sans"/>
                <a:cs typeface="DejaVu Sans"/>
              </a:defRPr>
            </a:lvl4pPr>
            <a:lvl5pPr>
              <a:defRPr sz="2550" b="1">
                <a:solidFill>
                  <a:srgbClr val="087F8C"/>
                </a:solidFill>
                <a:latin typeface="DejaVu Sans"/>
                <a:ea typeface="DejaVu Sans"/>
                <a:cs typeface="DejaVu Sans"/>
              </a:defRPr>
            </a:lvl5pPr>
            <a:lvl6pPr>
              <a:defRPr sz="2550" b="1">
                <a:solidFill>
                  <a:srgbClr val="087F8C"/>
                </a:solidFill>
                <a:latin typeface="DejaVu Sans"/>
                <a:ea typeface="DejaVu Sans"/>
                <a:cs typeface="DejaVu Sans"/>
              </a:defRPr>
            </a:lvl6pPr>
            <a:lvl7pPr>
              <a:defRPr sz="2550" b="1">
                <a:solidFill>
                  <a:srgbClr val="087F8C"/>
                </a:solidFill>
                <a:latin typeface="DejaVu Sans"/>
                <a:ea typeface="DejaVu Sans"/>
                <a:cs typeface="DejaVu Sans"/>
              </a:defRPr>
            </a:lvl7pPr>
            <a:lvl8pPr>
              <a:defRPr sz="2550" b="1">
                <a:solidFill>
                  <a:srgbClr val="087F8C"/>
                </a:solidFill>
                <a:latin typeface="DejaVu Sans"/>
                <a:ea typeface="DejaVu Sans"/>
                <a:cs typeface="DejaVu Sans"/>
              </a:defRPr>
            </a:lvl8pPr>
            <a:lvl9pPr>
              <a:defRPr sz="2550" b="1">
                <a:solidFill>
                  <a:srgbClr val="087F8C"/>
                </a:solidFill>
                <a:latin typeface="DejaVu Sans"/>
                <a:ea typeface="DejaVu Sans"/>
                <a:cs typeface="DejaVu Sans"/>
              </a:defRPr>
            </a:lvl9pPr>
          </a:lstStyle>
          <a:p>
            <a:pPr>
              <a:defRPr sz="2550" b="1">
                <a:solidFill>
                  <a:srgbClr val="087F8C"/>
                </a:solidFill>
                <a:latin typeface="DejaVu Sans"/>
                <a:ea typeface="DejaVu Sans"/>
                <a:cs typeface="DejaVu Sans"/>
              </a:defRPr>
            </a:pPr>
            <a:r>
              <a:rPr sz="2550" b="1">
                <a:solidFill>
                  <a:srgbClr val="087F8C"/>
                </a:solidFill>
                <a:latin typeface="DejaVu Sans"/>
                <a:ea typeface="DejaVu Sans"/>
                <a:cs typeface="DejaVu Sans"/>
              </a:rPr>
              <a:t>MP2  Pembersihan Data Terstruktur</a:t>
            </a:r>
          </a:p>
          <a:p>
            <a:pPr>
              <a:defRPr sz="2550" b="1">
                <a:solidFill>
                  <a:srgbClr val="087F8C"/>
                </a:solidFill>
                <a:latin typeface="DejaVu Sans"/>
                <a:ea typeface="DejaVu Sans"/>
                <a:cs typeface="DejaVu Sans"/>
              </a:defRPr>
            </a:pPr>
            <a:r>
              <a:rPr sz="2550" b="1">
                <a:solidFill>
                  <a:srgbClr val="087F8C"/>
                </a:solidFill>
                <a:latin typeface="DejaVu Sans"/>
                <a:ea typeface="DejaVu Sans"/>
                <a:cs typeface="DejaVu Sans"/>
              </a:rPr>
              <a:t>MP4  Exploratory Data Analysis</a:t>
            </a:r>
          </a:p>
        </p:txBody>
      </p:sp>
      <p:sp>
        <p:nvSpPr>
          <p:cNvPr id="4" name="Rectangle 3">
            <a:extLst>
              <a:ext uri="{FF2B5EF4-FFF2-40B4-BE49-F238E27FC236}">
                <a16:creationId xmlns:a16="http://schemas.microsoft.com/office/drawing/2014/main" id="{09C5793B-72E6-48C7-9626-9297A44A84AA}"/>
              </a:ext>
            </a:extLst>
          </p:cNvPr>
          <p:cNvSpPr>
            <a:spLocks noGrp="1"/>
          </p:cNvSpPr>
          <p:nvPr/>
        </p:nvSpPr>
        <p:spPr>
          <a:xfrm>
            <a:off x="609600" y="2886075"/>
            <a:ext cx="10477500" cy="714375"/>
          </a:xfrm>
          <a:prstGeom prst="rect">
            <a:avLst/>
          </a:prstGeom>
          <a:noFill/>
          <a:ln w="0">
            <a:noFill/>
            <a:prstDash val="solid"/>
          </a:ln>
        </p:spPr>
        <p:txBody>
          <a:bodyPr lIns="0" tIns="0" rIns="0" bIns="0" anchor="t"/>
          <a:lstStyle>
            <a:defPPr>
              <a:defRPr sz="1875" b="0">
                <a:solidFill>
                  <a:srgbClr val="52636F"/>
                </a:solidFill>
                <a:latin typeface="DejaVu Sans"/>
                <a:ea typeface="DejaVu Sans"/>
                <a:cs typeface="DejaVu Sans"/>
              </a:defRPr>
            </a:defPPr>
            <a:lvl1pPr>
              <a:defRPr sz="1875" b="0">
                <a:solidFill>
                  <a:srgbClr val="52636F"/>
                </a:solidFill>
                <a:latin typeface="DejaVu Sans"/>
                <a:ea typeface="DejaVu Sans"/>
                <a:cs typeface="DejaVu Sans"/>
              </a:defRPr>
            </a:lvl1pPr>
            <a:lvl2pPr>
              <a:defRPr sz="1875" b="0">
                <a:solidFill>
                  <a:srgbClr val="52636F"/>
                </a:solidFill>
                <a:latin typeface="DejaVu Sans"/>
                <a:ea typeface="DejaVu Sans"/>
                <a:cs typeface="DejaVu Sans"/>
              </a:defRPr>
            </a:lvl2pPr>
            <a:lvl3pPr>
              <a:defRPr sz="1875" b="0">
                <a:solidFill>
                  <a:srgbClr val="52636F"/>
                </a:solidFill>
                <a:latin typeface="DejaVu Sans"/>
                <a:ea typeface="DejaVu Sans"/>
                <a:cs typeface="DejaVu Sans"/>
              </a:defRPr>
            </a:lvl3pPr>
            <a:lvl4pPr>
              <a:defRPr sz="1875" b="0">
                <a:solidFill>
                  <a:srgbClr val="52636F"/>
                </a:solidFill>
                <a:latin typeface="DejaVu Sans"/>
                <a:ea typeface="DejaVu Sans"/>
                <a:cs typeface="DejaVu Sans"/>
              </a:defRPr>
            </a:lvl4pPr>
            <a:lvl5pPr>
              <a:defRPr sz="1875" b="0">
                <a:solidFill>
                  <a:srgbClr val="52636F"/>
                </a:solidFill>
                <a:latin typeface="DejaVu Sans"/>
                <a:ea typeface="DejaVu Sans"/>
                <a:cs typeface="DejaVu Sans"/>
              </a:defRPr>
            </a:lvl5pPr>
            <a:lvl6pPr>
              <a:defRPr sz="1875" b="0">
                <a:solidFill>
                  <a:srgbClr val="52636F"/>
                </a:solidFill>
                <a:latin typeface="DejaVu Sans"/>
                <a:ea typeface="DejaVu Sans"/>
                <a:cs typeface="DejaVu Sans"/>
              </a:defRPr>
            </a:lvl6pPr>
            <a:lvl7pPr>
              <a:defRPr sz="1875" b="0">
                <a:solidFill>
                  <a:srgbClr val="52636F"/>
                </a:solidFill>
                <a:latin typeface="DejaVu Sans"/>
                <a:ea typeface="DejaVu Sans"/>
                <a:cs typeface="DejaVu Sans"/>
              </a:defRPr>
            </a:lvl7pPr>
            <a:lvl8pPr>
              <a:defRPr sz="1875" b="0">
                <a:solidFill>
                  <a:srgbClr val="52636F"/>
                </a:solidFill>
                <a:latin typeface="DejaVu Sans"/>
                <a:ea typeface="DejaVu Sans"/>
                <a:cs typeface="DejaVu Sans"/>
              </a:defRPr>
            </a:lvl8pPr>
            <a:lvl9pPr>
              <a:defRPr sz="1875" b="0">
                <a:solidFill>
                  <a:srgbClr val="52636F"/>
                </a:solidFill>
                <a:latin typeface="DejaVu Sans"/>
                <a:ea typeface="DejaVu Sans"/>
                <a:cs typeface="DejaVu Sans"/>
              </a:defRPr>
            </a:lvl9pPr>
          </a:lstStyle>
          <a:p>
            <a:pPr>
              <a:defRPr sz="1875" b="0">
                <a:solidFill>
                  <a:srgbClr val="52636F"/>
                </a:solidFill>
                <a:latin typeface="DejaVu Sans"/>
                <a:ea typeface="DejaVu Sans"/>
                <a:cs typeface="DejaVu Sans"/>
              </a:defRPr>
            </a:pPr>
            <a:r>
              <a:rPr sz="1875" b="0">
                <a:solidFill>
                  <a:srgbClr val="52636F"/>
                </a:solidFill>
                <a:latin typeface="DejaVu Sans"/>
                <a:ea typeface="DejaVu Sans"/>
                <a:cs typeface="DejaVu Sans"/>
              </a:rPr>
              <a:t>Kelompok 4</a:t>
            </a:r>
          </a:p>
          <a:p>
            <a:pPr>
              <a:defRPr sz="1875" b="0">
                <a:solidFill>
                  <a:srgbClr val="52636F"/>
                </a:solidFill>
                <a:latin typeface="DejaVu Sans"/>
                <a:ea typeface="DejaVu Sans"/>
                <a:cs typeface="DejaVu Sans"/>
              </a:defRPr>
            </a:pPr>
            <a:r>
              <a:rPr sz="1875" b="0">
                <a:solidFill>
                  <a:srgbClr val="52636F"/>
                </a:solidFill>
                <a:latin typeface="DejaVu Sans"/>
                <a:ea typeface="DejaVu Sans"/>
                <a:cs typeface="DejaVu Sans"/>
              </a:rPr>
              <a:t>Topik Analisis Data · S3 Ilmu Komputer Universitas Brawijaya</a:t>
            </a:r>
          </a:p>
        </p:txBody>
      </p:sp>
      <p:sp>
        <p:nvSpPr>
          <p:cNvPr id="5" name="Rectangle 4">
            <a:extLst>
              <a:ext uri="{FF2B5EF4-FFF2-40B4-BE49-F238E27FC236}">
                <a16:creationId xmlns:a16="http://schemas.microsoft.com/office/drawing/2014/main" id="{10140057-B6F4-41A9-B150-D025C8AD9E8A}"/>
              </a:ext>
            </a:extLst>
          </p:cNvPr>
          <p:cNvSpPr>
            <a:spLocks noGrp="1"/>
          </p:cNvSpPr>
          <p:nvPr/>
        </p:nvSpPr>
        <p:spPr>
          <a:xfrm>
            <a:off x="609600" y="4143375"/>
            <a:ext cx="3571875" cy="666750"/>
          </a:xfrm>
          <a:prstGeom prst="rect">
            <a:avLst/>
          </a:prstGeom>
          <a:noFill/>
          <a:ln w="0">
            <a:noFill/>
            <a:prstDash val="solid"/>
          </a:ln>
        </p:spPr>
        <p:txBody>
          <a:bodyPr lIns="0" tIns="0" rIns="0" bIns="0" anchor="t"/>
          <a:lstStyle>
            <a:defPPr>
              <a:defRPr sz="1950" b="1">
                <a:solidFill>
                  <a:srgbClr val="15364A"/>
                </a:solidFill>
                <a:latin typeface="DejaVu Sans"/>
                <a:ea typeface="DejaVu Sans"/>
                <a:cs typeface="DejaVu Sans"/>
              </a:defRPr>
            </a:defPPr>
            <a:lvl1pPr>
              <a:defRPr sz="1950" b="1">
                <a:solidFill>
                  <a:srgbClr val="15364A"/>
                </a:solidFill>
                <a:latin typeface="DejaVu Sans"/>
                <a:ea typeface="DejaVu Sans"/>
                <a:cs typeface="DejaVu Sans"/>
              </a:defRPr>
            </a:lvl1pPr>
            <a:lvl2pPr>
              <a:defRPr sz="1950" b="1">
                <a:solidFill>
                  <a:srgbClr val="15364A"/>
                </a:solidFill>
                <a:latin typeface="DejaVu Sans"/>
                <a:ea typeface="DejaVu Sans"/>
                <a:cs typeface="DejaVu Sans"/>
              </a:defRPr>
            </a:lvl2pPr>
            <a:lvl3pPr>
              <a:defRPr sz="1950" b="1">
                <a:solidFill>
                  <a:srgbClr val="15364A"/>
                </a:solidFill>
                <a:latin typeface="DejaVu Sans"/>
                <a:ea typeface="DejaVu Sans"/>
                <a:cs typeface="DejaVu Sans"/>
              </a:defRPr>
            </a:lvl3pPr>
            <a:lvl4pPr>
              <a:defRPr sz="1950" b="1">
                <a:solidFill>
                  <a:srgbClr val="15364A"/>
                </a:solidFill>
                <a:latin typeface="DejaVu Sans"/>
                <a:ea typeface="DejaVu Sans"/>
                <a:cs typeface="DejaVu Sans"/>
              </a:defRPr>
            </a:lvl4pPr>
            <a:lvl5pPr>
              <a:defRPr sz="1950" b="1">
                <a:solidFill>
                  <a:srgbClr val="15364A"/>
                </a:solidFill>
                <a:latin typeface="DejaVu Sans"/>
                <a:ea typeface="DejaVu Sans"/>
                <a:cs typeface="DejaVu Sans"/>
              </a:defRPr>
            </a:lvl5pPr>
            <a:lvl6pPr>
              <a:defRPr sz="1950" b="1">
                <a:solidFill>
                  <a:srgbClr val="15364A"/>
                </a:solidFill>
                <a:latin typeface="DejaVu Sans"/>
                <a:ea typeface="DejaVu Sans"/>
                <a:cs typeface="DejaVu Sans"/>
              </a:defRPr>
            </a:lvl6pPr>
            <a:lvl7pPr>
              <a:defRPr sz="1950" b="1">
                <a:solidFill>
                  <a:srgbClr val="15364A"/>
                </a:solidFill>
                <a:latin typeface="DejaVu Sans"/>
                <a:ea typeface="DejaVu Sans"/>
                <a:cs typeface="DejaVu Sans"/>
              </a:defRPr>
            </a:lvl7pPr>
            <a:lvl8pPr>
              <a:defRPr sz="1950" b="1">
                <a:solidFill>
                  <a:srgbClr val="15364A"/>
                </a:solidFill>
                <a:latin typeface="DejaVu Sans"/>
                <a:ea typeface="DejaVu Sans"/>
                <a:cs typeface="DejaVu Sans"/>
              </a:defRPr>
            </a:lvl8pPr>
            <a:lvl9pPr>
              <a:defRPr sz="1950" b="1">
                <a:solidFill>
                  <a:srgbClr val="15364A"/>
                </a:solidFill>
                <a:latin typeface="DejaVu Sans"/>
                <a:ea typeface="DejaVu Sans"/>
                <a:cs typeface="DejaVu Sans"/>
              </a:defRPr>
            </a:lvl9pPr>
          </a:lstStyle>
          <a:p>
            <a:pPr>
              <a:defRPr sz="1950" b="1">
                <a:solidFill>
                  <a:srgbClr val="15364A"/>
                </a:solidFill>
                <a:latin typeface="DejaVu Sans"/>
                <a:ea typeface="DejaVu Sans"/>
                <a:cs typeface="DejaVu Sans"/>
              </a:defRPr>
            </a:pPr>
            <a:r>
              <a:rPr sz="1950" b="1">
                <a:solidFill>
                  <a:srgbClr val="15364A"/>
                </a:solidFill>
                <a:latin typeface="DejaVu Sans"/>
                <a:ea typeface="DejaVu Sans"/>
                <a:cs typeface="DejaVu Sans"/>
              </a:rPr>
              <a:t>Bagus Hardiansyah</a:t>
            </a:r>
          </a:p>
        </p:txBody>
      </p:sp>
      <p:sp>
        <p:nvSpPr>
          <p:cNvPr id="6" name="Rectangle 5">
            <a:extLst>
              <a:ext uri="{FF2B5EF4-FFF2-40B4-BE49-F238E27FC236}">
                <a16:creationId xmlns:a16="http://schemas.microsoft.com/office/drawing/2014/main" id="{A8DEB250-0239-4301-A685-16F1F966E3D3}"/>
              </a:ext>
            </a:extLst>
          </p:cNvPr>
          <p:cNvSpPr>
            <a:spLocks noGrp="1"/>
          </p:cNvSpPr>
          <p:nvPr/>
        </p:nvSpPr>
        <p:spPr>
          <a:xfrm>
            <a:off x="609600" y="4953000"/>
            <a:ext cx="3571875" cy="428625"/>
          </a:xfrm>
          <a:prstGeom prst="rect">
            <a:avLst/>
          </a:prstGeom>
          <a:noFill/>
          <a:ln w="0">
            <a:noFill/>
            <a:prstDash val="solid"/>
          </a:ln>
        </p:spPr>
        <p:txBody>
          <a:bodyPr lIns="0" tIns="0" rIns="0" bIns="0" anchor="t"/>
          <a:lstStyle>
            <a:defPPr>
              <a:defRPr sz="1650" b="0">
                <a:solidFill>
                  <a:srgbClr val="52636F"/>
                </a:solidFill>
                <a:latin typeface="DejaVu Sans"/>
                <a:ea typeface="DejaVu Sans"/>
                <a:cs typeface="DejaVu Sans"/>
              </a:defRPr>
            </a:defPPr>
            <a:lvl1pPr>
              <a:defRPr sz="1650" b="0">
                <a:solidFill>
                  <a:srgbClr val="52636F"/>
                </a:solidFill>
                <a:latin typeface="DejaVu Sans"/>
                <a:ea typeface="DejaVu Sans"/>
                <a:cs typeface="DejaVu Sans"/>
              </a:defRPr>
            </a:lvl1pPr>
            <a:lvl2pPr>
              <a:defRPr sz="1650" b="0">
                <a:solidFill>
                  <a:srgbClr val="52636F"/>
                </a:solidFill>
                <a:latin typeface="DejaVu Sans"/>
                <a:ea typeface="DejaVu Sans"/>
                <a:cs typeface="DejaVu Sans"/>
              </a:defRPr>
            </a:lvl2pPr>
            <a:lvl3pPr>
              <a:defRPr sz="1650" b="0">
                <a:solidFill>
                  <a:srgbClr val="52636F"/>
                </a:solidFill>
                <a:latin typeface="DejaVu Sans"/>
                <a:ea typeface="DejaVu Sans"/>
                <a:cs typeface="DejaVu Sans"/>
              </a:defRPr>
            </a:lvl3pPr>
            <a:lvl4pPr>
              <a:defRPr sz="1650" b="0">
                <a:solidFill>
                  <a:srgbClr val="52636F"/>
                </a:solidFill>
                <a:latin typeface="DejaVu Sans"/>
                <a:ea typeface="DejaVu Sans"/>
                <a:cs typeface="DejaVu Sans"/>
              </a:defRPr>
            </a:lvl4pPr>
            <a:lvl5pPr>
              <a:defRPr sz="1650" b="0">
                <a:solidFill>
                  <a:srgbClr val="52636F"/>
                </a:solidFill>
                <a:latin typeface="DejaVu Sans"/>
                <a:ea typeface="DejaVu Sans"/>
                <a:cs typeface="DejaVu Sans"/>
              </a:defRPr>
            </a:lvl5pPr>
            <a:lvl6pPr>
              <a:defRPr sz="1650" b="0">
                <a:solidFill>
                  <a:srgbClr val="52636F"/>
                </a:solidFill>
                <a:latin typeface="DejaVu Sans"/>
                <a:ea typeface="DejaVu Sans"/>
                <a:cs typeface="DejaVu Sans"/>
              </a:defRPr>
            </a:lvl6pPr>
            <a:lvl7pPr>
              <a:defRPr sz="1650" b="0">
                <a:solidFill>
                  <a:srgbClr val="52636F"/>
                </a:solidFill>
                <a:latin typeface="DejaVu Sans"/>
                <a:ea typeface="DejaVu Sans"/>
                <a:cs typeface="DejaVu Sans"/>
              </a:defRPr>
            </a:lvl7pPr>
            <a:lvl8pPr>
              <a:defRPr sz="1650" b="0">
                <a:solidFill>
                  <a:srgbClr val="52636F"/>
                </a:solidFill>
                <a:latin typeface="DejaVu Sans"/>
                <a:ea typeface="DejaVu Sans"/>
                <a:cs typeface="DejaVu Sans"/>
              </a:defRPr>
            </a:lvl8pPr>
            <a:lvl9pPr>
              <a:defRPr sz="1650" b="0">
                <a:solidFill>
                  <a:srgbClr val="52636F"/>
                </a:solidFill>
                <a:latin typeface="DejaVu Sans"/>
                <a:ea typeface="DejaVu Sans"/>
                <a:cs typeface="DejaVu Sans"/>
              </a:defRPr>
            </a:lvl9pPr>
          </a:lstStyle>
          <a:p>
            <a:pPr>
              <a:defRPr sz="1650" b="0">
                <a:solidFill>
                  <a:srgbClr val="52636F"/>
                </a:solidFill>
                <a:latin typeface="DejaVu Sans"/>
                <a:ea typeface="DejaVu Sans"/>
                <a:cs typeface="DejaVu Sans"/>
              </a:defRPr>
            </a:pPr>
            <a:r>
              <a:rPr sz="1650" b="0">
                <a:solidFill>
                  <a:srgbClr val="52636F"/>
                </a:solidFill>
                <a:latin typeface="DejaVu Sans"/>
                <a:ea typeface="DejaVu Sans"/>
                <a:cs typeface="DejaVu Sans"/>
              </a:rPr>
              <a:t>267150100111001</a:t>
            </a:r>
          </a:p>
        </p:txBody>
      </p:sp>
      <p:sp>
        <p:nvSpPr>
          <p:cNvPr id="7" name="Rectangle 6">
            <a:extLst>
              <a:ext uri="{FF2B5EF4-FFF2-40B4-BE49-F238E27FC236}">
                <a16:creationId xmlns:a16="http://schemas.microsoft.com/office/drawing/2014/main" id="{4C671AB7-1825-4825-AE4F-84F1F52DF632}"/>
              </a:ext>
            </a:extLst>
          </p:cNvPr>
          <p:cNvSpPr>
            <a:spLocks noGrp="1"/>
          </p:cNvSpPr>
          <p:nvPr/>
        </p:nvSpPr>
        <p:spPr>
          <a:xfrm>
            <a:off x="4324350" y="4143375"/>
            <a:ext cx="3571875" cy="666750"/>
          </a:xfrm>
          <a:prstGeom prst="rect">
            <a:avLst/>
          </a:prstGeom>
          <a:noFill/>
          <a:ln w="0">
            <a:noFill/>
            <a:prstDash val="solid"/>
          </a:ln>
        </p:spPr>
        <p:txBody>
          <a:bodyPr lIns="0" tIns="0" rIns="0" bIns="0" anchor="t"/>
          <a:lstStyle>
            <a:defPPr>
              <a:defRPr sz="1950" b="1">
                <a:solidFill>
                  <a:srgbClr val="15364A"/>
                </a:solidFill>
                <a:latin typeface="DejaVu Sans"/>
                <a:ea typeface="DejaVu Sans"/>
                <a:cs typeface="DejaVu Sans"/>
              </a:defRPr>
            </a:defPPr>
            <a:lvl1pPr>
              <a:defRPr sz="1950" b="1">
                <a:solidFill>
                  <a:srgbClr val="15364A"/>
                </a:solidFill>
                <a:latin typeface="DejaVu Sans"/>
                <a:ea typeface="DejaVu Sans"/>
                <a:cs typeface="DejaVu Sans"/>
              </a:defRPr>
            </a:lvl1pPr>
            <a:lvl2pPr>
              <a:defRPr sz="1950" b="1">
                <a:solidFill>
                  <a:srgbClr val="15364A"/>
                </a:solidFill>
                <a:latin typeface="DejaVu Sans"/>
                <a:ea typeface="DejaVu Sans"/>
                <a:cs typeface="DejaVu Sans"/>
              </a:defRPr>
            </a:lvl2pPr>
            <a:lvl3pPr>
              <a:defRPr sz="1950" b="1">
                <a:solidFill>
                  <a:srgbClr val="15364A"/>
                </a:solidFill>
                <a:latin typeface="DejaVu Sans"/>
                <a:ea typeface="DejaVu Sans"/>
                <a:cs typeface="DejaVu Sans"/>
              </a:defRPr>
            </a:lvl3pPr>
            <a:lvl4pPr>
              <a:defRPr sz="1950" b="1">
                <a:solidFill>
                  <a:srgbClr val="15364A"/>
                </a:solidFill>
                <a:latin typeface="DejaVu Sans"/>
                <a:ea typeface="DejaVu Sans"/>
                <a:cs typeface="DejaVu Sans"/>
              </a:defRPr>
            </a:lvl4pPr>
            <a:lvl5pPr>
              <a:defRPr sz="1950" b="1">
                <a:solidFill>
                  <a:srgbClr val="15364A"/>
                </a:solidFill>
                <a:latin typeface="DejaVu Sans"/>
                <a:ea typeface="DejaVu Sans"/>
                <a:cs typeface="DejaVu Sans"/>
              </a:defRPr>
            </a:lvl5pPr>
            <a:lvl6pPr>
              <a:defRPr sz="1950" b="1">
                <a:solidFill>
                  <a:srgbClr val="15364A"/>
                </a:solidFill>
                <a:latin typeface="DejaVu Sans"/>
                <a:ea typeface="DejaVu Sans"/>
                <a:cs typeface="DejaVu Sans"/>
              </a:defRPr>
            </a:lvl6pPr>
            <a:lvl7pPr>
              <a:defRPr sz="1950" b="1">
                <a:solidFill>
                  <a:srgbClr val="15364A"/>
                </a:solidFill>
                <a:latin typeface="DejaVu Sans"/>
                <a:ea typeface="DejaVu Sans"/>
                <a:cs typeface="DejaVu Sans"/>
              </a:defRPr>
            </a:lvl7pPr>
            <a:lvl8pPr>
              <a:defRPr sz="1950" b="1">
                <a:solidFill>
                  <a:srgbClr val="15364A"/>
                </a:solidFill>
                <a:latin typeface="DejaVu Sans"/>
                <a:ea typeface="DejaVu Sans"/>
                <a:cs typeface="DejaVu Sans"/>
              </a:defRPr>
            </a:lvl8pPr>
            <a:lvl9pPr>
              <a:defRPr sz="1950" b="1">
                <a:solidFill>
                  <a:srgbClr val="15364A"/>
                </a:solidFill>
                <a:latin typeface="DejaVu Sans"/>
                <a:ea typeface="DejaVu Sans"/>
                <a:cs typeface="DejaVu Sans"/>
              </a:defRPr>
            </a:lvl9pPr>
          </a:lstStyle>
          <a:p>
            <a:pPr>
              <a:defRPr sz="1950" b="1">
                <a:solidFill>
                  <a:srgbClr val="15364A"/>
                </a:solidFill>
                <a:latin typeface="DejaVu Sans"/>
                <a:ea typeface="DejaVu Sans"/>
                <a:cs typeface="DejaVu Sans"/>
              </a:defRPr>
            </a:pPr>
            <a:r>
              <a:rPr sz="1950" b="1">
                <a:solidFill>
                  <a:srgbClr val="15364A"/>
                </a:solidFill>
                <a:latin typeface="DejaVu Sans"/>
                <a:ea typeface="DejaVu Sans"/>
                <a:cs typeface="DejaVu Sans"/>
              </a:rPr>
              <a:t>Mitra Istiar Wardhana</a:t>
            </a:r>
          </a:p>
        </p:txBody>
      </p:sp>
      <p:sp>
        <p:nvSpPr>
          <p:cNvPr id="8" name="Rectangle 7">
            <a:extLst>
              <a:ext uri="{FF2B5EF4-FFF2-40B4-BE49-F238E27FC236}">
                <a16:creationId xmlns:a16="http://schemas.microsoft.com/office/drawing/2014/main" id="{C6065C31-D465-44FA-AC50-1AAFA8F606F4}"/>
              </a:ext>
            </a:extLst>
          </p:cNvPr>
          <p:cNvSpPr>
            <a:spLocks noGrp="1"/>
          </p:cNvSpPr>
          <p:nvPr/>
        </p:nvSpPr>
        <p:spPr>
          <a:xfrm>
            <a:off x="4324350" y="4953000"/>
            <a:ext cx="3571875" cy="428625"/>
          </a:xfrm>
          <a:prstGeom prst="rect">
            <a:avLst/>
          </a:prstGeom>
          <a:noFill/>
          <a:ln w="0">
            <a:noFill/>
            <a:prstDash val="solid"/>
          </a:ln>
        </p:spPr>
        <p:txBody>
          <a:bodyPr lIns="0" tIns="0" rIns="0" bIns="0" anchor="t"/>
          <a:lstStyle>
            <a:defPPr>
              <a:defRPr sz="1650" b="0">
                <a:solidFill>
                  <a:srgbClr val="52636F"/>
                </a:solidFill>
                <a:latin typeface="DejaVu Sans"/>
                <a:ea typeface="DejaVu Sans"/>
                <a:cs typeface="DejaVu Sans"/>
              </a:defRPr>
            </a:defPPr>
            <a:lvl1pPr>
              <a:defRPr sz="1650" b="0">
                <a:solidFill>
                  <a:srgbClr val="52636F"/>
                </a:solidFill>
                <a:latin typeface="DejaVu Sans"/>
                <a:ea typeface="DejaVu Sans"/>
                <a:cs typeface="DejaVu Sans"/>
              </a:defRPr>
            </a:lvl1pPr>
            <a:lvl2pPr>
              <a:defRPr sz="1650" b="0">
                <a:solidFill>
                  <a:srgbClr val="52636F"/>
                </a:solidFill>
                <a:latin typeface="DejaVu Sans"/>
                <a:ea typeface="DejaVu Sans"/>
                <a:cs typeface="DejaVu Sans"/>
              </a:defRPr>
            </a:lvl2pPr>
            <a:lvl3pPr>
              <a:defRPr sz="1650" b="0">
                <a:solidFill>
                  <a:srgbClr val="52636F"/>
                </a:solidFill>
                <a:latin typeface="DejaVu Sans"/>
                <a:ea typeface="DejaVu Sans"/>
                <a:cs typeface="DejaVu Sans"/>
              </a:defRPr>
            </a:lvl3pPr>
            <a:lvl4pPr>
              <a:defRPr sz="1650" b="0">
                <a:solidFill>
                  <a:srgbClr val="52636F"/>
                </a:solidFill>
                <a:latin typeface="DejaVu Sans"/>
                <a:ea typeface="DejaVu Sans"/>
                <a:cs typeface="DejaVu Sans"/>
              </a:defRPr>
            </a:lvl4pPr>
            <a:lvl5pPr>
              <a:defRPr sz="1650" b="0">
                <a:solidFill>
                  <a:srgbClr val="52636F"/>
                </a:solidFill>
                <a:latin typeface="DejaVu Sans"/>
                <a:ea typeface="DejaVu Sans"/>
                <a:cs typeface="DejaVu Sans"/>
              </a:defRPr>
            </a:lvl5pPr>
            <a:lvl6pPr>
              <a:defRPr sz="1650" b="0">
                <a:solidFill>
                  <a:srgbClr val="52636F"/>
                </a:solidFill>
                <a:latin typeface="DejaVu Sans"/>
                <a:ea typeface="DejaVu Sans"/>
                <a:cs typeface="DejaVu Sans"/>
              </a:defRPr>
            </a:lvl6pPr>
            <a:lvl7pPr>
              <a:defRPr sz="1650" b="0">
                <a:solidFill>
                  <a:srgbClr val="52636F"/>
                </a:solidFill>
                <a:latin typeface="DejaVu Sans"/>
                <a:ea typeface="DejaVu Sans"/>
                <a:cs typeface="DejaVu Sans"/>
              </a:defRPr>
            </a:lvl7pPr>
            <a:lvl8pPr>
              <a:defRPr sz="1650" b="0">
                <a:solidFill>
                  <a:srgbClr val="52636F"/>
                </a:solidFill>
                <a:latin typeface="DejaVu Sans"/>
                <a:ea typeface="DejaVu Sans"/>
                <a:cs typeface="DejaVu Sans"/>
              </a:defRPr>
            </a:lvl8pPr>
            <a:lvl9pPr>
              <a:defRPr sz="1650" b="0">
                <a:solidFill>
                  <a:srgbClr val="52636F"/>
                </a:solidFill>
                <a:latin typeface="DejaVu Sans"/>
                <a:ea typeface="DejaVu Sans"/>
                <a:cs typeface="DejaVu Sans"/>
              </a:defRPr>
            </a:lvl9pPr>
          </a:lstStyle>
          <a:p>
            <a:pPr>
              <a:defRPr sz="1650" b="0">
                <a:solidFill>
                  <a:srgbClr val="52636F"/>
                </a:solidFill>
                <a:latin typeface="DejaVu Sans"/>
                <a:ea typeface="DejaVu Sans"/>
                <a:cs typeface="DejaVu Sans"/>
              </a:defRPr>
            </a:pPr>
            <a:r>
              <a:rPr sz="1650" b="0">
                <a:solidFill>
                  <a:srgbClr val="52636F"/>
                </a:solidFill>
                <a:latin typeface="DejaVu Sans"/>
                <a:ea typeface="DejaVu Sans"/>
                <a:cs typeface="DejaVu Sans"/>
              </a:rPr>
              <a:t>267150100111023</a:t>
            </a:r>
          </a:p>
        </p:txBody>
      </p:sp>
      <p:sp>
        <p:nvSpPr>
          <p:cNvPr id="9" name="Rectangle 8">
            <a:extLst>
              <a:ext uri="{FF2B5EF4-FFF2-40B4-BE49-F238E27FC236}">
                <a16:creationId xmlns:a16="http://schemas.microsoft.com/office/drawing/2014/main" id="{5624FDEB-6616-4C2E-A11D-4F7640157A53}"/>
              </a:ext>
            </a:extLst>
          </p:cNvPr>
          <p:cNvSpPr>
            <a:spLocks noGrp="1"/>
          </p:cNvSpPr>
          <p:nvPr/>
        </p:nvSpPr>
        <p:spPr>
          <a:xfrm>
            <a:off x="8039100" y="4143375"/>
            <a:ext cx="3571875" cy="666750"/>
          </a:xfrm>
          <a:prstGeom prst="rect">
            <a:avLst/>
          </a:prstGeom>
          <a:noFill/>
          <a:ln w="0">
            <a:noFill/>
            <a:prstDash val="solid"/>
          </a:ln>
        </p:spPr>
        <p:txBody>
          <a:bodyPr lIns="0" tIns="0" rIns="0" bIns="0" anchor="t"/>
          <a:lstStyle>
            <a:defPPr>
              <a:defRPr sz="1950" b="1">
                <a:solidFill>
                  <a:srgbClr val="15364A"/>
                </a:solidFill>
                <a:latin typeface="DejaVu Sans"/>
                <a:ea typeface="DejaVu Sans"/>
                <a:cs typeface="DejaVu Sans"/>
              </a:defRPr>
            </a:defPPr>
            <a:lvl1pPr>
              <a:defRPr sz="1950" b="1">
                <a:solidFill>
                  <a:srgbClr val="15364A"/>
                </a:solidFill>
                <a:latin typeface="DejaVu Sans"/>
                <a:ea typeface="DejaVu Sans"/>
                <a:cs typeface="DejaVu Sans"/>
              </a:defRPr>
            </a:lvl1pPr>
            <a:lvl2pPr>
              <a:defRPr sz="1950" b="1">
                <a:solidFill>
                  <a:srgbClr val="15364A"/>
                </a:solidFill>
                <a:latin typeface="DejaVu Sans"/>
                <a:ea typeface="DejaVu Sans"/>
                <a:cs typeface="DejaVu Sans"/>
              </a:defRPr>
            </a:lvl2pPr>
            <a:lvl3pPr>
              <a:defRPr sz="1950" b="1">
                <a:solidFill>
                  <a:srgbClr val="15364A"/>
                </a:solidFill>
                <a:latin typeface="DejaVu Sans"/>
                <a:ea typeface="DejaVu Sans"/>
                <a:cs typeface="DejaVu Sans"/>
              </a:defRPr>
            </a:lvl3pPr>
            <a:lvl4pPr>
              <a:defRPr sz="1950" b="1">
                <a:solidFill>
                  <a:srgbClr val="15364A"/>
                </a:solidFill>
                <a:latin typeface="DejaVu Sans"/>
                <a:ea typeface="DejaVu Sans"/>
                <a:cs typeface="DejaVu Sans"/>
              </a:defRPr>
            </a:lvl4pPr>
            <a:lvl5pPr>
              <a:defRPr sz="1950" b="1">
                <a:solidFill>
                  <a:srgbClr val="15364A"/>
                </a:solidFill>
                <a:latin typeface="DejaVu Sans"/>
                <a:ea typeface="DejaVu Sans"/>
                <a:cs typeface="DejaVu Sans"/>
              </a:defRPr>
            </a:lvl5pPr>
            <a:lvl6pPr>
              <a:defRPr sz="1950" b="1">
                <a:solidFill>
                  <a:srgbClr val="15364A"/>
                </a:solidFill>
                <a:latin typeface="DejaVu Sans"/>
                <a:ea typeface="DejaVu Sans"/>
                <a:cs typeface="DejaVu Sans"/>
              </a:defRPr>
            </a:lvl6pPr>
            <a:lvl7pPr>
              <a:defRPr sz="1950" b="1">
                <a:solidFill>
                  <a:srgbClr val="15364A"/>
                </a:solidFill>
                <a:latin typeface="DejaVu Sans"/>
                <a:ea typeface="DejaVu Sans"/>
                <a:cs typeface="DejaVu Sans"/>
              </a:defRPr>
            </a:lvl7pPr>
            <a:lvl8pPr>
              <a:defRPr sz="1950" b="1">
                <a:solidFill>
                  <a:srgbClr val="15364A"/>
                </a:solidFill>
                <a:latin typeface="DejaVu Sans"/>
                <a:ea typeface="DejaVu Sans"/>
                <a:cs typeface="DejaVu Sans"/>
              </a:defRPr>
            </a:lvl8pPr>
            <a:lvl9pPr>
              <a:defRPr sz="1950" b="1">
                <a:solidFill>
                  <a:srgbClr val="15364A"/>
                </a:solidFill>
                <a:latin typeface="DejaVu Sans"/>
                <a:ea typeface="DejaVu Sans"/>
                <a:cs typeface="DejaVu Sans"/>
              </a:defRPr>
            </a:lvl9pPr>
          </a:lstStyle>
          <a:p>
            <a:pPr>
              <a:defRPr sz="1950" b="1">
                <a:solidFill>
                  <a:srgbClr val="15364A"/>
                </a:solidFill>
                <a:latin typeface="DejaVu Sans"/>
                <a:ea typeface="DejaVu Sans"/>
                <a:cs typeface="DejaVu Sans"/>
              </a:defRPr>
            </a:pPr>
            <a:r>
              <a:rPr sz="1950" b="1">
                <a:solidFill>
                  <a:srgbClr val="15364A"/>
                </a:solidFill>
                <a:latin typeface="DejaVu Sans"/>
                <a:ea typeface="DejaVu Sans"/>
                <a:cs typeface="DejaVu Sans"/>
              </a:rPr>
              <a:t>Harris Imam Fathoni</a:t>
            </a:r>
          </a:p>
        </p:txBody>
      </p:sp>
      <p:sp>
        <p:nvSpPr>
          <p:cNvPr id="10" name="Rectangle 9">
            <a:extLst>
              <a:ext uri="{FF2B5EF4-FFF2-40B4-BE49-F238E27FC236}">
                <a16:creationId xmlns:a16="http://schemas.microsoft.com/office/drawing/2014/main" id="{1A58EB5F-57E1-4622-8A81-6A1AAA85ABC0}"/>
              </a:ext>
            </a:extLst>
          </p:cNvPr>
          <p:cNvSpPr>
            <a:spLocks noGrp="1"/>
          </p:cNvSpPr>
          <p:nvPr/>
        </p:nvSpPr>
        <p:spPr>
          <a:xfrm>
            <a:off x="8039100" y="4953000"/>
            <a:ext cx="3571875" cy="428625"/>
          </a:xfrm>
          <a:prstGeom prst="rect">
            <a:avLst/>
          </a:prstGeom>
          <a:noFill/>
          <a:ln w="0">
            <a:noFill/>
            <a:prstDash val="solid"/>
          </a:ln>
        </p:spPr>
        <p:txBody>
          <a:bodyPr lIns="0" tIns="0" rIns="0" bIns="0" anchor="t"/>
          <a:lstStyle>
            <a:defPPr>
              <a:defRPr sz="1650" b="0">
                <a:solidFill>
                  <a:srgbClr val="52636F"/>
                </a:solidFill>
                <a:latin typeface="DejaVu Sans"/>
                <a:ea typeface="DejaVu Sans"/>
                <a:cs typeface="DejaVu Sans"/>
              </a:defRPr>
            </a:defPPr>
            <a:lvl1pPr>
              <a:defRPr sz="1650" b="0">
                <a:solidFill>
                  <a:srgbClr val="52636F"/>
                </a:solidFill>
                <a:latin typeface="DejaVu Sans"/>
                <a:ea typeface="DejaVu Sans"/>
                <a:cs typeface="DejaVu Sans"/>
              </a:defRPr>
            </a:lvl1pPr>
            <a:lvl2pPr>
              <a:defRPr sz="1650" b="0">
                <a:solidFill>
                  <a:srgbClr val="52636F"/>
                </a:solidFill>
                <a:latin typeface="DejaVu Sans"/>
                <a:ea typeface="DejaVu Sans"/>
                <a:cs typeface="DejaVu Sans"/>
              </a:defRPr>
            </a:lvl2pPr>
            <a:lvl3pPr>
              <a:defRPr sz="1650" b="0">
                <a:solidFill>
                  <a:srgbClr val="52636F"/>
                </a:solidFill>
                <a:latin typeface="DejaVu Sans"/>
                <a:ea typeface="DejaVu Sans"/>
                <a:cs typeface="DejaVu Sans"/>
              </a:defRPr>
            </a:lvl3pPr>
            <a:lvl4pPr>
              <a:defRPr sz="1650" b="0">
                <a:solidFill>
                  <a:srgbClr val="52636F"/>
                </a:solidFill>
                <a:latin typeface="DejaVu Sans"/>
                <a:ea typeface="DejaVu Sans"/>
                <a:cs typeface="DejaVu Sans"/>
              </a:defRPr>
            </a:lvl4pPr>
            <a:lvl5pPr>
              <a:defRPr sz="1650" b="0">
                <a:solidFill>
                  <a:srgbClr val="52636F"/>
                </a:solidFill>
                <a:latin typeface="DejaVu Sans"/>
                <a:ea typeface="DejaVu Sans"/>
                <a:cs typeface="DejaVu Sans"/>
              </a:defRPr>
            </a:lvl5pPr>
            <a:lvl6pPr>
              <a:defRPr sz="1650" b="0">
                <a:solidFill>
                  <a:srgbClr val="52636F"/>
                </a:solidFill>
                <a:latin typeface="DejaVu Sans"/>
                <a:ea typeface="DejaVu Sans"/>
                <a:cs typeface="DejaVu Sans"/>
              </a:defRPr>
            </a:lvl6pPr>
            <a:lvl7pPr>
              <a:defRPr sz="1650" b="0">
                <a:solidFill>
                  <a:srgbClr val="52636F"/>
                </a:solidFill>
                <a:latin typeface="DejaVu Sans"/>
                <a:ea typeface="DejaVu Sans"/>
                <a:cs typeface="DejaVu Sans"/>
              </a:defRPr>
            </a:lvl7pPr>
            <a:lvl8pPr>
              <a:defRPr sz="1650" b="0">
                <a:solidFill>
                  <a:srgbClr val="52636F"/>
                </a:solidFill>
                <a:latin typeface="DejaVu Sans"/>
                <a:ea typeface="DejaVu Sans"/>
                <a:cs typeface="DejaVu Sans"/>
              </a:defRPr>
            </a:lvl8pPr>
            <a:lvl9pPr>
              <a:defRPr sz="1650" b="0">
                <a:solidFill>
                  <a:srgbClr val="52636F"/>
                </a:solidFill>
                <a:latin typeface="DejaVu Sans"/>
                <a:ea typeface="DejaVu Sans"/>
                <a:cs typeface="DejaVu Sans"/>
              </a:defRPr>
            </a:lvl9pPr>
          </a:lstStyle>
          <a:p>
            <a:pPr>
              <a:defRPr sz="1650" b="0">
                <a:solidFill>
                  <a:srgbClr val="52636F"/>
                </a:solidFill>
                <a:latin typeface="DejaVu Sans"/>
                <a:ea typeface="DejaVu Sans"/>
                <a:cs typeface="DejaVu Sans"/>
              </a:defRPr>
            </a:pPr>
            <a:r>
              <a:rPr sz="1650" b="0">
                <a:solidFill>
                  <a:srgbClr val="52636F"/>
                </a:solidFill>
                <a:latin typeface="DejaVu Sans"/>
                <a:ea typeface="DejaVu Sans"/>
                <a:cs typeface="DejaVu Sans"/>
              </a:rPr>
              <a:t>267150100111026</a:t>
            </a:r>
          </a:p>
        </p:txBody>
      </p:sp>
    </p:spTree>
    <p:extLst>
      <p:ext uri="{BB962C8B-B14F-4D97-AF65-F5344CB8AC3E}">
        <p14:creationId xmlns:p14="http://schemas.microsoft.com/office/powerpoint/2010/main" val="1300998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27061A8-D1C9-43BC-844D-28522CE8F591}"/>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Dataset dan target eksperimen</a:t>
            </a:r>
          </a:p>
        </p:txBody>
      </p:sp>
      <p:sp>
        <p:nvSpPr>
          <p:cNvPr id="2" name="Rectangle 1">
            <a:extLst>
              <a:ext uri="{FF2B5EF4-FFF2-40B4-BE49-F238E27FC236}">
                <a16:creationId xmlns:a16="http://schemas.microsoft.com/office/drawing/2014/main" id="{0CEFF810-C84F-45EB-9EAF-D31B7BA64C54}"/>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2.  Bagus Hardiansyah</a:t>
            </a:r>
          </a:p>
        </p:txBody>
      </p:sp>
      <p:sp>
        <p:nvSpPr>
          <p:cNvPr id="3" name="Rectangle 2">
            <a:extLst>
              <a:ext uri="{FF2B5EF4-FFF2-40B4-BE49-F238E27FC236}">
                <a16:creationId xmlns:a16="http://schemas.microsoft.com/office/drawing/2014/main" id="{092E675F-9140-4031-B49B-62064E8476A6}"/>
              </a:ext>
            </a:extLst>
          </p:cNvPr>
          <p:cNvSpPr>
            <a:spLocks noGrp="1"/>
          </p:cNvSpPr>
          <p:nvPr/>
        </p:nvSpPr>
        <p:spPr>
          <a:xfrm>
            <a:off x="609600" y="1762125"/>
            <a:ext cx="5143500" cy="952500"/>
          </a:xfrm>
          <a:prstGeom prst="rect">
            <a:avLst/>
          </a:prstGeom>
          <a:noFill/>
          <a:ln w="0">
            <a:noFill/>
            <a:prstDash val="solid"/>
          </a:ln>
        </p:spPr>
        <p:txBody>
          <a:bodyPr lIns="0" tIns="0" rIns="0" bIns="0" anchor="t"/>
          <a:lstStyle>
            <a:defPPr>
              <a:defRPr sz="5700" b="1">
                <a:solidFill>
                  <a:srgbClr val="087F8C"/>
                </a:solidFill>
                <a:latin typeface="DejaVu Sans"/>
                <a:ea typeface="DejaVu Sans"/>
                <a:cs typeface="DejaVu Sans"/>
              </a:defRPr>
            </a:defPPr>
            <a:lvl1pPr>
              <a:defRPr sz="5700" b="1">
                <a:solidFill>
                  <a:srgbClr val="087F8C"/>
                </a:solidFill>
                <a:latin typeface="DejaVu Sans"/>
                <a:ea typeface="DejaVu Sans"/>
                <a:cs typeface="DejaVu Sans"/>
              </a:defRPr>
            </a:lvl1pPr>
            <a:lvl2pPr>
              <a:defRPr sz="5700" b="1">
                <a:solidFill>
                  <a:srgbClr val="087F8C"/>
                </a:solidFill>
                <a:latin typeface="DejaVu Sans"/>
                <a:ea typeface="DejaVu Sans"/>
                <a:cs typeface="DejaVu Sans"/>
              </a:defRPr>
            </a:lvl2pPr>
            <a:lvl3pPr>
              <a:defRPr sz="5700" b="1">
                <a:solidFill>
                  <a:srgbClr val="087F8C"/>
                </a:solidFill>
                <a:latin typeface="DejaVu Sans"/>
                <a:ea typeface="DejaVu Sans"/>
                <a:cs typeface="DejaVu Sans"/>
              </a:defRPr>
            </a:lvl3pPr>
            <a:lvl4pPr>
              <a:defRPr sz="5700" b="1">
                <a:solidFill>
                  <a:srgbClr val="087F8C"/>
                </a:solidFill>
                <a:latin typeface="DejaVu Sans"/>
                <a:ea typeface="DejaVu Sans"/>
                <a:cs typeface="DejaVu Sans"/>
              </a:defRPr>
            </a:lvl4pPr>
            <a:lvl5pPr>
              <a:defRPr sz="5700" b="1">
                <a:solidFill>
                  <a:srgbClr val="087F8C"/>
                </a:solidFill>
                <a:latin typeface="DejaVu Sans"/>
                <a:ea typeface="DejaVu Sans"/>
                <a:cs typeface="DejaVu Sans"/>
              </a:defRPr>
            </a:lvl5pPr>
            <a:lvl6pPr>
              <a:defRPr sz="5700" b="1">
                <a:solidFill>
                  <a:srgbClr val="087F8C"/>
                </a:solidFill>
                <a:latin typeface="DejaVu Sans"/>
                <a:ea typeface="DejaVu Sans"/>
                <a:cs typeface="DejaVu Sans"/>
              </a:defRPr>
            </a:lvl6pPr>
            <a:lvl7pPr>
              <a:defRPr sz="5700" b="1">
                <a:solidFill>
                  <a:srgbClr val="087F8C"/>
                </a:solidFill>
                <a:latin typeface="DejaVu Sans"/>
                <a:ea typeface="DejaVu Sans"/>
                <a:cs typeface="DejaVu Sans"/>
              </a:defRPr>
            </a:lvl7pPr>
            <a:lvl8pPr>
              <a:defRPr sz="5700" b="1">
                <a:solidFill>
                  <a:srgbClr val="087F8C"/>
                </a:solidFill>
                <a:latin typeface="DejaVu Sans"/>
                <a:ea typeface="DejaVu Sans"/>
                <a:cs typeface="DejaVu Sans"/>
              </a:defRPr>
            </a:lvl8pPr>
            <a:lvl9pPr>
              <a:defRPr sz="5700" b="1">
                <a:solidFill>
                  <a:srgbClr val="087F8C"/>
                </a:solidFill>
                <a:latin typeface="DejaVu Sans"/>
                <a:ea typeface="DejaVu Sans"/>
                <a:cs typeface="DejaVu Sans"/>
              </a:defRPr>
            </a:lvl9pPr>
          </a:lstStyle>
          <a:p>
            <a:pPr>
              <a:defRPr sz="5700" b="1">
                <a:solidFill>
                  <a:srgbClr val="087F8C"/>
                </a:solidFill>
                <a:latin typeface="DejaVu Sans"/>
                <a:ea typeface="DejaVu Sans"/>
                <a:cs typeface="DejaVu Sans"/>
              </a:defRPr>
            </a:pPr>
            <a:r>
              <a:rPr sz="5700" b="1">
                <a:solidFill>
                  <a:srgbClr val="087F8C"/>
                </a:solidFill>
                <a:latin typeface="DejaVu Sans"/>
                <a:ea typeface="DejaVu Sans"/>
                <a:cs typeface="DejaVu Sans"/>
              </a:rPr>
              <a:t>101.766</a:t>
            </a:r>
          </a:p>
        </p:txBody>
      </p:sp>
      <p:sp>
        <p:nvSpPr>
          <p:cNvPr id="4" name="Rectangle 3">
            <a:extLst>
              <a:ext uri="{FF2B5EF4-FFF2-40B4-BE49-F238E27FC236}">
                <a16:creationId xmlns:a16="http://schemas.microsoft.com/office/drawing/2014/main" id="{00DF70E2-97E3-4291-9B56-3042098DC7AD}"/>
              </a:ext>
            </a:extLst>
          </p:cNvPr>
          <p:cNvSpPr>
            <a:spLocks noGrp="1"/>
          </p:cNvSpPr>
          <p:nvPr/>
        </p:nvSpPr>
        <p:spPr>
          <a:xfrm>
            <a:off x="609600" y="2790825"/>
            <a:ext cx="5238750" cy="619125"/>
          </a:xfrm>
          <a:prstGeom prst="rect">
            <a:avLst/>
          </a:prstGeom>
          <a:noFill/>
          <a:ln w="0">
            <a:noFill/>
            <a:prstDash val="solid"/>
          </a:ln>
        </p:spPr>
        <p:txBody>
          <a:bodyPr lIns="0" tIns="0" rIns="0" bIns="0" anchor="t"/>
          <a:lstStyle>
            <a:defPPr>
              <a:defRPr sz="2100" b="0">
                <a:solidFill>
                  <a:srgbClr val="15364A"/>
                </a:solidFill>
                <a:latin typeface="DejaVu Sans"/>
                <a:ea typeface="DejaVu Sans"/>
                <a:cs typeface="DejaVu Sans"/>
              </a:defRPr>
            </a:defPPr>
            <a:lvl1pPr>
              <a:defRPr sz="2100" b="0">
                <a:solidFill>
                  <a:srgbClr val="15364A"/>
                </a:solidFill>
                <a:latin typeface="DejaVu Sans"/>
                <a:ea typeface="DejaVu Sans"/>
                <a:cs typeface="DejaVu Sans"/>
              </a:defRPr>
            </a:lvl1pPr>
            <a:lvl2pPr>
              <a:defRPr sz="2100" b="0">
                <a:solidFill>
                  <a:srgbClr val="15364A"/>
                </a:solidFill>
                <a:latin typeface="DejaVu Sans"/>
                <a:ea typeface="DejaVu Sans"/>
                <a:cs typeface="DejaVu Sans"/>
              </a:defRPr>
            </a:lvl2pPr>
            <a:lvl3pPr>
              <a:defRPr sz="2100" b="0">
                <a:solidFill>
                  <a:srgbClr val="15364A"/>
                </a:solidFill>
                <a:latin typeface="DejaVu Sans"/>
                <a:ea typeface="DejaVu Sans"/>
                <a:cs typeface="DejaVu Sans"/>
              </a:defRPr>
            </a:lvl3pPr>
            <a:lvl4pPr>
              <a:defRPr sz="2100" b="0">
                <a:solidFill>
                  <a:srgbClr val="15364A"/>
                </a:solidFill>
                <a:latin typeface="DejaVu Sans"/>
                <a:ea typeface="DejaVu Sans"/>
                <a:cs typeface="DejaVu Sans"/>
              </a:defRPr>
            </a:lvl4pPr>
            <a:lvl5pPr>
              <a:defRPr sz="2100" b="0">
                <a:solidFill>
                  <a:srgbClr val="15364A"/>
                </a:solidFill>
                <a:latin typeface="DejaVu Sans"/>
                <a:ea typeface="DejaVu Sans"/>
                <a:cs typeface="DejaVu Sans"/>
              </a:defRPr>
            </a:lvl5pPr>
            <a:lvl6pPr>
              <a:defRPr sz="2100" b="0">
                <a:solidFill>
                  <a:srgbClr val="15364A"/>
                </a:solidFill>
                <a:latin typeface="DejaVu Sans"/>
                <a:ea typeface="DejaVu Sans"/>
                <a:cs typeface="DejaVu Sans"/>
              </a:defRPr>
            </a:lvl6pPr>
            <a:lvl7pPr>
              <a:defRPr sz="2100" b="0">
                <a:solidFill>
                  <a:srgbClr val="15364A"/>
                </a:solidFill>
                <a:latin typeface="DejaVu Sans"/>
                <a:ea typeface="DejaVu Sans"/>
                <a:cs typeface="DejaVu Sans"/>
              </a:defRPr>
            </a:lvl7pPr>
            <a:lvl8pPr>
              <a:defRPr sz="2100" b="0">
                <a:solidFill>
                  <a:srgbClr val="15364A"/>
                </a:solidFill>
                <a:latin typeface="DejaVu Sans"/>
                <a:ea typeface="DejaVu Sans"/>
                <a:cs typeface="DejaVu Sans"/>
              </a:defRPr>
            </a:lvl8pPr>
            <a:lvl9pPr>
              <a:defRPr sz="2100" b="0">
                <a:solidFill>
                  <a:srgbClr val="15364A"/>
                </a:solidFill>
                <a:latin typeface="DejaVu Sans"/>
                <a:ea typeface="DejaVu Sans"/>
                <a:cs typeface="DejaVu Sans"/>
              </a:defRPr>
            </a:lvl9pPr>
          </a:lstStyle>
          <a:p>
            <a:pPr>
              <a:defRPr sz="2100" b="0">
                <a:solidFill>
                  <a:srgbClr val="15364A"/>
                </a:solidFill>
                <a:latin typeface="DejaVu Sans"/>
                <a:ea typeface="DejaVu Sans"/>
                <a:cs typeface="DejaVu Sans"/>
              </a:defRPr>
            </a:pPr>
            <a:r>
              <a:rPr sz="2100" b="0">
                <a:solidFill>
                  <a:srgbClr val="15364A"/>
                </a:solidFill>
                <a:latin typeface="DejaVu Sans"/>
                <a:ea typeface="DejaVu Sans"/>
                <a:cs typeface="DejaVu Sans"/>
              </a:rPr>
              <a:t>kunjungan pada 71.518 pasien</a:t>
            </a:r>
          </a:p>
        </p:txBody>
      </p:sp>
      <p:sp>
        <p:nvSpPr>
          <p:cNvPr id="5" name="Rectangle 4">
            <a:extLst>
              <a:ext uri="{FF2B5EF4-FFF2-40B4-BE49-F238E27FC236}">
                <a16:creationId xmlns:a16="http://schemas.microsoft.com/office/drawing/2014/main" id="{759B0F1A-1B44-4311-952A-9C4111F65DD7}"/>
              </a:ext>
            </a:extLst>
          </p:cNvPr>
          <p:cNvSpPr>
            <a:spLocks noGrp="1"/>
          </p:cNvSpPr>
          <p:nvPr/>
        </p:nvSpPr>
        <p:spPr>
          <a:xfrm>
            <a:off x="609600" y="3667125"/>
            <a:ext cx="4762500" cy="66675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50 kolom</a:t>
            </a:r>
          </a:p>
        </p:txBody>
      </p:sp>
      <p:sp>
        <p:nvSpPr>
          <p:cNvPr id="6" name="Rectangle 5">
            <a:extLst>
              <a:ext uri="{FF2B5EF4-FFF2-40B4-BE49-F238E27FC236}">
                <a16:creationId xmlns:a16="http://schemas.microsoft.com/office/drawing/2014/main" id="{C467E3B3-48A7-470F-AAAE-119B0EB2DB05}"/>
              </a:ext>
            </a:extLst>
          </p:cNvPr>
          <p:cNvSpPr>
            <a:spLocks noGrp="1"/>
          </p:cNvSpPr>
          <p:nvPr/>
        </p:nvSpPr>
        <p:spPr>
          <a:xfrm>
            <a:off x="609600" y="4467225"/>
            <a:ext cx="5238750" cy="952500"/>
          </a:xfrm>
          <a:prstGeom prst="rect">
            <a:avLst/>
          </a:prstGeom>
          <a:noFill/>
          <a:ln w="0">
            <a:noFill/>
            <a:prstDash val="solid"/>
          </a:ln>
        </p:spPr>
        <p:txBody>
          <a:bodyPr lIns="0" tIns="0" rIns="0" bIns="0" anchor="t"/>
          <a:lstStyle>
            <a:defPPr>
              <a:defRPr sz="1950" b="0">
                <a:solidFill>
                  <a:srgbClr val="52636F"/>
                </a:solidFill>
                <a:latin typeface="DejaVu Sans"/>
                <a:ea typeface="DejaVu Sans"/>
                <a:cs typeface="DejaVu Sans"/>
              </a:defRPr>
            </a:defPPr>
            <a:lvl1pPr>
              <a:defRPr sz="1950" b="0">
                <a:solidFill>
                  <a:srgbClr val="52636F"/>
                </a:solidFill>
                <a:latin typeface="DejaVu Sans"/>
                <a:ea typeface="DejaVu Sans"/>
                <a:cs typeface="DejaVu Sans"/>
              </a:defRPr>
            </a:lvl1pPr>
            <a:lvl2pPr>
              <a:defRPr sz="1950" b="0">
                <a:solidFill>
                  <a:srgbClr val="52636F"/>
                </a:solidFill>
                <a:latin typeface="DejaVu Sans"/>
                <a:ea typeface="DejaVu Sans"/>
                <a:cs typeface="DejaVu Sans"/>
              </a:defRPr>
            </a:lvl2pPr>
            <a:lvl3pPr>
              <a:defRPr sz="1950" b="0">
                <a:solidFill>
                  <a:srgbClr val="52636F"/>
                </a:solidFill>
                <a:latin typeface="DejaVu Sans"/>
                <a:ea typeface="DejaVu Sans"/>
                <a:cs typeface="DejaVu Sans"/>
              </a:defRPr>
            </a:lvl3pPr>
            <a:lvl4pPr>
              <a:defRPr sz="1950" b="0">
                <a:solidFill>
                  <a:srgbClr val="52636F"/>
                </a:solidFill>
                <a:latin typeface="DejaVu Sans"/>
                <a:ea typeface="DejaVu Sans"/>
                <a:cs typeface="DejaVu Sans"/>
              </a:defRPr>
            </a:lvl4pPr>
            <a:lvl5pPr>
              <a:defRPr sz="1950" b="0">
                <a:solidFill>
                  <a:srgbClr val="52636F"/>
                </a:solidFill>
                <a:latin typeface="DejaVu Sans"/>
                <a:ea typeface="DejaVu Sans"/>
                <a:cs typeface="DejaVu Sans"/>
              </a:defRPr>
            </a:lvl5pPr>
            <a:lvl6pPr>
              <a:defRPr sz="1950" b="0">
                <a:solidFill>
                  <a:srgbClr val="52636F"/>
                </a:solidFill>
                <a:latin typeface="DejaVu Sans"/>
                <a:ea typeface="DejaVu Sans"/>
                <a:cs typeface="DejaVu Sans"/>
              </a:defRPr>
            </a:lvl6pPr>
            <a:lvl7pPr>
              <a:defRPr sz="1950" b="0">
                <a:solidFill>
                  <a:srgbClr val="52636F"/>
                </a:solidFill>
                <a:latin typeface="DejaVu Sans"/>
                <a:ea typeface="DejaVu Sans"/>
                <a:cs typeface="DejaVu Sans"/>
              </a:defRPr>
            </a:lvl7pPr>
            <a:lvl8pPr>
              <a:defRPr sz="1950" b="0">
                <a:solidFill>
                  <a:srgbClr val="52636F"/>
                </a:solidFill>
                <a:latin typeface="DejaVu Sans"/>
                <a:ea typeface="DejaVu Sans"/>
                <a:cs typeface="DejaVu Sans"/>
              </a:defRPr>
            </a:lvl8pPr>
            <a:lvl9pPr>
              <a:defRPr sz="1950" b="0">
                <a:solidFill>
                  <a:srgbClr val="52636F"/>
                </a:solidFill>
                <a:latin typeface="DejaVu Sans"/>
                <a:ea typeface="DejaVu Sans"/>
                <a:cs typeface="DejaVu Sans"/>
              </a:defRPr>
            </a:lvl9pPr>
          </a:lstStyle>
          <a:p>
            <a:pPr>
              <a:defRPr sz="1950" b="0">
                <a:solidFill>
                  <a:srgbClr val="52636F"/>
                </a:solidFill>
                <a:latin typeface="DejaVu Sans"/>
                <a:ea typeface="DejaVu Sans"/>
                <a:cs typeface="DejaVu Sans"/>
              </a:defRPr>
            </a:pPr>
            <a:r>
              <a:rPr sz="1950" b="0">
                <a:solidFill>
                  <a:srgbClr val="52636F"/>
                </a:solidFill>
                <a:latin typeface="DejaVu Sans"/>
                <a:ea typeface="DejaVu Sans"/>
                <a:cs typeface="DejaVu Sans"/>
              </a:rPr>
              <a:t>47 fitur, dua ID, satu target</a:t>
            </a:r>
          </a:p>
          <a:p>
            <a:pPr>
              <a:defRPr sz="1950" b="0">
                <a:solidFill>
                  <a:srgbClr val="52636F"/>
                </a:solidFill>
                <a:latin typeface="DejaVu Sans"/>
                <a:ea typeface="DejaVu Sans"/>
                <a:cs typeface="DejaVu Sans"/>
              </a:defRPr>
            </a:pPr>
            <a:r>
              <a:rPr sz="1950" b="0">
                <a:solidFill>
                  <a:srgbClr val="52636F"/>
                </a:solidFill>
                <a:latin typeface="DejaVu Sans"/>
                <a:ea typeface="DejaVu Sans"/>
                <a:cs typeface="DejaVu Sans"/>
              </a:rPr>
              <a:t>Periode 1999–2008, Amerika Serikat</a:t>
            </a:r>
          </a:p>
        </p:txBody>
      </p:sp>
      <p:graphicFrame>
        <p:nvGraphicFramePr>
          <p:cNvPr id="7" name="Chart">
            <a:extLst>
              <a:ext uri="{FF2B5EF4-FFF2-40B4-BE49-F238E27FC236}">
                <a16:creationId xmlns:a16="http://schemas.microsoft.com/office/drawing/2014/main" id="{51B22DF4-0E5C-4547-9805-95FBD3878399}"/>
              </a:ext>
            </a:extLst>
          </p:cNvPr>
          <p:cNvGraphicFramePr/>
          <p:nvPr/>
        </p:nvGraphicFramePr>
        <p:xfrm>
          <a:off x="6286500" y="1666875"/>
          <a:ext cx="5238750"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7">
            <a:extLst>
              <a:ext uri="{FF2B5EF4-FFF2-40B4-BE49-F238E27FC236}">
                <a16:creationId xmlns:a16="http://schemas.microsoft.com/office/drawing/2014/main" id="{F2222C45-74C4-414A-9304-F8E90F0BBAF3}"/>
              </a:ext>
            </a:extLst>
          </p:cNvPr>
          <p:cNvSpPr>
            <a:spLocks noGrp="1"/>
          </p:cNvSpPr>
          <p:nvPr/>
        </p:nvSpPr>
        <p:spPr>
          <a:xfrm>
            <a:off x="6286500" y="5476875"/>
            <a:ext cx="5238750" cy="571500"/>
          </a:xfrm>
          <a:prstGeom prst="rect">
            <a:avLst/>
          </a:prstGeom>
          <a:noFill/>
          <a:ln w="0">
            <a:noFill/>
            <a:prstDash val="solid"/>
          </a:ln>
        </p:spPr>
        <p:txBody>
          <a:bodyPr lIns="0" tIns="0" rIns="0" bIns="0" anchor="t"/>
          <a:lstStyle>
            <a:defPPr>
              <a:defRPr sz="1800" b="1">
                <a:solidFill>
                  <a:srgbClr val="C56A29"/>
                </a:solidFill>
                <a:latin typeface="DejaVu Sans"/>
                <a:ea typeface="DejaVu Sans"/>
                <a:cs typeface="DejaVu Sans"/>
              </a:defRPr>
            </a:defPPr>
            <a:lvl1pPr>
              <a:defRPr sz="1800" b="1">
                <a:solidFill>
                  <a:srgbClr val="C56A29"/>
                </a:solidFill>
                <a:latin typeface="DejaVu Sans"/>
                <a:ea typeface="DejaVu Sans"/>
                <a:cs typeface="DejaVu Sans"/>
              </a:defRPr>
            </a:lvl1pPr>
            <a:lvl2pPr>
              <a:defRPr sz="1800" b="1">
                <a:solidFill>
                  <a:srgbClr val="C56A29"/>
                </a:solidFill>
                <a:latin typeface="DejaVu Sans"/>
                <a:ea typeface="DejaVu Sans"/>
                <a:cs typeface="DejaVu Sans"/>
              </a:defRPr>
            </a:lvl2pPr>
            <a:lvl3pPr>
              <a:defRPr sz="1800" b="1">
                <a:solidFill>
                  <a:srgbClr val="C56A29"/>
                </a:solidFill>
                <a:latin typeface="DejaVu Sans"/>
                <a:ea typeface="DejaVu Sans"/>
                <a:cs typeface="DejaVu Sans"/>
              </a:defRPr>
            </a:lvl3pPr>
            <a:lvl4pPr>
              <a:defRPr sz="1800" b="1">
                <a:solidFill>
                  <a:srgbClr val="C56A29"/>
                </a:solidFill>
                <a:latin typeface="DejaVu Sans"/>
                <a:ea typeface="DejaVu Sans"/>
                <a:cs typeface="DejaVu Sans"/>
              </a:defRPr>
            </a:lvl4pPr>
            <a:lvl5pPr>
              <a:defRPr sz="1800" b="1">
                <a:solidFill>
                  <a:srgbClr val="C56A29"/>
                </a:solidFill>
                <a:latin typeface="DejaVu Sans"/>
                <a:ea typeface="DejaVu Sans"/>
                <a:cs typeface="DejaVu Sans"/>
              </a:defRPr>
            </a:lvl5pPr>
            <a:lvl6pPr>
              <a:defRPr sz="1800" b="1">
                <a:solidFill>
                  <a:srgbClr val="C56A29"/>
                </a:solidFill>
                <a:latin typeface="DejaVu Sans"/>
                <a:ea typeface="DejaVu Sans"/>
                <a:cs typeface="DejaVu Sans"/>
              </a:defRPr>
            </a:lvl6pPr>
            <a:lvl7pPr>
              <a:defRPr sz="1800" b="1">
                <a:solidFill>
                  <a:srgbClr val="C56A29"/>
                </a:solidFill>
                <a:latin typeface="DejaVu Sans"/>
                <a:ea typeface="DejaVu Sans"/>
                <a:cs typeface="DejaVu Sans"/>
              </a:defRPr>
            </a:lvl7pPr>
            <a:lvl8pPr>
              <a:defRPr sz="1800" b="1">
                <a:solidFill>
                  <a:srgbClr val="C56A29"/>
                </a:solidFill>
                <a:latin typeface="DejaVu Sans"/>
                <a:ea typeface="DejaVu Sans"/>
                <a:cs typeface="DejaVu Sans"/>
              </a:defRPr>
            </a:lvl8pPr>
            <a:lvl9pPr>
              <a:defRPr sz="1800" b="1">
                <a:solidFill>
                  <a:srgbClr val="C56A29"/>
                </a:solidFill>
                <a:latin typeface="DejaVu Sans"/>
                <a:ea typeface="DejaVu Sans"/>
                <a:cs typeface="DejaVu Sans"/>
              </a:defRPr>
            </a:lvl9pPr>
          </a:lstStyle>
          <a:p>
            <a:pPr>
              <a:defRPr sz="1800" b="1">
                <a:solidFill>
                  <a:srgbClr val="C56A29"/>
                </a:solidFill>
                <a:latin typeface="DejaVu Sans"/>
                <a:ea typeface="DejaVu Sans"/>
                <a:cs typeface="DejaVu Sans"/>
              </a:defRPr>
            </a:pPr>
            <a:r>
              <a:rPr sz="1800" b="1">
                <a:solidFill>
                  <a:srgbClr val="C56A29"/>
                </a:solidFill>
                <a:latin typeface="DejaVu Sans"/>
                <a:ea typeface="DejaVu Sans"/>
                <a:cs typeface="DejaVu Sans"/>
              </a:rPr>
              <a:t>Kelas positif 11,16% dari seluruh kunjungan</a:t>
            </a:r>
          </a:p>
        </p:txBody>
      </p:sp>
    </p:spTree>
    <p:extLst>
      <p:ext uri="{BB962C8B-B14F-4D97-AF65-F5344CB8AC3E}">
        <p14:creationId xmlns:p14="http://schemas.microsoft.com/office/powerpoint/2010/main" val="930336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4BAEAE0-10C8-4649-AA1C-D719A4078F62}"/>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Pemisahan data berdasarkan pasien</a:t>
            </a:r>
          </a:p>
        </p:txBody>
      </p:sp>
      <p:sp>
        <p:nvSpPr>
          <p:cNvPr id="2" name="Rectangle 1">
            <a:extLst>
              <a:ext uri="{FF2B5EF4-FFF2-40B4-BE49-F238E27FC236}">
                <a16:creationId xmlns:a16="http://schemas.microsoft.com/office/drawing/2014/main" id="{399A0B86-AA1C-4D14-9313-844E1D9509B8}"/>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3.  Bagus Hardiansyah</a:t>
            </a:r>
          </a:p>
        </p:txBody>
      </p:sp>
      <p:graphicFrame>
        <p:nvGraphicFramePr>
          <p:cNvPr id="3" name="Table 2">
            <a:extLst>
              <a:ext uri="{FF2B5EF4-FFF2-40B4-BE49-F238E27FC236}">
                <a16:creationId xmlns:a16="http://schemas.microsoft.com/office/drawing/2014/main" id="{AA6CA8E5-CF6A-4F84-8F67-38065B97541C}"/>
              </a:ext>
            </a:extLst>
          </p:cNvPr>
          <p:cNvGraphicFramePr/>
          <p:nvPr/>
        </p:nvGraphicFramePr>
        <p:xfrm>
          <a:off x="609600" y="1809750"/>
          <a:ext cx="10972800" cy="2762252"/>
        </p:xfrm>
        <a:graphic>
          <a:graphicData uri="http://schemas.openxmlformats.org/drawingml/2006/table">
            <a:tbl>
              <a:tblPr/>
              <a:tblGrid>
                <a:gridCol w="3429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690563">
                <a:tc>
                  <a:txBody>
                    <a:bodyPr/>
                    <a:lstStyle/>
                    <a:p>
                      <a:r>
                        <a:rPr sz="1875" b="1">
                          <a:solidFill>
                            <a:srgbClr val="FFFFFF"/>
                          </a:solidFill>
                          <a:latin typeface="DejaVu Sans"/>
                          <a:ea typeface="DejaVu Sans"/>
                          <a:cs typeface="DejaVu Sans"/>
                        </a:rPr>
                        <a:t>Subset</a:t>
                      </a:r>
                    </a:p>
                  </a:txBody>
                  <a:tcPr anchor="ctr">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875" b="1">
                          <a:solidFill>
                            <a:srgbClr val="FFFFFF"/>
                          </a:solidFill>
                          <a:latin typeface="DejaVu Sans"/>
                          <a:ea typeface="DejaVu Sans"/>
                          <a:cs typeface="DejaVu Sans"/>
                        </a:rPr>
                        <a:t>Kunjungan</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875" b="1">
                          <a:solidFill>
                            <a:srgbClr val="FFFFFF"/>
                          </a:solidFill>
                          <a:latin typeface="DejaVu Sans"/>
                          <a:ea typeface="DejaVu Sans"/>
                          <a:cs typeface="DejaVu Sans"/>
                        </a:rPr>
                        <a:t>Pasien</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875" b="1">
                          <a:solidFill>
                            <a:srgbClr val="FFFFFF"/>
                          </a:solidFill>
                          <a:latin typeface="DejaVu Sans"/>
                          <a:ea typeface="DejaVu Sans"/>
                          <a:cs typeface="DejaVu Sans"/>
                        </a:rPr>
                        <a:t>Positif</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extLst>
                  <a:ext uri="{0D108BD9-81ED-4DB2-BD59-A6C34878D82A}">
                    <a16:rowId xmlns:a16="http://schemas.microsoft.com/office/drawing/2014/main" val="10000"/>
                  </a:ext>
                </a:extLst>
              </a:tr>
              <a:tr h="690563">
                <a:tc>
                  <a:txBody>
                    <a:bodyPr/>
                    <a:lstStyle/>
                    <a:p>
                      <a:r>
                        <a:rPr sz="1875" b="0">
                          <a:solidFill>
                            <a:srgbClr val="15364A"/>
                          </a:solidFill>
                          <a:latin typeface="DejaVu Sans"/>
                          <a:ea typeface="DejaVu Sans"/>
                          <a:cs typeface="DejaVu Sans"/>
                        </a:rPr>
                        <a:t>Train</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60.878</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42.910</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11,11%</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extLst>
                  <a:ext uri="{0D108BD9-81ED-4DB2-BD59-A6C34878D82A}">
                    <a16:rowId xmlns:a16="http://schemas.microsoft.com/office/drawing/2014/main" val="10001"/>
                  </a:ext>
                </a:extLst>
              </a:tr>
              <a:tr h="690563">
                <a:tc>
                  <a:txBody>
                    <a:bodyPr/>
                    <a:lstStyle/>
                    <a:p>
                      <a:r>
                        <a:rPr sz="1875" b="0">
                          <a:solidFill>
                            <a:srgbClr val="15364A"/>
                          </a:solidFill>
                          <a:latin typeface="DejaVu Sans"/>
                          <a:ea typeface="DejaVu Sans"/>
                          <a:cs typeface="DejaVu Sans"/>
                        </a:rPr>
                        <a:t>Validation</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75" b="0">
                          <a:solidFill>
                            <a:srgbClr val="15364A"/>
                          </a:solidFill>
                          <a:latin typeface="DejaVu Sans"/>
                          <a:ea typeface="DejaVu Sans"/>
                          <a:cs typeface="DejaVu Sans"/>
                        </a:rPr>
                        <a:t>20.400</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75" b="0">
                          <a:solidFill>
                            <a:srgbClr val="15364A"/>
                          </a:solidFill>
                          <a:latin typeface="DejaVu Sans"/>
                          <a:ea typeface="DejaVu Sans"/>
                          <a:cs typeface="DejaVu Sans"/>
                        </a:rPr>
                        <a:t>14.304</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75" b="0">
                          <a:solidFill>
                            <a:srgbClr val="15364A"/>
                          </a:solidFill>
                          <a:latin typeface="DejaVu Sans"/>
                          <a:ea typeface="DejaVu Sans"/>
                          <a:cs typeface="DejaVu Sans"/>
                        </a:rPr>
                        <a:t>10,92%</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extLst>
                  <a:ext uri="{0D108BD9-81ED-4DB2-BD59-A6C34878D82A}">
                    <a16:rowId xmlns:a16="http://schemas.microsoft.com/office/drawing/2014/main" val="10002"/>
                  </a:ext>
                </a:extLst>
              </a:tr>
              <a:tr h="690563">
                <a:tc>
                  <a:txBody>
                    <a:bodyPr/>
                    <a:lstStyle/>
                    <a:p>
                      <a:r>
                        <a:rPr sz="1875" b="0">
                          <a:solidFill>
                            <a:srgbClr val="15364A"/>
                          </a:solidFill>
                          <a:latin typeface="DejaVu Sans"/>
                          <a:ea typeface="DejaVu Sans"/>
                          <a:cs typeface="DejaVu Sans"/>
                        </a:rPr>
                        <a:t>Test</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20.488</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14.304</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11,55%</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E839BCC8-F916-4A83-9DE4-26F9046C1844}"/>
              </a:ext>
            </a:extLst>
          </p:cNvPr>
          <p:cNvSpPr>
            <a:spLocks noGrp="1"/>
          </p:cNvSpPr>
          <p:nvPr/>
        </p:nvSpPr>
        <p:spPr>
          <a:xfrm>
            <a:off x="609600" y="5000625"/>
            <a:ext cx="5238750" cy="904875"/>
          </a:xfrm>
          <a:prstGeom prst="rect">
            <a:avLst/>
          </a:prstGeom>
          <a:noFill/>
          <a:ln w="0">
            <a:noFill/>
            <a:prstDash val="solid"/>
          </a:ln>
        </p:spPr>
        <p:txBody>
          <a:bodyPr lIns="0" tIns="0" rIns="0" bIns="0" anchor="t"/>
          <a:lstStyle>
            <a:defPPr>
              <a:defRPr sz="2100" b="1">
                <a:solidFill>
                  <a:srgbClr val="087F8C"/>
                </a:solidFill>
                <a:latin typeface="DejaVu Sans"/>
                <a:ea typeface="DejaVu Sans"/>
                <a:cs typeface="DejaVu Sans"/>
              </a:defRPr>
            </a:defPPr>
            <a:lvl1pPr>
              <a:defRPr sz="2100" b="1">
                <a:solidFill>
                  <a:srgbClr val="087F8C"/>
                </a:solidFill>
                <a:latin typeface="DejaVu Sans"/>
                <a:ea typeface="DejaVu Sans"/>
                <a:cs typeface="DejaVu Sans"/>
              </a:defRPr>
            </a:lvl1pPr>
            <a:lvl2pPr>
              <a:defRPr sz="2100" b="1">
                <a:solidFill>
                  <a:srgbClr val="087F8C"/>
                </a:solidFill>
                <a:latin typeface="DejaVu Sans"/>
                <a:ea typeface="DejaVu Sans"/>
                <a:cs typeface="DejaVu Sans"/>
              </a:defRPr>
            </a:lvl2pPr>
            <a:lvl3pPr>
              <a:defRPr sz="2100" b="1">
                <a:solidFill>
                  <a:srgbClr val="087F8C"/>
                </a:solidFill>
                <a:latin typeface="DejaVu Sans"/>
                <a:ea typeface="DejaVu Sans"/>
                <a:cs typeface="DejaVu Sans"/>
              </a:defRPr>
            </a:lvl3pPr>
            <a:lvl4pPr>
              <a:defRPr sz="2100" b="1">
                <a:solidFill>
                  <a:srgbClr val="087F8C"/>
                </a:solidFill>
                <a:latin typeface="DejaVu Sans"/>
                <a:ea typeface="DejaVu Sans"/>
                <a:cs typeface="DejaVu Sans"/>
              </a:defRPr>
            </a:lvl4pPr>
            <a:lvl5pPr>
              <a:defRPr sz="2100" b="1">
                <a:solidFill>
                  <a:srgbClr val="087F8C"/>
                </a:solidFill>
                <a:latin typeface="DejaVu Sans"/>
                <a:ea typeface="DejaVu Sans"/>
                <a:cs typeface="DejaVu Sans"/>
              </a:defRPr>
            </a:lvl5pPr>
            <a:lvl6pPr>
              <a:defRPr sz="2100" b="1">
                <a:solidFill>
                  <a:srgbClr val="087F8C"/>
                </a:solidFill>
                <a:latin typeface="DejaVu Sans"/>
                <a:ea typeface="DejaVu Sans"/>
                <a:cs typeface="DejaVu Sans"/>
              </a:defRPr>
            </a:lvl6pPr>
            <a:lvl7pPr>
              <a:defRPr sz="2100" b="1">
                <a:solidFill>
                  <a:srgbClr val="087F8C"/>
                </a:solidFill>
                <a:latin typeface="DejaVu Sans"/>
                <a:ea typeface="DejaVu Sans"/>
                <a:cs typeface="DejaVu Sans"/>
              </a:defRPr>
            </a:lvl7pPr>
            <a:lvl8pPr>
              <a:defRPr sz="2100" b="1">
                <a:solidFill>
                  <a:srgbClr val="087F8C"/>
                </a:solidFill>
                <a:latin typeface="DejaVu Sans"/>
                <a:ea typeface="DejaVu Sans"/>
                <a:cs typeface="DejaVu Sans"/>
              </a:defRPr>
            </a:lvl8pPr>
            <a:lvl9pPr>
              <a:defRPr sz="2100" b="1">
                <a:solidFill>
                  <a:srgbClr val="087F8C"/>
                </a:solidFill>
                <a:latin typeface="DejaVu Sans"/>
                <a:ea typeface="DejaVu Sans"/>
                <a:cs typeface="DejaVu Sans"/>
              </a:defRPr>
            </a:lvl9pPr>
          </a:lstStyle>
          <a:p>
            <a:pPr>
              <a:defRPr sz="2100" b="1">
                <a:solidFill>
                  <a:srgbClr val="087F8C"/>
                </a:solidFill>
                <a:latin typeface="DejaVu Sans"/>
                <a:ea typeface="DejaVu Sans"/>
                <a:cs typeface="DejaVu Sans"/>
              </a:defRPr>
            </a:pPr>
            <a:r>
              <a:rPr sz="2100" b="1">
                <a:solidFill>
                  <a:srgbClr val="087F8C"/>
                </a:solidFill>
                <a:latin typeface="DejaVu Sans"/>
                <a:ea typeface="DejaVu Sans"/>
                <a:cs typeface="DejaVu Sans"/>
              </a:rPr>
              <a:t>Pemilihan strategi: validation</a:t>
            </a:r>
          </a:p>
          <a:p>
            <a:pPr>
              <a:defRPr sz="2100" b="1">
                <a:solidFill>
                  <a:srgbClr val="087F8C"/>
                </a:solidFill>
                <a:latin typeface="DejaVu Sans"/>
                <a:ea typeface="DejaVu Sans"/>
                <a:cs typeface="DejaVu Sans"/>
              </a:defRPr>
            </a:pPr>
            <a:r>
              <a:rPr sz="2100" b="1">
                <a:solidFill>
                  <a:srgbClr val="087F8C"/>
                </a:solidFill>
                <a:latin typeface="DejaVu Sans"/>
                <a:ea typeface="DejaVu Sans"/>
                <a:cs typeface="DejaVu Sans"/>
              </a:rPr>
              <a:t>Evaluasi akhir: test yang sama</a:t>
            </a:r>
          </a:p>
        </p:txBody>
      </p:sp>
      <p:sp>
        <p:nvSpPr>
          <p:cNvPr id="5" name="Rectangle 4">
            <a:extLst>
              <a:ext uri="{FF2B5EF4-FFF2-40B4-BE49-F238E27FC236}">
                <a16:creationId xmlns:a16="http://schemas.microsoft.com/office/drawing/2014/main" id="{4D87FBEE-EC0B-4F98-BB4E-AE56F988F2E4}"/>
              </a:ext>
            </a:extLst>
          </p:cNvPr>
          <p:cNvSpPr>
            <a:spLocks noGrp="1"/>
          </p:cNvSpPr>
          <p:nvPr/>
        </p:nvSpPr>
        <p:spPr>
          <a:xfrm>
            <a:off x="6477000" y="5000625"/>
            <a:ext cx="4857750" cy="904875"/>
          </a:xfrm>
          <a:prstGeom prst="rect">
            <a:avLst/>
          </a:prstGeom>
          <a:noFill/>
          <a:ln w="0">
            <a:noFill/>
            <a:prstDash val="solid"/>
          </a:ln>
        </p:spPr>
        <p:txBody>
          <a:bodyPr lIns="0" tIns="0" rIns="0" bIns="0" anchor="t"/>
          <a:lstStyle>
            <a:defPPr>
              <a:defRPr sz="2100" b="0">
                <a:solidFill>
                  <a:srgbClr val="52636F"/>
                </a:solidFill>
                <a:latin typeface="DejaVu Sans"/>
                <a:ea typeface="DejaVu Sans"/>
                <a:cs typeface="DejaVu Sans"/>
              </a:defRPr>
            </a:defPPr>
            <a:lvl1pPr>
              <a:defRPr sz="2100" b="0">
                <a:solidFill>
                  <a:srgbClr val="52636F"/>
                </a:solidFill>
                <a:latin typeface="DejaVu Sans"/>
                <a:ea typeface="DejaVu Sans"/>
                <a:cs typeface="DejaVu Sans"/>
              </a:defRPr>
            </a:lvl1pPr>
            <a:lvl2pPr>
              <a:defRPr sz="2100" b="0">
                <a:solidFill>
                  <a:srgbClr val="52636F"/>
                </a:solidFill>
                <a:latin typeface="DejaVu Sans"/>
                <a:ea typeface="DejaVu Sans"/>
                <a:cs typeface="DejaVu Sans"/>
              </a:defRPr>
            </a:lvl2pPr>
            <a:lvl3pPr>
              <a:defRPr sz="2100" b="0">
                <a:solidFill>
                  <a:srgbClr val="52636F"/>
                </a:solidFill>
                <a:latin typeface="DejaVu Sans"/>
                <a:ea typeface="DejaVu Sans"/>
                <a:cs typeface="DejaVu Sans"/>
              </a:defRPr>
            </a:lvl3pPr>
            <a:lvl4pPr>
              <a:defRPr sz="2100" b="0">
                <a:solidFill>
                  <a:srgbClr val="52636F"/>
                </a:solidFill>
                <a:latin typeface="DejaVu Sans"/>
                <a:ea typeface="DejaVu Sans"/>
                <a:cs typeface="DejaVu Sans"/>
              </a:defRPr>
            </a:lvl4pPr>
            <a:lvl5pPr>
              <a:defRPr sz="2100" b="0">
                <a:solidFill>
                  <a:srgbClr val="52636F"/>
                </a:solidFill>
                <a:latin typeface="DejaVu Sans"/>
                <a:ea typeface="DejaVu Sans"/>
                <a:cs typeface="DejaVu Sans"/>
              </a:defRPr>
            </a:lvl5pPr>
            <a:lvl6pPr>
              <a:defRPr sz="2100" b="0">
                <a:solidFill>
                  <a:srgbClr val="52636F"/>
                </a:solidFill>
                <a:latin typeface="DejaVu Sans"/>
                <a:ea typeface="DejaVu Sans"/>
                <a:cs typeface="DejaVu Sans"/>
              </a:defRPr>
            </a:lvl6pPr>
            <a:lvl7pPr>
              <a:defRPr sz="2100" b="0">
                <a:solidFill>
                  <a:srgbClr val="52636F"/>
                </a:solidFill>
                <a:latin typeface="DejaVu Sans"/>
                <a:ea typeface="DejaVu Sans"/>
                <a:cs typeface="DejaVu Sans"/>
              </a:defRPr>
            </a:lvl7pPr>
            <a:lvl8pPr>
              <a:defRPr sz="2100" b="0">
                <a:solidFill>
                  <a:srgbClr val="52636F"/>
                </a:solidFill>
                <a:latin typeface="DejaVu Sans"/>
                <a:ea typeface="DejaVu Sans"/>
                <a:cs typeface="DejaVu Sans"/>
              </a:defRPr>
            </a:lvl8pPr>
            <a:lvl9pPr>
              <a:defRPr sz="2100" b="0">
                <a:solidFill>
                  <a:srgbClr val="52636F"/>
                </a:solidFill>
                <a:latin typeface="DejaVu Sans"/>
                <a:ea typeface="DejaVu Sans"/>
                <a:cs typeface="DejaVu Sans"/>
              </a:defRPr>
            </a:lvl9pPr>
          </a:lstStyle>
          <a:p>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EDA: train saja</a:t>
            </a:r>
          </a:p>
          <a:p>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Seed pembagian 42/43</a:t>
            </a:r>
          </a:p>
        </p:txBody>
      </p:sp>
    </p:spTree>
    <p:extLst>
      <p:ext uri="{BB962C8B-B14F-4D97-AF65-F5344CB8AC3E}">
        <p14:creationId xmlns:p14="http://schemas.microsoft.com/office/powerpoint/2010/main" val="1393103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8A241E-EEA1-4D2A-8E09-99172912A542}"/>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Audit menemukan kehilangan yang tinggi</a:t>
            </a:r>
          </a:p>
        </p:txBody>
      </p:sp>
      <p:sp>
        <p:nvSpPr>
          <p:cNvPr id="2" name="Rectangle 1">
            <a:extLst>
              <a:ext uri="{FF2B5EF4-FFF2-40B4-BE49-F238E27FC236}">
                <a16:creationId xmlns:a16="http://schemas.microsoft.com/office/drawing/2014/main" id="{83EF2736-24F4-43AB-9DD3-593AE23B947B}"/>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4.  Bagus Hardiansyah</a:t>
            </a:r>
          </a:p>
        </p:txBody>
      </p:sp>
      <p:graphicFrame>
        <p:nvGraphicFramePr>
          <p:cNvPr id="3" name="Chart">
            <a:extLst>
              <a:ext uri="{FF2B5EF4-FFF2-40B4-BE49-F238E27FC236}">
                <a16:creationId xmlns:a16="http://schemas.microsoft.com/office/drawing/2014/main" id="{ACD49CC2-76F3-4A90-B559-8C91FF9F1E2D}"/>
              </a:ext>
            </a:extLst>
          </p:cNvPr>
          <p:cNvGraphicFramePr/>
          <p:nvPr/>
        </p:nvGraphicFramePr>
        <p:xfrm>
          <a:off x="609600" y="1809750"/>
          <a:ext cx="6858000"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69A78874-CF11-497E-B8CE-8770ECF0F173}"/>
              </a:ext>
            </a:extLst>
          </p:cNvPr>
          <p:cNvSpPr>
            <a:spLocks noGrp="1"/>
          </p:cNvSpPr>
          <p:nvPr/>
        </p:nvSpPr>
        <p:spPr>
          <a:xfrm>
            <a:off x="7905750" y="1905000"/>
            <a:ext cx="3619500" cy="714375"/>
          </a:xfrm>
          <a:prstGeom prst="rect">
            <a:avLst/>
          </a:prstGeom>
          <a:noFill/>
          <a:ln w="0">
            <a:noFill/>
            <a:prstDash val="solid"/>
          </a:ln>
        </p:spPr>
        <p:txBody>
          <a:bodyPr lIns="0" tIns="0" rIns="0" bIns="0" anchor="t"/>
          <a:lstStyle>
            <a:defPPr>
              <a:defRPr sz="3150" b="1">
                <a:solidFill>
                  <a:srgbClr val="15364A"/>
                </a:solidFill>
                <a:latin typeface="DejaVu Sans"/>
                <a:ea typeface="DejaVu Sans"/>
                <a:cs typeface="DejaVu Sans"/>
              </a:defRPr>
            </a:defPPr>
            <a:lvl1pPr>
              <a:defRPr sz="3150" b="1">
                <a:solidFill>
                  <a:srgbClr val="15364A"/>
                </a:solidFill>
                <a:latin typeface="DejaVu Sans"/>
                <a:ea typeface="DejaVu Sans"/>
                <a:cs typeface="DejaVu Sans"/>
              </a:defRPr>
            </a:lvl1pPr>
            <a:lvl2pPr>
              <a:defRPr sz="3150" b="1">
                <a:solidFill>
                  <a:srgbClr val="15364A"/>
                </a:solidFill>
                <a:latin typeface="DejaVu Sans"/>
                <a:ea typeface="DejaVu Sans"/>
                <a:cs typeface="DejaVu Sans"/>
              </a:defRPr>
            </a:lvl2pPr>
            <a:lvl3pPr>
              <a:defRPr sz="3150" b="1">
                <a:solidFill>
                  <a:srgbClr val="15364A"/>
                </a:solidFill>
                <a:latin typeface="DejaVu Sans"/>
                <a:ea typeface="DejaVu Sans"/>
                <a:cs typeface="DejaVu Sans"/>
              </a:defRPr>
            </a:lvl3pPr>
            <a:lvl4pPr>
              <a:defRPr sz="3150" b="1">
                <a:solidFill>
                  <a:srgbClr val="15364A"/>
                </a:solidFill>
                <a:latin typeface="DejaVu Sans"/>
                <a:ea typeface="DejaVu Sans"/>
                <a:cs typeface="DejaVu Sans"/>
              </a:defRPr>
            </a:lvl4pPr>
            <a:lvl5pPr>
              <a:defRPr sz="3150" b="1">
                <a:solidFill>
                  <a:srgbClr val="15364A"/>
                </a:solidFill>
                <a:latin typeface="DejaVu Sans"/>
                <a:ea typeface="DejaVu Sans"/>
                <a:cs typeface="DejaVu Sans"/>
              </a:defRPr>
            </a:lvl5pPr>
            <a:lvl6pPr>
              <a:defRPr sz="3150" b="1">
                <a:solidFill>
                  <a:srgbClr val="15364A"/>
                </a:solidFill>
                <a:latin typeface="DejaVu Sans"/>
                <a:ea typeface="DejaVu Sans"/>
                <a:cs typeface="DejaVu Sans"/>
              </a:defRPr>
            </a:lvl6pPr>
            <a:lvl7pPr>
              <a:defRPr sz="3150" b="1">
                <a:solidFill>
                  <a:srgbClr val="15364A"/>
                </a:solidFill>
                <a:latin typeface="DejaVu Sans"/>
                <a:ea typeface="DejaVu Sans"/>
                <a:cs typeface="DejaVu Sans"/>
              </a:defRPr>
            </a:lvl7pPr>
            <a:lvl8pPr>
              <a:defRPr sz="3150" b="1">
                <a:solidFill>
                  <a:srgbClr val="15364A"/>
                </a:solidFill>
                <a:latin typeface="DejaVu Sans"/>
                <a:ea typeface="DejaVu Sans"/>
                <a:cs typeface="DejaVu Sans"/>
              </a:defRPr>
            </a:lvl8pPr>
            <a:lvl9pPr>
              <a:defRPr sz="3150" b="1">
                <a:solidFill>
                  <a:srgbClr val="15364A"/>
                </a:solidFill>
                <a:latin typeface="DejaVu Sans"/>
                <a:ea typeface="DejaVu Sans"/>
                <a:cs typeface="DejaVu Sans"/>
              </a:defRPr>
            </a:lvl9pPr>
          </a:lstStyle>
          <a:p>
            <a:pPr>
              <a:defRPr sz="3150" b="1">
                <a:solidFill>
                  <a:srgbClr val="15364A"/>
                </a:solidFill>
                <a:latin typeface="DejaVu Sans"/>
                <a:ea typeface="DejaVu Sans"/>
                <a:cs typeface="DejaVu Sans"/>
              </a:defRPr>
            </a:pPr>
            <a:r>
              <a:rPr sz="3150" b="1">
                <a:solidFill>
                  <a:srgbClr val="15364A"/>
                </a:solidFill>
                <a:latin typeface="DejaVu Sans"/>
                <a:ea typeface="DejaVu Sans"/>
                <a:cs typeface="DejaVu Sans"/>
              </a:rPr>
              <a:t>0 duplikat</a:t>
            </a:r>
          </a:p>
        </p:txBody>
      </p:sp>
      <p:sp>
        <p:nvSpPr>
          <p:cNvPr id="5" name="Rectangle 4">
            <a:extLst>
              <a:ext uri="{FF2B5EF4-FFF2-40B4-BE49-F238E27FC236}">
                <a16:creationId xmlns:a16="http://schemas.microsoft.com/office/drawing/2014/main" id="{78D25E15-E110-4FB6-B4A8-6891C38F2B53}"/>
              </a:ext>
            </a:extLst>
          </p:cNvPr>
          <p:cNvSpPr>
            <a:spLocks noGrp="1"/>
          </p:cNvSpPr>
          <p:nvPr/>
        </p:nvSpPr>
        <p:spPr>
          <a:xfrm>
            <a:off x="7905750" y="2905125"/>
            <a:ext cx="3619500" cy="1047750"/>
          </a:xfrm>
          <a:prstGeom prst="rect">
            <a:avLst/>
          </a:prstGeom>
          <a:noFill/>
          <a:ln w="0">
            <a:noFill/>
            <a:prstDash val="solid"/>
          </a:ln>
        </p:spPr>
        <p:txBody>
          <a:bodyPr lIns="0" tIns="0" rIns="0" bIns="0" anchor="t"/>
          <a:lstStyle>
            <a:defPPr>
              <a:defRPr sz="2175" b="0">
                <a:solidFill>
                  <a:srgbClr val="52636F"/>
                </a:solidFill>
                <a:latin typeface="DejaVu Sans"/>
                <a:ea typeface="DejaVu Sans"/>
                <a:cs typeface="DejaVu Sans"/>
              </a:defRPr>
            </a:defPPr>
            <a:lvl1pPr>
              <a:defRPr sz="2175" b="0">
                <a:solidFill>
                  <a:srgbClr val="52636F"/>
                </a:solidFill>
                <a:latin typeface="DejaVu Sans"/>
                <a:ea typeface="DejaVu Sans"/>
                <a:cs typeface="DejaVu Sans"/>
              </a:defRPr>
            </a:lvl1pPr>
            <a:lvl2pPr>
              <a:defRPr sz="2175" b="0">
                <a:solidFill>
                  <a:srgbClr val="52636F"/>
                </a:solidFill>
                <a:latin typeface="DejaVu Sans"/>
                <a:ea typeface="DejaVu Sans"/>
                <a:cs typeface="DejaVu Sans"/>
              </a:defRPr>
            </a:lvl2pPr>
            <a:lvl3pPr>
              <a:defRPr sz="2175" b="0">
                <a:solidFill>
                  <a:srgbClr val="52636F"/>
                </a:solidFill>
                <a:latin typeface="DejaVu Sans"/>
                <a:ea typeface="DejaVu Sans"/>
                <a:cs typeface="DejaVu Sans"/>
              </a:defRPr>
            </a:lvl3pPr>
            <a:lvl4pPr>
              <a:defRPr sz="2175" b="0">
                <a:solidFill>
                  <a:srgbClr val="52636F"/>
                </a:solidFill>
                <a:latin typeface="DejaVu Sans"/>
                <a:ea typeface="DejaVu Sans"/>
                <a:cs typeface="DejaVu Sans"/>
              </a:defRPr>
            </a:lvl4pPr>
            <a:lvl5pPr>
              <a:defRPr sz="2175" b="0">
                <a:solidFill>
                  <a:srgbClr val="52636F"/>
                </a:solidFill>
                <a:latin typeface="DejaVu Sans"/>
                <a:ea typeface="DejaVu Sans"/>
                <a:cs typeface="DejaVu Sans"/>
              </a:defRPr>
            </a:lvl5pPr>
            <a:lvl6pPr>
              <a:defRPr sz="2175" b="0">
                <a:solidFill>
                  <a:srgbClr val="52636F"/>
                </a:solidFill>
                <a:latin typeface="DejaVu Sans"/>
                <a:ea typeface="DejaVu Sans"/>
                <a:cs typeface="DejaVu Sans"/>
              </a:defRPr>
            </a:lvl6pPr>
            <a:lvl7pPr>
              <a:defRPr sz="2175" b="0">
                <a:solidFill>
                  <a:srgbClr val="52636F"/>
                </a:solidFill>
                <a:latin typeface="DejaVu Sans"/>
                <a:ea typeface="DejaVu Sans"/>
                <a:cs typeface="DejaVu Sans"/>
              </a:defRPr>
            </a:lvl7pPr>
            <a:lvl8pPr>
              <a:defRPr sz="2175" b="0">
                <a:solidFill>
                  <a:srgbClr val="52636F"/>
                </a:solidFill>
                <a:latin typeface="DejaVu Sans"/>
                <a:ea typeface="DejaVu Sans"/>
                <a:cs typeface="DejaVu Sans"/>
              </a:defRPr>
            </a:lvl8pPr>
            <a:lvl9pPr>
              <a:defRPr sz="2175" b="0">
                <a:solidFill>
                  <a:srgbClr val="52636F"/>
                </a:solidFill>
                <a:latin typeface="DejaVu Sans"/>
                <a:ea typeface="DejaVu Sans"/>
                <a:cs typeface="DejaVu Sans"/>
              </a:defRPr>
            </a:lvl9pPr>
          </a:lstStyle>
          <a:p>
            <a:pPr>
              <a:defRPr sz="2175" b="0">
                <a:solidFill>
                  <a:srgbClr val="52636F"/>
                </a:solidFill>
                <a:latin typeface="DejaVu Sans"/>
                <a:ea typeface="DejaVu Sans"/>
                <a:cs typeface="DejaVu Sans"/>
              </a:defRPr>
            </a:pPr>
            <a:r>
              <a:rPr sz="2175" b="0">
                <a:solidFill>
                  <a:srgbClr val="52636F"/>
                </a:solidFill>
                <a:latin typeface="DejaVu Sans"/>
                <a:ea typeface="DejaVu Sans"/>
                <a:cs typeface="DejaVu Sans"/>
              </a:rPr>
              <a:t>16.773 pasien</a:t>
            </a:r>
          </a:p>
          <a:p>
            <a:pPr>
              <a:defRPr sz="2175" b="0">
                <a:solidFill>
                  <a:srgbClr val="52636F"/>
                </a:solidFill>
                <a:latin typeface="DejaVu Sans"/>
                <a:ea typeface="DejaVu Sans"/>
                <a:cs typeface="DejaVu Sans"/>
              </a:defRPr>
            </a:pPr>
            <a:r>
              <a:rPr sz="2175" b="0">
                <a:solidFill>
                  <a:srgbClr val="52636F"/>
                </a:solidFill>
                <a:latin typeface="DejaVu Sans"/>
                <a:ea typeface="DejaVu Sans"/>
                <a:cs typeface="DejaVu Sans"/>
              </a:rPr>
              <a:t>memiliki kunjungan berulang</a:t>
            </a:r>
          </a:p>
        </p:txBody>
      </p:sp>
      <p:sp>
        <p:nvSpPr>
          <p:cNvPr id="6" name="Rectangle 5">
            <a:extLst>
              <a:ext uri="{FF2B5EF4-FFF2-40B4-BE49-F238E27FC236}">
                <a16:creationId xmlns:a16="http://schemas.microsoft.com/office/drawing/2014/main" id="{8564B80C-73E1-49F8-994C-422FAB836E0C}"/>
              </a:ext>
            </a:extLst>
          </p:cNvPr>
          <p:cNvSpPr>
            <a:spLocks noGrp="1"/>
          </p:cNvSpPr>
          <p:nvPr/>
        </p:nvSpPr>
        <p:spPr>
          <a:xfrm>
            <a:off x="7905750" y="4524375"/>
            <a:ext cx="3619500" cy="1143000"/>
          </a:xfrm>
          <a:prstGeom prst="rect">
            <a:avLst/>
          </a:prstGeom>
          <a:noFill/>
          <a:ln w="0">
            <a:noFill/>
            <a:prstDash val="solid"/>
          </a:ln>
        </p:spPr>
        <p:txBody>
          <a:bodyPr lIns="0" tIns="0" rIns="0" bIns="0" anchor="t"/>
          <a:lstStyle>
            <a:defPPr>
              <a:defRPr sz="2100" b="1">
                <a:solidFill>
                  <a:srgbClr val="C56A29"/>
                </a:solidFill>
                <a:latin typeface="DejaVu Sans"/>
                <a:ea typeface="DejaVu Sans"/>
                <a:cs typeface="DejaVu Sans"/>
              </a:defRPr>
            </a:defPPr>
            <a:lvl1pPr>
              <a:defRPr sz="2100" b="1">
                <a:solidFill>
                  <a:srgbClr val="C56A29"/>
                </a:solidFill>
                <a:latin typeface="DejaVu Sans"/>
                <a:ea typeface="DejaVu Sans"/>
                <a:cs typeface="DejaVu Sans"/>
              </a:defRPr>
            </a:lvl1pPr>
            <a:lvl2pPr>
              <a:defRPr sz="2100" b="1">
                <a:solidFill>
                  <a:srgbClr val="C56A29"/>
                </a:solidFill>
                <a:latin typeface="DejaVu Sans"/>
                <a:ea typeface="DejaVu Sans"/>
                <a:cs typeface="DejaVu Sans"/>
              </a:defRPr>
            </a:lvl2pPr>
            <a:lvl3pPr>
              <a:defRPr sz="2100" b="1">
                <a:solidFill>
                  <a:srgbClr val="C56A29"/>
                </a:solidFill>
                <a:latin typeface="DejaVu Sans"/>
                <a:ea typeface="DejaVu Sans"/>
                <a:cs typeface="DejaVu Sans"/>
              </a:defRPr>
            </a:lvl3pPr>
            <a:lvl4pPr>
              <a:defRPr sz="2100" b="1">
                <a:solidFill>
                  <a:srgbClr val="C56A29"/>
                </a:solidFill>
                <a:latin typeface="DejaVu Sans"/>
                <a:ea typeface="DejaVu Sans"/>
                <a:cs typeface="DejaVu Sans"/>
              </a:defRPr>
            </a:lvl4pPr>
            <a:lvl5pPr>
              <a:defRPr sz="2100" b="1">
                <a:solidFill>
                  <a:srgbClr val="C56A29"/>
                </a:solidFill>
                <a:latin typeface="DejaVu Sans"/>
                <a:ea typeface="DejaVu Sans"/>
                <a:cs typeface="DejaVu Sans"/>
              </a:defRPr>
            </a:lvl5pPr>
            <a:lvl6pPr>
              <a:defRPr sz="2100" b="1">
                <a:solidFill>
                  <a:srgbClr val="C56A29"/>
                </a:solidFill>
                <a:latin typeface="DejaVu Sans"/>
                <a:ea typeface="DejaVu Sans"/>
                <a:cs typeface="DejaVu Sans"/>
              </a:defRPr>
            </a:lvl6pPr>
            <a:lvl7pPr>
              <a:defRPr sz="2100" b="1">
                <a:solidFill>
                  <a:srgbClr val="C56A29"/>
                </a:solidFill>
                <a:latin typeface="DejaVu Sans"/>
                <a:ea typeface="DejaVu Sans"/>
                <a:cs typeface="DejaVu Sans"/>
              </a:defRPr>
            </a:lvl7pPr>
            <a:lvl8pPr>
              <a:defRPr sz="2100" b="1">
                <a:solidFill>
                  <a:srgbClr val="C56A29"/>
                </a:solidFill>
                <a:latin typeface="DejaVu Sans"/>
                <a:ea typeface="DejaVu Sans"/>
                <a:cs typeface="DejaVu Sans"/>
              </a:defRPr>
            </a:lvl8pPr>
            <a:lvl9pPr>
              <a:defRPr sz="2100" b="1">
                <a:solidFill>
                  <a:srgbClr val="C56A29"/>
                </a:solidFill>
                <a:latin typeface="DejaVu Sans"/>
                <a:ea typeface="DejaVu Sans"/>
                <a:cs typeface="DejaVu Sans"/>
              </a:defRPr>
            </a:lvl9pPr>
          </a:lstStyle>
          <a:p>
            <a:pPr>
              <a:defRPr sz="2100" b="1">
                <a:solidFill>
                  <a:srgbClr val="C56A29"/>
                </a:solidFill>
                <a:latin typeface="DejaVu Sans"/>
                <a:ea typeface="DejaVu Sans"/>
                <a:cs typeface="DejaVu Sans"/>
              </a:defRPr>
            </a:pPr>
            <a:r>
              <a:rPr sz="2100" b="1">
                <a:solidFill>
                  <a:srgbClr val="C56A29"/>
                </a:solidFill>
                <a:latin typeface="DejaVu Sans"/>
                <a:ea typeface="DejaVu Sans"/>
                <a:cs typeface="DejaVu Sans"/>
              </a:rPr>
              <a:t>Tiga fitur dengan kehilangan</a:t>
            </a:r>
          </a:p>
          <a:p>
            <a:pPr>
              <a:defRPr sz="2100" b="1">
                <a:solidFill>
                  <a:srgbClr val="C56A29"/>
                </a:solidFill>
                <a:latin typeface="DejaVu Sans"/>
                <a:ea typeface="DejaVu Sans"/>
                <a:cs typeface="DejaVu Sans"/>
              </a:defRPr>
            </a:pPr>
            <a:r>
              <a:rPr sz="2100" b="1">
                <a:solidFill>
                  <a:srgbClr val="C56A29"/>
                </a:solidFill>
                <a:latin typeface="DejaVu Sans"/>
                <a:ea typeface="DejaVu Sans"/>
                <a:cs typeface="DejaVu Sans"/>
              </a:rPr>
              <a:t>tinggi keluar dari pipeline penuh</a:t>
            </a:r>
          </a:p>
        </p:txBody>
      </p:sp>
    </p:spTree>
    <p:extLst>
      <p:ext uri="{BB962C8B-B14F-4D97-AF65-F5344CB8AC3E}">
        <p14:creationId xmlns:p14="http://schemas.microsoft.com/office/powerpoint/2010/main" val="1335012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DF704CB-53A9-41A1-B120-A40E6170EE07}"/>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Integrasi kamus menjaga jumlah kunjungan</a:t>
            </a:r>
          </a:p>
        </p:txBody>
      </p:sp>
      <p:sp>
        <p:nvSpPr>
          <p:cNvPr id="2" name="Rectangle 1">
            <a:extLst>
              <a:ext uri="{FF2B5EF4-FFF2-40B4-BE49-F238E27FC236}">
                <a16:creationId xmlns:a16="http://schemas.microsoft.com/office/drawing/2014/main" id="{7CAAFB3B-7265-4E2C-B256-F8F34575E600}"/>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5.  Bagus Hardiansyah</a:t>
            </a:r>
          </a:p>
        </p:txBody>
      </p:sp>
      <p:graphicFrame>
        <p:nvGraphicFramePr>
          <p:cNvPr id="3" name="Table 2">
            <a:extLst>
              <a:ext uri="{FF2B5EF4-FFF2-40B4-BE49-F238E27FC236}">
                <a16:creationId xmlns:a16="http://schemas.microsoft.com/office/drawing/2014/main" id="{A53CC71B-0282-4D1A-9BA0-E4D5D6D1C741}"/>
              </a:ext>
            </a:extLst>
          </p:cNvPr>
          <p:cNvGraphicFramePr/>
          <p:nvPr/>
        </p:nvGraphicFramePr>
        <p:xfrm>
          <a:off x="609600" y="1714500"/>
          <a:ext cx="10972800" cy="2714624"/>
        </p:xfrm>
        <a:graphic>
          <a:graphicData uri="http://schemas.openxmlformats.org/drawingml/2006/table">
            <a:tbl>
              <a:tblPr/>
              <a:tblGrid>
                <a:gridCol w="57150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tblGrid>
              <a:tr h="678656">
                <a:tc>
                  <a:txBody>
                    <a:bodyPr/>
                    <a:lstStyle/>
                    <a:p>
                      <a:r>
                        <a:rPr sz="1875" b="1">
                          <a:solidFill>
                            <a:srgbClr val="FFFFFF"/>
                          </a:solidFill>
                          <a:latin typeface="DejaVu Sans"/>
                          <a:ea typeface="DejaVu Sans"/>
                          <a:cs typeface="DejaVu Sans"/>
                        </a:rPr>
                        <a:t>Kunci integrasi</a:t>
                      </a:r>
                    </a:p>
                  </a:txBody>
                  <a:tcPr anchor="ctr">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875" b="1">
                          <a:solidFill>
                            <a:srgbClr val="FFFFFF"/>
                          </a:solidFill>
                          <a:latin typeface="DejaVu Sans"/>
                          <a:ea typeface="DejaVu Sans"/>
                          <a:cs typeface="DejaVu Sans"/>
                        </a:rPr>
                        <a:t>Entri kamus</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875" b="1">
                          <a:solidFill>
                            <a:srgbClr val="FFFFFF"/>
                          </a:solidFill>
                          <a:latin typeface="DejaVu Sans"/>
                          <a:ea typeface="DejaVu Sans"/>
                          <a:cs typeface="DejaVu Sans"/>
                        </a:rPr>
                        <a:t>Tidak terpetakan</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extLst>
                  <a:ext uri="{0D108BD9-81ED-4DB2-BD59-A6C34878D82A}">
                    <a16:rowId xmlns:a16="http://schemas.microsoft.com/office/drawing/2014/main" val="10000"/>
                  </a:ext>
                </a:extLst>
              </a:tr>
              <a:tr h="678656">
                <a:tc>
                  <a:txBody>
                    <a:bodyPr/>
                    <a:lstStyle/>
                    <a:p>
                      <a:r>
                        <a:rPr sz="1875" b="0">
                          <a:solidFill>
                            <a:srgbClr val="15364A"/>
                          </a:solidFill>
                          <a:latin typeface="DejaVu Sans"/>
                          <a:ea typeface="DejaVu Sans"/>
                          <a:cs typeface="DejaVu Sans"/>
                        </a:rPr>
                        <a:t>Jenis penerimaan</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8</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0</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extLst>
                  <a:ext uri="{0D108BD9-81ED-4DB2-BD59-A6C34878D82A}">
                    <a16:rowId xmlns:a16="http://schemas.microsoft.com/office/drawing/2014/main" val="10001"/>
                  </a:ext>
                </a:extLst>
              </a:tr>
              <a:tr h="678656">
                <a:tc>
                  <a:txBody>
                    <a:bodyPr/>
                    <a:lstStyle/>
                    <a:p>
                      <a:r>
                        <a:rPr sz="1875" b="0">
                          <a:solidFill>
                            <a:srgbClr val="15364A"/>
                          </a:solidFill>
                          <a:latin typeface="DejaVu Sans"/>
                          <a:ea typeface="DejaVu Sans"/>
                          <a:cs typeface="DejaVu Sans"/>
                        </a:rPr>
                        <a:t>Disposisi keluar</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75" b="0">
                          <a:solidFill>
                            <a:srgbClr val="15364A"/>
                          </a:solidFill>
                          <a:latin typeface="DejaVu Sans"/>
                          <a:ea typeface="DejaVu Sans"/>
                          <a:cs typeface="DejaVu Sans"/>
                        </a:rPr>
                        <a:t>30</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75" b="0">
                          <a:solidFill>
                            <a:srgbClr val="15364A"/>
                          </a:solidFill>
                          <a:latin typeface="DejaVu Sans"/>
                          <a:ea typeface="DejaVu Sans"/>
                          <a:cs typeface="DejaVu Sans"/>
                        </a:rPr>
                        <a:t>0</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extLst>
                  <a:ext uri="{0D108BD9-81ED-4DB2-BD59-A6C34878D82A}">
                    <a16:rowId xmlns:a16="http://schemas.microsoft.com/office/drawing/2014/main" val="10002"/>
                  </a:ext>
                </a:extLst>
              </a:tr>
              <a:tr h="678656">
                <a:tc>
                  <a:txBody>
                    <a:bodyPr/>
                    <a:lstStyle/>
                    <a:p>
                      <a:r>
                        <a:rPr sz="1875" b="0">
                          <a:solidFill>
                            <a:srgbClr val="15364A"/>
                          </a:solidFill>
                          <a:latin typeface="DejaVu Sans"/>
                          <a:ea typeface="DejaVu Sans"/>
                          <a:cs typeface="DejaVu Sans"/>
                        </a:rPr>
                        <a:t>Asal penerimaan</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25</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0</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F84FEDEE-3939-4450-B4DE-611D9C3442B0}"/>
              </a:ext>
            </a:extLst>
          </p:cNvPr>
          <p:cNvSpPr>
            <a:spLocks noGrp="1"/>
          </p:cNvSpPr>
          <p:nvPr/>
        </p:nvSpPr>
        <p:spPr>
          <a:xfrm>
            <a:off x="609600" y="4810125"/>
            <a:ext cx="10972800" cy="619125"/>
          </a:xfrm>
          <a:prstGeom prst="rect">
            <a:avLst/>
          </a:prstGeom>
          <a:noFill/>
          <a:ln w="0">
            <a:noFill/>
            <a:prstDash val="solid"/>
          </a:ln>
        </p:spPr>
        <p:txBody>
          <a:bodyPr lIns="0" tIns="0" rIns="0" bIns="0" anchor="t"/>
          <a:lstStyle>
            <a:defPPr>
              <a:defRPr sz="2550" b="1">
                <a:solidFill>
                  <a:srgbClr val="087F8C"/>
                </a:solidFill>
                <a:latin typeface="DejaVu Sans"/>
                <a:ea typeface="DejaVu Sans"/>
                <a:cs typeface="DejaVu Sans"/>
              </a:defRPr>
            </a:defPPr>
            <a:lvl1pPr>
              <a:defRPr sz="2550" b="1">
                <a:solidFill>
                  <a:srgbClr val="087F8C"/>
                </a:solidFill>
                <a:latin typeface="DejaVu Sans"/>
                <a:ea typeface="DejaVu Sans"/>
                <a:cs typeface="DejaVu Sans"/>
              </a:defRPr>
            </a:lvl1pPr>
            <a:lvl2pPr>
              <a:defRPr sz="2550" b="1">
                <a:solidFill>
                  <a:srgbClr val="087F8C"/>
                </a:solidFill>
                <a:latin typeface="DejaVu Sans"/>
                <a:ea typeface="DejaVu Sans"/>
                <a:cs typeface="DejaVu Sans"/>
              </a:defRPr>
            </a:lvl2pPr>
            <a:lvl3pPr>
              <a:defRPr sz="2550" b="1">
                <a:solidFill>
                  <a:srgbClr val="087F8C"/>
                </a:solidFill>
                <a:latin typeface="DejaVu Sans"/>
                <a:ea typeface="DejaVu Sans"/>
                <a:cs typeface="DejaVu Sans"/>
              </a:defRPr>
            </a:lvl3pPr>
            <a:lvl4pPr>
              <a:defRPr sz="2550" b="1">
                <a:solidFill>
                  <a:srgbClr val="087F8C"/>
                </a:solidFill>
                <a:latin typeface="DejaVu Sans"/>
                <a:ea typeface="DejaVu Sans"/>
                <a:cs typeface="DejaVu Sans"/>
              </a:defRPr>
            </a:lvl4pPr>
            <a:lvl5pPr>
              <a:defRPr sz="2550" b="1">
                <a:solidFill>
                  <a:srgbClr val="087F8C"/>
                </a:solidFill>
                <a:latin typeface="DejaVu Sans"/>
                <a:ea typeface="DejaVu Sans"/>
                <a:cs typeface="DejaVu Sans"/>
              </a:defRPr>
            </a:lvl5pPr>
            <a:lvl6pPr>
              <a:defRPr sz="2550" b="1">
                <a:solidFill>
                  <a:srgbClr val="087F8C"/>
                </a:solidFill>
                <a:latin typeface="DejaVu Sans"/>
                <a:ea typeface="DejaVu Sans"/>
                <a:cs typeface="DejaVu Sans"/>
              </a:defRPr>
            </a:lvl6pPr>
            <a:lvl7pPr>
              <a:defRPr sz="2550" b="1">
                <a:solidFill>
                  <a:srgbClr val="087F8C"/>
                </a:solidFill>
                <a:latin typeface="DejaVu Sans"/>
                <a:ea typeface="DejaVu Sans"/>
                <a:cs typeface="DejaVu Sans"/>
              </a:defRPr>
            </a:lvl7pPr>
            <a:lvl8pPr>
              <a:defRPr sz="2550" b="1">
                <a:solidFill>
                  <a:srgbClr val="087F8C"/>
                </a:solidFill>
                <a:latin typeface="DejaVu Sans"/>
                <a:ea typeface="DejaVu Sans"/>
                <a:cs typeface="DejaVu Sans"/>
              </a:defRPr>
            </a:lvl8pPr>
            <a:lvl9pPr>
              <a:defRPr sz="2550" b="1">
                <a:solidFill>
                  <a:srgbClr val="087F8C"/>
                </a:solidFill>
                <a:latin typeface="DejaVu Sans"/>
                <a:ea typeface="DejaVu Sans"/>
                <a:cs typeface="DejaVu Sans"/>
              </a:defRPr>
            </a:lvl9pPr>
          </a:lstStyle>
          <a:p>
            <a:pPr>
              <a:defRPr sz="2550" b="1">
                <a:solidFill>
                  <a:srgbClr val="087F8C"/>
                </a:solidFill>
                <a:latin typeface="DejaVu Sans"/>
                <a:ea typeface="DejaVu Sans"/>
                <a:cs typeface="DejaVu Sans"/>
              </a:defRPr>
            </a:pPr>
            <a:r>
              <a:rPr sz="2550" b="1">
                <a:solidFill>
                  <a:srgbClr val="087F8C"/>
                </a:solidFill>
                <a:latin typeface="DejaVu Sans"/>
                <a:ea typeface="DejaVu Sans"/>
                <a:cs typeface="DejaVu Sans"/>
              </a:rPr>
              <a:t>101.766 kunjungan tetap setelah setiap join</a:t>
            </a:r>
          </a:p>
        </p:txBody>
      </p:sp>
      <p:sp>
        <p:nvSpPr>
          <p:cNvPr id="5" name="Rectangle 4">
            <a:extLst>
              <a:ext uri="{FF2B5EF4-FFF2-40B4-BE49-F238E27FC236}">
                <a16:creationId xmlns:a16="http://schemas.microsoft.com/office/drawing/2014/main" id="{C60D67DF-98C9-4979-92C1-E8972026E59C}"/>
              </a:ext>
            </a:extLst>
          </p:cNvPr>
          <p:cNvSpPr>
            <a:spLocks noGrp="1"/>
          </p:cNvSpPr>
          <p:nvPr/>
        </p:nvSpPr>
        <p:spPr>
          <a:xfrm>
            <a:off x="609600" y="5619750"/>
            <a:ext cx="10972800" cy="428625"/>
          </a:xfrm>
          <a:prstGeom prst="rect">
            <a:avLst/>
          </a:prstGeom>
          <a:noFill/>
          <a:ln w="0">
            <a:noFill/>
            <a:prstDash val="solid"/>
          </a:ln>
        </p:spPr>
        <p:txBody>
          <a:bodyPr lIns="0" tIns="0" rIns="0" bIns="0" anchor="t"/>
          <a:lstStyle>
            <a:defPPr>
              <a:defRPr sz="1950" b="0">
                <a:solidFill>
                  <a:srgbClr val="C56A29"/>
                </a:solidFill>
                <a:latin typeface="DejaVu Sans"/>
                <a:ea typeface="DejaVu Sans"/>
                <a:cs typeface="DejaVu Sans"/>
              </a:defRPr>
            </a:defPPr>
            <a:lvl1pPr>
              <a:defRPr sz="1950" b="0">
                <a:solidFill>
                  <a:srgbClr val="C56A29"/>
                </a:solidFill>
                <a:latin typeface="DejaVu Sans"/>
                <a:ea typeface="DejaVu Sans"/>
                <a:cs typeface="DejaVu Sans"/>
              </a:defRPr>
            </a:lvl1pPr>
            <a:lvl2pPr>
              <a:defRPr sz="1950" b="0">
                <a:solidFill>
                  <a:srgbClr val="C56A29"/>
                </a:solidFill>
                <a:latin typeface="DejaVu Sans"/>
                <a:ea typeface="DejaVu Sans"/>
                <a:cs typeface="DejaVu Sans"/>
              </a:defRPr>
            </a:lvl2pPr>
            <a:lvl3pPr>
              <a:defRPr sz="1950" b="0">
                <a:solidFill>
                  <a:srgbClr val="C56A29"/>
                </a:solidFill>
                <a:latin typeface="DejaVu Sans"/>
                <a:ea typeface="DejaVu Sans"/>
                <a:cs typeface="DejaVu Sans"/>
              </a:defRPr>
            </a:lvl3pPr>
            <a:lvl4pPr>
              <a:defRPr sz="1950" b="0">
                <a:solidFill>
                  <a:srgbClr val="C56A29"/>
                </a:solidFill>
                <a:latin typeface="DejaVu Sans"/>
                <a:ea typeface="DejaVu Sans"/>
                <a:cs typeface="DejaVu Sans"/>
              </a:defRPr>
            </a:lvl4pPr>
            <a:lvl5pPr>
              <a:defRPr sz="1950" b="0">
                <a:solidFill>
                  <a:srgbClr val="C56A29"/>
                </a:solidFill>
                <a:latin typeface="DejaVu Sans"/>
                <a:ea typeface="DejaVu Sans"/>
                <a:cs typeface="DejaVu Sans"/>
              </a:defRPr>
            </a:lvl5pPr>
            <a:lvl6pPr>
              <a:defRPr sz="1950" b="0">
                <a:solidFill>
                  <a:srgbClr val="C56A29"/>
                </a:solidFill>
                <a:latin typeface="DejaVu Sans"/>
                <a:ea typeface="DejaVu Sans"/>
                <a:cs typeface="DejaVu Sans"/>
              </a:defRPr>
            </a:lvl6pPr>
            <a:lvl7pPr>
              <a:defRPr sz="1950" b="0">
                <a:solidFill>
                  <a:srgbClr val="C56A29"/>
                </a:solidFill>
                <a:latin typeface="DejaVu Sans"/>
                <a:ea typeface="DejaVu Sans"/>
                <a:cs typeface="DejaVu Sans"/>
              </a:defRPr>
            </a:lvl7pPr>
            <a:lvl8pPr>
              <a:defRPr sz="1950" b="0">
                <a:solidFill>
                  <a:srgbClr val="C56A29"/>
                </a:solidFill>
                <a:latin typeface="DejaVu Sans"/>
                <a:ea typeface="DejaVu Sans"/>
                <a:cs typeface="DejaVu Sans"/>
              </a:defRPr>
            </a:lvl8pPr>
            <a:lvl9pPr>
              <a:defRPr sz="1950" b="0">
                <a:solidFill>
                  <a:srgbClr val="C56A29"/>
                </a:solidFill>
                <a:latin typeface="DejaVu Sans"/>
                <a:ea typeface="DejaVu Sans"/>
                <a:cs typeface="DejaVu Sans"/>
              </a:defRPr>
            </a:lvl9pPr>
          </a:lstStyle>
          <a:p>
            <a:pPr>
              <a:defRPr sz="1950" b="0">
                <a:solidFill>
                  <a:srgbClr val="C56A29"/>
                </a:solidFill>
                <a:latin typeface="DejaVu Sans"/>
                <a:ea typeface="DejaVu Sans"/>
                <a:cs typeface="DejaVu Sans"/>
              </a:defRPr>
            </a:pPr>
            <a:r>
              <a:rPr sz="1950" b="0">
                <a:solidFill>
                  <a:srgbClr val="C56A29"/>
                </a:solidFill>
                <a:latin typeface="DejaVu Sans"/>
                <a:ea typeface="DejaVu Sans"/>
                <a:cs typeface="DejaVu Sans"/>
              </a:rPr>
              <a:t>Batasan: dua tabel berasal dari satu paket dataset</a:t>
            </a:r>
          </a:p>
        </p:txBody>
      </p:sp>
    </p:spTree>
    <p:extLst>
      <p:ext uri="{BB962C8B-B14F-4D97-AF65-F5344CB8AC3E}">
        <p14:creationId xmlns:p14="http://schemas.microsoft.com/office/powerpoint/2010/main" val="1370127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F76FDD0-D06F-4AE6-8A01-2CED410C58BF}"/>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Modus terpilih setelah hasil validation seri</a:t>
            </a:r>
          </a:p>
        </p:txBody>
      </p:sp>
      <p:sp>
        <p:nvSpPr>
          <p:cNvPr id="2" name="Rectangle 1">
            <a:extLst>
              <a:ext uri="{FF2B5EF4-FFF2-40B4-BE49-F238E27FC236}">
                <a16:creationId xmlns:a16="http://schemas.microsoft.com/office/drawing/2014/main" id="{40236382-ADFF-41EF-AEE8-698F1EB23749}"/>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6.  Mitra </a:t>
            </a:r>
            <a:r>
              <a:rPr sz="1275" b="0" dirty="0" err="1">
                <a:solidFill>
                  <a:srgbClr val="52636F"/>
                </a:solidFill>
                <a:latin typeface="DejaVu Sans"/>
                <a:ea typeface="DejaVu Sans"/>
                <a:cs typeface="DejaVu Sans"/>
              </a:rPr>
              <a:t>Istiar</a:t>
            </a:r>
            <a:r>
              <a:rPr sz="1275" b="0" dirty="0">
                <a:solidFill>
                  <a:srgbClr val="52636F"/>
                </a:solidFill>
                <a:latin typeface="DejaVu Sans"/>
                <a:ea typeface="DejaVu Sans"/>
                <a:cs typeface="DejaVu Sans"/>
              </a:rPr>
              <a:t> </a:t>
            </a:r>
            <a:r>
              <a:rPr sz="1275" b="0" dirty="0" err="1">
                <a:solidFill>
                  <a:srgbClr val="52636F"/>
                </a:solidFill>
                <a:latin typeface="DejaVu Sans"/>
                <a:ea typeface="DejaVu Sans"/>
                <a:cs typeface="DejaVu Sans"/>
              </a:rPr>
              <a:t>Wardhana</a:t>
            </a:r>
            <a:endParaRPr sz="1275" b="0" dirty="0">
              <a:solidFill>
                <a:srgbClr val="52636F"/>
              </a:solidFill>
              <a:latin typeface="DejaVu Sans"/>
              <a:ea typeface="DejaVu Sans"/>
              <a:cs typeface="DejaVu Sans"/>
            </a:endParaRPr>
          </a:p>
        </p:txBody>
      </p:sp>
      <p:graphicFrame>
        <p:nvGraphicFramePr>
          <p:cNvPr id="3" name="Table 2">
            <a:extLst>
              <a:ext uri="{FF2B5EF4-FFF2-40B4-BE49-F238E27FC236}">
                <a16:creationId xmlns:a16="http://schemas.microsoft.com/office/drawing/2014/main" id="{5F9E8498-8F58-40A5-8BBB-215A95B58AC7}"/>
              </a:ext>
            </a:extLst>
          </p:cNvPr>
          <p:cNvGraphicFramePr/>
          <p:nvPr/>
        </p:nvGraphicFramePr>
        <p:xfrm>
          <a:off x="609600" y="1809750"/>
          <a:ext cx="10972800" cy="2714624"/>
        </p:xfrm>
        <a:graphic>
          <a:graphicData uri="http://schemas.openxmlformats.org/drawingml/2006/table">
            <a:tbl>
              <a:tblPr/>
              <a:tblGrid>
                <a:gridCol w="266700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gridCol w="2114550">
                  <a:extLst>
                    <a:ext uri="{9D8B030D-6E8A-4147-A177-3AD203B41FA5}">
                      <a16:colId xmlns:a16="http://schemas.microsoft.com/office/drawing/2014/main" val="20004"/>
                    </a:ext>
                  </a:extLst>
                </a:gridCol>
              </a:tblGrid>
              <a:tr h="678656">
                <a:tc>
                  <a:txBody>
                    <a:bodyPr/>
                    <a:lstStyle/>
                    <a:p>
                      <a:r>
                        <a:rPr sz="1800" b="1">
                          <a:solidFill>
                            <a:srgbClr val="FFFFFF"/>
                          </a:solidFill>
                          <a:latin typeface="DejaVu Sans"/>
                          <a:ea typeface="DejaVu Sans"/>
                          <a:cs typeface="DejaVu Sans"/>
                        </a:rPr>
                        <a:t>Strategi</a:t>
                      </a:r>
                    </a:p>
                  </a:txBody>
                  <a:tcPr anchor="ctr">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800" b="1">
                          <a:solidFill>
                            <a:srgbClr val="FFFFFF"/>
                          </a:solidFill>
                          <a:latin typeface="DejaVu Sans"/>
                          <a:ea typeface="DejaVu Sans"/>
                          <a:cs typeface="DejaVu Sans"/>
                        </a:rPr>
                        <a:t>Train</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800" b="1">
                          <a:solidFill>
                            <a:srgbClr val="FFFFFF"/>
                          </a:solidFill>
                          <a:latin typeface="DejaVu Sans"/>
                          <a:ea typeface="DejaVu Sans"/>
                          <a:cs typeface="DejaVu Sans"/>
                        </a:rPr>
                        <a:t>Accuracy</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800" b="1">
                          <a:solidFill>
                            <a:srgbClr val="FFFFFF"/>
                          </a:solidFill>
                          <a:latin typeface="DejaVu Sans"/>
                          <a:ea typeface="DejaVu Sans"/>
                          <a:cs typeface="DejaVu Sans"/>
                        </a:rPr>
                        <a:t>F1 positif</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800" b="1">
                          <a:solidFill>
                            <a:srgbClr val="FFFFFF"/>
                          </a:solidFill>
                          <a:latin typeface="DejaVu Sans"/>
                          <a:ea typeface="DejaVu Sans"/>
                          <a:cs typeface="DejaVu Sans"/>
                        </a:rPr>
                        <a:t>F1 makro</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extLst>
                  <a:ext uri="{0D108BD9-81ED-4DB2-BD59-A6C34878D82A}">
                    <a16:rowId xmlns:a16="http://schemas.microsoft.com/office/drawing/2014/main" val="10000"/>
                  </a:ext>
                </a:extLst>
              </a:tr>
              <a:tr h="678656">
                <a:tc>
                  <a:txBody>
                    <a:bodyPr/>
                    <a:lstStyle/>
                    <a:p>
                      <a:r>
                        <a:rPr sz="1800" b="0">
                          <a:solidFill>
                            <a:srgbClr val="15364A"/>
                          </a:solidFill>
                          <a:latin typeface="DejaVu Sans"/>
                          <a:ea typeface="DejaVu Sans"/>
                          <a:cs typeface="DejaVu Sans"/>
                        </a:rPr>
                        <a:t>Hapus baris</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00" b="0">
                          <a:solidFill>
                            <a:srgbClr val="15364A"/>
                          </a:solidFill>
                          <a:latin typeface="DejaVu Sans"/>
                          <a:ea typeface="DejaVu Sans"/>
                          <a:cs typeface="DejaVu Sans"/>
                        </a:rPr>
                        <a:t>58.671</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00" b="0">
                          <a:solidFill>
                            <a:srgbClr val="15364A"/>
                          </a:solidFill>
                          <a:latin typeface="DejaVu Sans"/>
                          <a:ea typeface="DejaVu Sans"/>
                          <a:cs typeface="DejaVu Sans"/>
                        </a:rPr>
                        <a:t>0,676814</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00" b="0">
                          <a:solidFill>
                            <a:srgbClr val="15364A"/>
                          </a:solidFill>
                          <a:latin typeface="DejaVu Sans"/>
                          <a:ea typeface="DejaVu Sans"/>
                          <a:cs typeface="DejaVu Sans"/>
                        </a:rPr>
                        <a:t>0,261454</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00" b="0">
                          <a:solidFill>
                            <a:srgbClr val="15364A"/>
                          </a:solidFill>
                          <a:latin typeface="DejaVu Sans"/>
                          <a:ea typeface="DejaVu Sans"/>
                          <a:cs typeface="DejaVu Sans"/>
                        </a:rPr>
                        <a:t>0,527301</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extLst>
                  <a:ext uri="{0D108BD9-81ED-4DB2-BD59-A6C34878D82A}">
                    <a16:rowId xmlns:a16="http://schemas.microsoft.com/office/drawing/2014/main" val="10001"/>
                  </a:ext>
                </a:extLst>
              </a:tr>
              <a:tr h="678656">
                <a:tc>
                  <a:txBody>
                    <a:bodyPr/>
                    <a:lstStyle/>
                    <a:p>
                      <a:r>
                        <a:rPr sz="1800" b="0">
                          <a:solidFill>
                            <a:srgbClr val="15364A"/>
                          </a:solidFill>
                          <a:latin typeface="DejaVu Sans"/>
                          <a:ea typeface="DejaVu Sans"/>
                          <a:cs typeface="DejaVu Sans"/>
                        </a:rPr>
                        <a:t>Modus</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00" b="0">
                          <a:solidFill>
                            <a:srgbClr val="15364A"/>
                          </a:solidFill>
                          <a:latin typeface="DejaVu Sans"/>
                          <a:ea typeface="DejaVu Sans"/>
                          <a:cs typeface="DejaVu Sans"/>
                        </a:rPr>
                        <a:t>60.878</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00" b="0">
                          <a:solidFill>
                            <a:srgbClr val="15364A"/>
                          </a:solidFill>
                          <a:latin typeface="DejaVu Sans"/>
                          <a:ea typeface="DejaVu Sans"/>
                          <a:cs typeface="DejaVu Sans"/>
                        </a:rPr>
                        <a:t>0,677500</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00" b="0">
                          <a:solidFill>
                            <a:srgbClr val="15364A"/>
                          </a:solidFill>
                          <a:latin typeface="DejaVu Sans"/>
                          <a:ea typeface="DejaVu Sans"/>
                          <a:cs typeface="DejaVu Sans"/>
                        </a:rPr>
                        <a:t>0,261865</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00" b="0">
                          <a:solidFill>
                            <a:srgbClr val="15364A"/>
                          </a:solidFill>
                          <a:latin typeface="DejaVu Sans"/>
                          <a:ea typeface="DejaVu Sans"/>
                          <a:cs typeface="DejaVu Sans"/>
                        </a:rPr>
                        <a:t>0,527771</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extLst>
                  <a:ext uri="{0D108BD9-81ED-4DB2-BD59-A6C34878D82A}">
                    <a16:rowId xmlns:a16="http://schemas.microsoft.com/office/drawing/2014/main" val="10002"/>
                  </a:ext>
                </a:extLst>
              </a:tr>
              <a:tr h="678656">
                <a:tc>
                  <a:txBody>
                    <a:bodyPr/>
                    <a:lstStyle/>
                    <a:p>
                      <a:r>
                        <a:rPr sz="1800" b="0">
                          <a:solidFill>
                            <a:srgbClr val="15364A"/>
                          </a:solidFill>
                          <a:latin typeface="DejaVu Sans"/>
                          <a:ea typeface="DejaVu Sans"/>
                          <a:cs typeface="DejaVu Sans"/>
                        </a:rPr>
                        <a:t>Model</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00" b="0">
                          <a:solidFill>
                            <a:srgbClr val="15364A"/>
                          </a:solidFill>
                          <a:latin typeface="DejaVu Sans"/>
                          <a:ea typeface="DejaVu Sans"/>
                          <a:cs typeface="DejaVu Sans"/>
                        </a:rPr>
                        <a:t>60.878</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00" b="0">
                          <a:solidFill>
                            <a:srgbClr val="15364A"/>
                          </a:solidFill>
                          <a:latin typeface="DejaVu Sans"/>
                          <a:ea typeface="DejaVu Sans"/>
                          <a:cs typeface="DejaVu Sans"/>
                        </a:rPr>
                        <a:t>0,677500</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00" b="0">
                          <a:solidFill>
                            <a:srgbClr val="15364A"/>
                          </a:solidFill>
                          <a:latin typeface="DejaVu Sans"/>
                          <a:ea typeface="DejaVu Sans"/>
                          <a:cs typeface="DejaVu Sans"/>
                        </a:rPr>
                        <a:t>0,261865</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00" b="0">
                          <a:solidFill>
                            <a:srgbClr val="15364A"/>
                          </a:solidFill>
                          <a:latin typeface="DejaVu Sans"/>
                          <a:ea typeface="DejaVu Sans"/>
                          <a:cs typeface="DejaVu Sans"/>
                        </a:rPr>
                        <a:t>0,527771</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21A3CE6F-352F-4C2C-A9DC-382200E497B0}"/>
              </a:ext>
            </a:extLst>
          </p:cNvPr>
          <p:cNvSpPr>
            <a:spLocks noGrp="1"/>
          </p:cNvSpPr>
          <p:nvPr/>
        </p:nvSpPr>
        <p:spPr>
          <a:xfrm>
            <a:off x="609600" y="4953000"/>
            <a:ext cx="10972800" cy="619125"/>
          </a:xfrm>
          <a:prstGeom prst="rect">
            <a:avLst/>
          </a:prstGeom>
          <a:noFill/>
          <a:ln w="0">
            <a:noFill/>
            <a:prstDash val="solid"/>
          </a:ln>
        </p:spPr>
        <p:txBody>
          <a:bodyPr lIns="0" tIns="0" rIns="0" bIns="0" anchor="t"/>
          <a:lstStyle>
            <a:defPPr>
              <a:defRPr sz="2550" b="1">
                <a:solidFill>
                  <a:srgbClr val="087F8C"/>
                </a:solidFill>
                <a:latin typeface="DejaVu Sans"/>
                <a:ea typeface="DejaVu Sans"/>
                <a:cs typeface="DejaVu Sans"/>
              </a:defRPr>
            </a:defPPr>
            <a:lvl1pPr>
              <a:defRPr sz="2550" b="1">
                <a:solidFill>
                  <a:srgbClr val="087F8C"/>
                </a:solidFill>
                <a:latin typeface="DejaVu Sans"/>
                <a:ea typeface="DejaVu Sans"/>
                <a:cs typeface="DejaVu Sans"/>
              </a:defRPr>
            </a:lvl1pPr>
            <a:lvl2pPr>
              <a:defRPr sz="2550" b="1">
                <a:solidFill>
                  <a:srgbClr val="087F8C"/>
                </a:solidFill>
                <a:latin typeface="DejaVu Sans"/>
                <a:ea typeface="DejaVu Sans"/>
                <a:cs typeface="DejaVu Sans"/>
              </a:defRPr>
            </a:lvl2pPr>
            <a:lvl3pPr>
              <a:defRPr sz="2550" b="1">
                <a:solidFill>
                  <a:srgbClr val="087F8C"/>
                </a:solidFill>
                <a:latin typeface="DejaVu Sans"/>
                <a:ea typeface="DejaVu Sans"/>
                <a:cs typeface="DejaVu Sans"/>
              </a:defRPr>
            </a:lvl3pPr>
            <a:lvl4pPr>
              <a:defRPr sz="2550" b="1">
                <a:solidFill>
                  <a:srgbClr val="087F8C"/>
                </a:solidFill>
                <a:latin typeface="DejaVu Sans"/>
                <a:ea typeface="DejaVu Sans"/>
                <a:cs typeface="DejaVu Sans"/>
              </a:defRPr>
            </a:lvl4pPr>
            <a:lvl5pPr>
              <a:defRPr sz="2550" b="1">
                <a:solidFill>
                  <a:srgbClr val="087F8C"/>
                </a:solidFill>
                <a:latin typeface="DejaVu Sans"/>
                <a:ea typeface="DejaVu Sans"/>
                <a:cs typeface="DejaVu Sans"/>
              </a:defRPr>
            </a:lvl5pPr>
            <a:lvl6pPr>
              <a:defRPr sz="2550" b="1">
                <a:solidFill>
                  <a:srgbClr val="087F8C"/>
                </a:solidFill>
                <a:latin typeface="DejaVu Sans"/>
                <a:ea typeface="DejaVu Sans"/>
                <a:cs typeface="DejaVu Sans"/>
              </a:defRPr>
            </a:lvl6pPr>
            <a:lvl7pPr>
              <a:defRPr sz="2550" b="1">
                <a:solidFill>
                  <a:srgbClr val="087F8C"/>
                </a:solidFill>
                <a:latin typeface="DejaVu Sans"/>
                <a:ea typeface="DejaVu Sans"/>
                <a:cs typeface="DejaVu Sans"/>
              </a:defRPr>
            </a:lvl7pPr>
            <a:lvl8pPr>
              <a:defRPr sz="2550" b="1">
                <a:solidFill>
                  <a:srgbClr val="087F8C"/>
                </a:solidFill>
                <a:latin typeface="DejaVu Sans"/>
                <a:ea typeface="DejaVu Sans"/>
                <a:cs typeface="DejaVu Sans"/>
              </a:defRPr>
            </a:lvl8pPr>
            <a:lvl9pPr>
              <a:defRPr sz="2550" b="1">
                <a:solidFill>
                  <a:srgbClr val="087F8C"/>
                </a:solidFill>
                <a:latin typeface="DejaVu Sans"/>
                <a:ea typeface="DejaVu Sans"/>
                <a:cs typeface="DejaVu Sans"/>
              </a:defRPr>
            </a:lvl9pPr>
          </a:lstStyle>
          <a:p>
            <a:pPr>
              <a:defRPr sz="2550" b="1">
                <a:solidFill>
                  <a:srgbClr val="087F8C"/>
                </a:solidFill>
                <a:latin typeface="DejaVu Sans"/>
                <a:ea typeface="DejaVu Sans"/>
                <a:cs typeface="DejaVu Sans"/>
              </a:defRPr>
            </a:pPr>
            <a:r>
              <a:rPr sz="2550" b="1">
                <a:solidFill>
                  <a:srgbClr val="087F8C"/>
                </a:solidFill>
                <a:latin typeface="DejaVu Sans"/>
                <a:ea typeface="DejaVu Sans"/>
                <a:cs typeface="DejaVu Sans"/>
              </a:rPr>
              <a:t>Modus dan model seri pada kriteria pemilihan</a:t>
            </a:r>
          </a:p>
        </p:txBody>
      </p:sp>
      <p:sp>
        <p:nvSpPr>
          <p:cNvPr id="5" name="Rectangle 4">
            <a:extLst>
              <a:ext uri="{FF2B5EF4-FFF2-40B4-BE49-F238E27FC236}">
                <a16:creationId xmlns:a16="http://schemas.microsoft.com/office/drawing/2014/main" id="{40AF9373-E550-497F-91D5-7B2B7E0F0358}"/>
              </a:ext>
            </a:extLst>
          </p:cNvPr>
          <p:cNvSpPr>
            <a:spLocks noGrp="1"/>
          </p:cNvSpPr>
          <p:nvPr/>
        </p:nvSpPr>
        <p:spPr>
          <a:xfrm>
            <a:off x="609600" y="5667375"/>
            <a:ext cx="10972800" cy="428625"/>
          </a:xfrm>
          <a:prstGeom prst="rect">
            <a:avLst/>
          </a:prstGeom>
          <a:noFill/>
          <a:ln w="0">
            <a:noFill/>
            <a:prstDash val="solid"/>
          </a:ln>
        </p:spPr>
        <p:txBody>
          <a:bodyPr lIns="0" tIns="0" rIns="0" bIns="0" anchor="t"/>
          <a:lstStyle>
            <a:defPPr>
              <a:defRPr sz="1875" b="0">
                <a:solidFill>
                  <a:srgbClr val="52636F"/>
                </a:solidFill>
                <a:latin typeface="DejaVu Sans"/>
                <a:ea typeface="DejaVu Sans"/>
                <a:cs typeface="DejaVu Sans"/>
              </a:defRPr>
            </a:defPPr>
            <a:lvl1pPr>
              <a:defRPr sz="1875" b="0">
                <a:solidFill>
                  <a:srgbClr val="52636F"/>
                </a:solidFill>
                <a:latin typeface="DejaVu Sans"/>
                <a:ea typeface="DejaVu Sans"/>
                <a:cs typeface="DejaVu Sans"/>
              </a:defRPr>
            </a:lvl1pPr>
            <a:lvl2pPr>
              <a:defRPr sz="1875" b="0">
                <a:solidFill>
                  <a:srgbClr val="52636F"/>
                </a:solidFill>
                <a:latin typeface="DejaVu Sans"/>
                <a:ea typeface="DejaVu Sans"/>
                <a:cs typeface="DejaVu Sans"/>
              </a:defRPr>
            </a:lvl2pPr>
            <a:lvl3pPr>
              <a:defRPr sz="1875" b="0">
                <a:solidFill>
                  <a:srgbClr val="52636F"/>
                </a:solidFill>
                <a:latin typeface="DejaVu Sans"/>
                <a:ea typeface="DejaVu Sans"/>
                <a:cs typeface="DejaVu Sans"/>
              </a:defRPr>
            </a:lvl3pPr>
            <a:lvl4pPr>
              <a:defRPr sz="1875" b="0">
                <a:solidFill>
                  <a:srgbClr val="52636F"/>
                </a:solidFill>
                <a:latin typeface="DejaVu Sans"/>
                <a:ea typeface="DejaVu Sans"/>
                <a:cs typeface="DejaVu Sans"/>
              </a:defRPr>
            </a:lvl4pPr>
            <a:lvl5pPr>
              <a:defRPr sz="1875" b="0">
                <a:solidFill>
                  <a:srgbClr val="52636F"/>
                </a:solidFill>
                <a:latin typeface="DejaVu Sans"/>
                <a:ea typeface="DejaVu Sans"/>
                <a:cs typeface="DejaVu Sans"/>
              </a:defRPr>
            </a:lvl5pPr>
            <a:lvl6pPr>
              <a:defRPr sz="1875" b="0">
                <a:solidFill>
                  <a:srgbClr val="52636F"/>
                </a:solidFill>
                <a:latin typeface="DejaVu Sans"/>
                <a:ea typeface="DejaVu Sans"/>
                <a:cs typeface="DejaVu Sans"/>
              </a:defRPr>
            </a:lvl6pPr>
            <a:lvl7pPr>
              <a:defRPr sz="1875" b="0">
                <a:solidFill>
                  <a:srgbClr val="52636F"/>
                </a:solidFill>
                <a:latin typeface="DejaVu Sans"/>
                <a:ea typeface="DejaVu Sans"/>
                <a:cs typeface="DejaVu Sans"/>
              </a:defRPr>
            </a:lvl7pPr>
            <a:lvl8pPr>
              <a:defRPr sz="1875" b="0">
                <a:solidFill>
                  <a:srgbClr val="52636F"/>
                </a:solidFill>
                <a:latin typeface="DejaVu Sans"/>
                <a:ea typeface="DejaVu Sans"/>
                <a:cs typeface="DejaVu Sans"/>
              </a:defRPr>
            </a:lvl8pPr>
            <a:lvl9pPr>
              <a:defRPr sz="1875" b="0">
                <a:solidFill>
                  <a:srgbClr val="52636F"/>
                </a:solidFill>
                <a:latin typeface="DejaVu Sans"/>
                <a:ea typeface="DejaVu Sans"/>
                <a:cs typeface="DejaVu Sans"/>
              </a:defRPr>
            </a:lvl9pPr>
          </a:lstStyle>
          <a:p>
            <a:pPr>
              <a:defRPr sz="1875" b="0">
                <a:solidFill>
                  <a:srgbClr val="52636F"/>
                </a:solidFill>
                <a:latin typeface="DejaVu Sans"/>
                <a:ea typeface="DejaVu Sans"/>
                <a:cs typeface="DejaVu Sans"/>
              </a:defRPr>
            </a:pPr>
            <a:r>
              <a:rPr sz="1875" b="0">
                <a:solidFill>
                  <a:srgbClr val="52636F"/>
                </a:solidFill>
                <a:latin typeface="DejaVu Sans"/>
                <a:ea typeface="DejaVu Sans"/>
                <a:cs typeface="DejaVu Sans"/>
              </a:rPr>
              <a:t>Validation tetap 20.400 kunjungan untuk semua strategi</a:t>
            </a:r>
          </a:p>
        </p:txBody>
      </p:sp>
    </p:spTree>
    <p:extLst>
      <p:ext uri="{BB962C8B-B14F-4D97-AF65-F5344CB8AC3E}">
        <p14:creationId xmlns:p14="http://schemas.microsoft.com/office/powerpoint/2010/main" val="1882066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2FD8E2E-2745-4D2B-9884-55EEE9B01000}"/>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Outlier tetap dipertahankan</a:t>
            </a:r>
          </a:p>
        </p:txBody>
      </p:sp>
      <p:sp>
        <p:nvSpPr>
          <p:cNvPr id="2" name="Rectangle 1">
            <a:extLst>
              <a:ext uri="{FF2B5EF4-FFF2-40B4-BE49-F238E27FC236}">
                <a16:creationId xmlns:a16="http://schemas.microsoft.com/office/drawing/2014/main" id="{7538AE87-F770-4D13-BF33-863F80AA50E4}"/>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7.  Mitra </a:t>
            </a:r>
            <a:r>
              <a:rPr sz="1275" b="0" dirty="0" err="1">
                <a:solidFill>
                  <a:srgbClr val="52636F"/>
                </a:solidFill>
                <a:latin typeface="DejaVu Sans"/>
                <a:ea typeface="DejaVu Sans"/>
                <a:cs typeface="DejaVu Sans"/>
              </a:rPr>
              <a:t>Istiar</a:t>
            </a:r>
            <a:r>
              <a:rPr sz="1275" b="0" dirty="0">
                <a:solidFill>
                  <a:srgbClr val="52636F"/>
                </a:solidFill>
                <a:latin typeface="DejaVu Sans"/>
                <a:ea typeface="DejaVu Sans"/>
                <a:cs typeface="DejaVu Sans"/>
              </a:rPr>
              <a:t> </a:t>
            </a:r>
            <a:r>
              <a:rPr sz="1275" b="0" dirty="0" err="1">
                <a:solidFill>
                  <a:srgbClr val="52636F"/>
                </a:solidFill>
                <a:latin typeface="DejaVu Sans"/>
                <a:ea typeface="DejaVu Sans"/>
                <a:cs typeface="DejaVu Sans"/>
              </a:rPr>
              <a:t>Wardhana</a:t>
            </a:r>
            <a:endParaRPr sz="1275" b="0" dirty="0">
              <a:solidFill>
                <a:srgbClr val="52636F"/>
              </a:solidFill>
              <a:latin typeface="DejaVu Sans"/>
              <a:ea typeface="DejaVu Sans"/>
              <a:cs typeface="DejaVu Sans"/>
            </a:endParaRPr>
          </a:p>
        </p:txBody>
      </p:sp>
      <p:graphicFrame>
        <p:nvGraphicFramePr>
          <p:cNvPr id="3" name="Table 2">
            <a:extLst>
              <a:ext uri="{FF2B5EF4-FFF2-40B4-BE49-F238E27FC236}">
                <a16:creationId xmlns:a16="http://schemas.microsoft.com/office/drawing/2014/main" id="{A7329827-189E-4284-A11E-B2A74A90B145}"/>
              </a:ext>
            </a:extLst>
          </p:cNvPr>
          <p:cNvGraphicFramePr/>
          <p:nvPr/>
        </p:nvGraphicFramePr>
        <p:xfrm>
          <a:off x="609600" y="1714500"/>
          <a:ext cx="10972800" cy="3143250"/>
        </p:xfrm>
        <a:graphic>
          <a:graphicData uri="http://schemas.openxmlformats.org/drawingml/2006/table">
            <a:tbl>
              <a:tblPr/>
              <a:tblGrid>
                <a:gridCol w="57150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tblGrid>
              <a:tr h="628650">
                <a:tc>
                  <a:txBody>
                    <a:bodyPr/>
                    <a:lstStyle/>
                    <a:p>
                      <a:r>
                        <a:rPr sz="1875" b="1">
                          <a:solidFill>
                            <a:srgbClr val="FFFFFF"/>
                          </a:solidFill>
                          <a:latin typeface="DejaVu Sans"/>
                          <a:ea typeface="DejaVu Sans"/>
                          <a:cs typeface="DejaVu Sans"/>
                        </a:rPr>
                        <a:t>Fitur train</a:t>
                      </a:r>
                    </a:p>
                  </a:txBody>
                  <a:tcPr anchor="ctr">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875" b="1">
                          <a:solidFill>
                            <a:srgbClr val="FFFFFF"/>
                          </a:solidFill>
                          <a:latin typeface="DejaVu Sans"/>
                          <a:ea typeface="DejaVu Sans"/>
                          <a:cs typeface="DejaVu Sans"/>
                        </a:rPr>
                        <a:t>Kandidat IQR</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875" b="1">
                          <a:solidFill>
                            <a:srgbClr val="FFFFFF"/>
                          </a:solidFill>
                          <a:latin typeface="DejaVu Sans"/>
                          <a:ea typeface="DejaVu Sans"/>
                          <a:cs typeface="DejaVu Sans"/>
                        </a:rPr>
                        <a:t>|Z| &gt; 3</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extLst>
                  <a:ext uri="{0D108BD9-81ED-4DB2-BD59-A6C34878D82A}">
                    <a16:rowId xmlns:a16="http://schemas.microsoft.com/office/drawing/2014/main" val="10000"/>
                  </a:ext>
                </a:extLst>
              </a:tr>
              <a:tr h="628650">
                <a:tc>
                  <a:txBody>
                    <a:bodyPr/>
                    <a:lstStyle/>
                    <a:p>
                      <a:r>
                        <a:rPr sz="1875" b="0">
                          <a:solidFill>
                            <a:srgbClr val="15364A"/>
                          </a:solidFill>
                          <a:latin typeface="DejaVu Sans"/>
                          <a:ea typeface="DejaVu Sans"/>
                          <a:cs typeface="DejaVu Sans"/>
                        </a:rPr>
                        <a:t>Rawat jalan sebelumnya</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10.182</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852</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extLst>
                  <a:ext uri="{0D108BD9-81ED-4DB2-BD59-A6C34878D82A}">
                    <a16:rowId xmlns:a16="http://schemas.microsoft.com/office/drawing/2014/main" val="10001"/>
                  </a:ext>
                </a:extLst>
              </a:tr>
              <a:tr h="628650">
                <a:tc>
                  <a:txBody>
                    <a:bodyPr/>
                    <a:lstStyle/>
                    <a:p>
                      <a:r>
                        <a:rPr sz="1875" b="0">
                          <a:solidFill>
                            <a:srgbClr val="15364A"/>
                          </a:solidFill>
                          <a:latin typeface="DejaVu Sans"/>
                          <a:ea typeface="DejaVu Sans"/>
                          <a:cs typeface="DejaVu Sans"/>
                        </a:rPr>
                        <a:t>Darurat sebelumnya</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75" b="0">
                          <a:solidFill>
                            <a:srgbClr val="15364A"/>
                          </a:solidFill>
                          <a:latin typeface="DejaVu Sans"/>
                          <a:ea typeface="DejaVu Sans"/>
                          <a:cs typeface="DejaVu Sans"/>
                        </a:rPr>
                        <a:t>6.742</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75" b="0">
                          <a:solidFill>
                            <a:srgbClr val="15364A"/>
                          </a:solidFill>
                          <a:latin typeface="DejaVu Sans"/>
                          <a:ea typeface="DejaVu Sans"/>
                          <a:cs typeface="DejaVu Sans"/>
                        </a:rPr>
                        <a:t>577</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extLst>
                  <a:ext uri="{0D108BD9-81ED-4DB2-BD59-A6C34878D82A}">
                    <a16:rowId xmlns:a16="http://schemas.microsoft.com/office/drawing/2014/main" val="10002"/>
                  </a:ext>
                </a:extLst>
              </a:tr>
              <a:tr h="628650">
                <a:tc>
                  <a:txBody>
                    <a:bodyPr/>
                    <a:lstStyle/>
                    <a:p>
                      <a:r>
                        <a:rPr sz="1875" b="0">
                          <a:solidFill>
                            <a:srgbClr val="15364A"/>
                          </a:solidFill>
                          <a:latin typeface="DejaVu Sans"/>
                          <a:ea typeface="DejaVu Sans"/>
                          <a:cs typeface="DejaVu Sans"/>
                        </a:rPr>
                        <a:t>Rawat inap sebelumnya</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4.152</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1.165</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extLst>
                  <a:ext uri="{0D108BD9-81ED-4DB2-BD59-A6C34878D82A}">
                    <a16:rowId xmlns:a16="http://schemas.microsoft.com/office/drawing/2014/main" val="10003"/>
                  </a:ext>
                </a:extLst>
              </a:tr>
              <a:tr h="628650">
                <a:tc>
                  <a:txBody>
                    <a:bodyPr/>
                    <a:lstStyle/>
                    <a:p>
                      <a:r>
                        <a:rPr sz="1875" b="0">
                          <a:solidFill>
                            <a:srgbClr val="15364A"/>
                          </a:solidFill>
                          <a:latin typeface="DejaVu Sans"/>
                          <a:ea typeface="DejaVu Sans"/>
                          <a:cs typeface="DejaVu Sans"/>
                        </a:rPr>
                        <a:t>Lama rawat</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75" b="0">
                          <a:solidFill>
                            <a:srgbClr val="15364A"/>
                          </a:solidFill>
                          <a:latin typeface="DejaVu Sans"/>
                          <a:ea typeface="DejaVu Sans"/>
                          <a:cs typeface="DejaVu Sans"/>
                        </a:rPr>
                        <a:t>1.332</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75" b="0">
                          <a:solidFill>
                            <a:srgbClr val="15364A"/>
                          </a:solidFill>
                          <a:latin typeface="DejaVu Sans"/>
                          <a:ea typeface="DejaVu Sans"/>
                          <a:cs typeface="DejaVu Sans"/>
                        </a:rPr>
                        <a:t>612</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64459473-A284-4BED-9800-A0F4ADB6CF25}"/>
              </a:ext>
            </a:extLst>
          </p:cNvPr>
          <p:cNvSpPr>
            <a:spLocks noGrp="1"/>
          </p:cNvSpPr>
          <p:nvPr/>
        </p:nvSpPr>
        <p:spPr>
          <a:xfrm>
            <a:off x="609600" y="5238750"/>
            <a:ext cx="10972800" cy="619125"/>
          </a:xfrm>
          <a:prstGeom prst="rect">
            <a:avLst/>
          </a:prstGeom>
          <a:noFill/>
          <a:ln w="0">
            <a:noFill/>
            <a:prstDash val="solid"/>
          </a:ln>
        </p:spPr>
        <p:txBody>
          <a:bodyPr lIns="0" tIns="0" rIns="0" bIns="0" anchor="t"/>
          <a:lstStyle>
            <a:defPPr>
              <a:defRPr sz="2400" b="1">
                <a:solidFill>
                  <a:srgbClr val="C56A29"/>
                </a:solidFill>
                <a:latin typeface="DejaVu Sans"/>
                <a:ea typeface="DejaVu Sans"/>
                <a:cs typeface="DejaVu Sans"/>
              </a:defRPr>
            </a:defPPr>
            <a:lvl1pPr>
              <a:defRPr sz="2400" b="1">
                <a:solidFill>
                  <a:srgbClr val="C56A29"/>
                </a:solidFill>
                <a:latin typeface="DejaVu Sans"/>
                <a:ea typeface="DejaVu Sans"/>
                <a:cs typeface="DejaVu Sans"/>
              </a:defRPr>
            </a:lvl1pPr>
            <a:lvl2pPr>
              <a:defRPr sz="2400" b="1">
                <a:solidFill>
                  <a:srgbClr val="C56A29"/>
                </a:solidFill>
                <a:latin typeface="DejaVu Sans"/>
                <a:ea typeface="DejaVu Sans"/>
                <a:cs typeface="DejaVu Sans"/>
              </a:defRPr>
            </a:lvl2pPr>
            <a:lvl3pPr>
              <a:defRPr sz="2400" b="1">
                <a:solidFill>
                  <a:srgbClr val="C56A29"/>
                </a:solidFill>
                <a:latin typeface="DejaVu Sans"/>
                <a:ea typeface="DejaVu Sans"/>
                <a:cs typeface="DejaVu Sans"/>
              </a:defRPr>
            </a:lvl3pPr>
            <a:lvl4pPr>
              <a:defRPr sz="2400" b="1">
                <a:solidFill>
                  <a:srgbClr val="C56A29"/>
                </a:solidFill>
                <a:latin typeface="DejaVu Sans"/>
                <a:ea typeface="DejaVu Sans"/>
                <a:cs typeface="DejaVu Sans"/>
              </a:defRPr>
            </a:lvl4pPr>
            <a:lvl5pPr>
              <a:defRPr sz="2400" b="1">
                <a:solidFill>
                  <a:srgbClr val="C56A29"/>
                </a:solidFill>
                <a:latin typeface="DejaVu Sans"/>
                <a:ea typeface="DejaVu Sans"/>
                <a:cs typeface="DejaVu Sans"/>
              </a:defRPr>
            </a:lvl5pPr>
            <a:lvl6pPr>
              <a:defRPr sz="2400" b="1">
                <a:solidFill>
                  <a:srgbClr val="C56A29"/>
                </a:solidFill>
                <a:latin typeface="DejaVu Sans"/>
                <a:ea typeface="DejaVu Sans"/>
                <a:cs typeface="DejaVu Sans"/>
              </a:defRPr>
            </a:lvl6pPr>
            <a:lvl7pPr>
              <a:defRPr sz="2400" b="1">
                <a:solidFill>
                  <a:srgbClr val="C56A29"/>
                </a:solidFill>
                <a:latin typeface="DejaVu Sans"/>
                <a:ea typeface="DejaVu Sans"/>
                <a:cs typeface="DejaVu Sans"/>
              </a:defRPr>
            </a:lvl7pPr>
            <a:lvl8pPr>
              <a:defRPr sz="2400" b="1">
                <a:solidFill>
                  <a:srgbClr val="C56A29"/>
                </a:solidFill>
                <a:latin typeface="DejaVu Sans"/>
                <a:ea typeface="DejaVu Sans"/>
                <a:cs typeface="DejaVu Sans"/>
              </a:defRPr>
            </a:lvl8pPr>
            <a:lvl9pPr>
              <a:defRPr sz="2400" b="1">
                <a:solidFill>
                  <a:srgbClr val="C56A29"/>
                </a:solidFill>
                <a:latin typeface="DejaVu Sans"/>
                <a:ea typeface="DejaVu Sans"/>
                <a:cs typeface="DejaVu Sans"/>
              </a:defRPr>
            </a:lvl9pPr>
          </a:lstStyle>
          <a:p>
            <a:pPr>
              <a:defRPr sz="2400" b="1">
                <a:solidFill>
                  <a:srgbClr val="C56A29"/>
                </a:solidFill>
                <a:latin typeface="DejaVu Sans"/>
                <a:ea typeface="DejaVu Sans"/>
                <a:cs typeface="DejaVu Sans"/>
              </a:defRPr>
            </a:pPr>
            <a:r>
              <a:rPr sz="2400" b="1">
                <a:solidFill>
                  <a:srgbClr val="C56A29"/>
                </a:solidFill>
                <a:latin typeface="DejaVu Sans"/>
                <a:ea typeface="DejaVu Sans"/>
                <a:cs typeface="DejaVu Sans"/>
              </a:rPr>
              <a:t>IQR = 0 membuat semua nilai positif terdeteksi</a:t>
            </a:r>
          </a:p>
        </p:txBody>
      </p:sp>
      <p:sp>
        <p:nvSpPr>
          <p:cNvPr id="5" name="Rectangle 4">
            <a:extLst>
              <a:ext uri="{FF2B5EF4-FFF2-40B4-BE49-F238E27FC236}">
                <a16:creationId xmlns:a16="http://schemas.microsoft.com/office/drawing/2014/main" id="{D50B4D27-7777-4381-86A8-841EB32B154A}"/>
              </a:ext>
            </a:extLst>
          </p:cNvPr>
          <p:cNvSpPr>
            <a:spLocks noGrp="1"/>
          </p:cNvSpPr>
          <p:nvPr/>
        </p:nvSpPr>
        <p:spPr>
          <a:xfrm>
            <a:off x="609600" y="5857875"/>
            <a:ext cx="10972800" cy="381000"/>
          </a:xfrm>
          <a:prstGeom prst="rect">
            <a:avLst/>
          </a:prstGeom>
          <a:noFill/>
          <a:ln w="0">
            <a:noFill/>
            <a:prstDash val="solid"/>
          </a:ln>
        </p:spPr>
        <p:txBody>
          <a:bodyPr lIns="0" tIns="0" rIns="0" bIns="0" anchor="t"/>
          <a:lstStyle>
            <a:defPPr>
              <a:defRPr sz="1800" b="0">
                <a:solidFill>
                  <a:srgbClr val="52636F"/>
                </a:solidFill>
                <a:latin typeface="DejaVu Sans"/>
                <a:ea typeface="DejaVu Sans"/>
                <a:cs typeface="DejaVu Sans"/>
              </a:defRPr>
            </a:defPPr>
            <a:lvl1pPr>
              <a:defRPr sz="1800" b="0">
                <a:solidFill>
                  <a:srgbClr val="52636F"/>
                </a:solidFill>
                <a:latin typeface="DejaVu Sans"/>
                <a:ea typeface="DejaVu Sans"/>
                <a:cs typeface="DejaVu Sans"/>
              </a:defRPr>
            </a:lvl1pPr>
            <a:lvl2pPr>
              <a:defRPr sz="1800" b="0">
                <a:solidFill>
                  <a:srgbClr val="52636F"/>
                </a:solidFill>
                <a:latin typeface="DejaVu Sans"/>
                <a:ea typeface="DejaVu Sans"/>
                <a:cs typeface="DejaVu Sans"/>
              </a:defRPr>
            </a:lvl2pPr>
            <a:lvl3pPr>
              <a:defRPr sz="1800" b="0">
                <a:solidFill>
                  <a:srgbClr val="52636F"/>
                </a:solidFill>
                <a:latin typeface="DejaVu Sans"/>
                <a:ea typeface="DejaVu Sans"/>
                <a:cs typeface="DejaVu Sans"/>
              </a:defRPr>
            </a:lvl3pPr>
            <a:lvl4pPr>
              <a:defRPr sz="1800" b="0">
                <a:solidFill>
                  <a:srgbClr val="52636F"/>
                </a:solidFill>
                <a:latin typeface="DejaVu Sans"/>
                <a:ea typeface="DejaVu Sans"/>
                <a:cs typeface="DejaVu Sans"/>
              </a:defRPr>
            </a:lvl4pPr>
            <a:lvl5pPr>
              <a:defRPr sz="1800" b="0">
                <a:solidFill>
                  <a:srgbClr val="52636F"/>
                </a:solidFill>
                <a:latin typeface="DejaVu Sans"/>
                <a:ea typeface="DejaVu Sans"/>
                <a:cs typeface="DejaVu Sans"/>
              </a:defRPr>
            </a:lvl5pPr>
            <a:lvl6pPr>
              <a:defRPr sz="1800" b="0">
                <a:solidFill>
                  <a:srgbClr val="52636F"/>
                </a:solidFill>
                <a:latin typeface="DejaVu Sans"/>
                <a:ea typeface="DejaVu Sans"/>
                <a:cs typeface="DejaVu Sans"/>
              </a:defRPr>
            </a:lvl6pPr>
            <a:lvl7pPr>
              <a:defRPr sz="1800" b="0">
                <a:solidFill>
                  <a:srgbClr val="52636F"/>
                </a:solidFill>
                <a:latin typeface="DejaVu Sans"/>
                <a:ea typeface="DejaVu Sans"/>
                <a:cs typeface="DejaVu Sans"/>
              </a:defRPr>
            </a:lvl7pPr>
            <a:lvl8pPr>
              <a:defRPr sz="1800" b="0">
                <a:solidFill>
                  <a:srgbClr val="52636F"/>
                </a:solidFill>
                <a:latin typeface="DejaVu Sans"/>
                <a:ea typeface="DejaVu Sans"/>
                <a:cs typeface="DejaVu Sans"/>
              </a:defRPr>
            </a:lvl8pPr>
            <a:lvl9pPr>
              <a:defRPr sz="1800" b="0">
                <a:solidFill>
                  <a:srgbClr val="52636F"/>
                </a:solidFill>
                <a:latin typeface="DejaVu Sans"/>
                <a:ea typeface="DejaVu Sans"/>
                <a:cs typeface="DejaVu Sans"/>
              </a:defRPr>
            </a:lvl9pPr>
          </a:lstStyle>
          <a:p>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Keputusan: tidak ada penghapusan atau capping outlier</a:t>
            </a:r>
          </a:p>
        </p:txBody>
      </p:sp>
    </p:spTree>
    <p:extLst>
      <p:ext uri="{BB962C8B-B14F-4D97-AF65-F5344CB8AC3E}">
        <p14:creationId xmlns:p14="http://schemas.microsoft.com/office/powerpoint/2010/main" val="1112095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73F3CA6-25C6-4E66-B04B-2C4ACC32B5B6}"/>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Transformasi dan reduksi fitur</a:t>
            </a:r>
          </a:p>
        </p:txBody>
      </p:sp>
      <p:sp>
        <p:nvSpPr>
          <p:cNvPr id="2" name="Rectangle 1">
            <a:extLst>
              <a:ext uri="{FF2B5EF4-FFF2-40B4-BE49-F238E27FC236}">
                <a16:creationId xmlns:a16="http://schemas.microsoft.com/office/drawing/2014/main" id="{A4F6FD1E-ABBA-4D37-BF81-738C12659D9B}"/>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8.  Mitra </a:t>
            </a:r>
            <a:r>
              <a:rPr sz="1275" b="0" dirty="0" err="1">
                <a:solidFill>
                  <a:srgbClr val="52636F"/>
                </a:solidFill>
                <a:latin typeface="DejaVu Sans"/>
                <a:ea typeface="DejaVu Sans"/>
                <a:cs typeface="DejaVu Sans"/>
              </a:rPr>
              <a:t>Istiar</a:t>
            </a:r>
            <a:r>
              <a:rPr sz="1275" b="0" dirty="0">
                <a:solidFill>
                  <a:srgbClr val="52636F"/>
                </a:solidFill>
                <a:latin typeface="DejaVu Sans"/>
                <a:ea typeface="DejaVu Sans"/>
                <a:cs typeface="DejaVu Sans"/>
              </a:rPr>
              <a:t> </a:t>
            </a:r>
            <a:r>
              <a:rPr sz="1275" b="0" dirty="0" err="1">
                <a:solidFill>
                  <a:srgbClr val="52636F"/>
                </a:solidFill>
                <a:latin typeface="DejaVu Sans"/>
                <a:ea typeface="DejaVu Sans"/>
                <a:cs typeface="DejaVu Sans"/>
              </a:rPr>
              <a:t>Wardhana</a:t>
            </a:r>
            <a:endParaRPr sz="1275" b="0" dirty="0">
              <a:solidFill>
                <a:srgbClr val="52636F"/>
              </a:solidFill>
              <a:latin typeface="DejaVu Sans"/>
              <a:ea typeface="DejaVu Sans"/>
              <a:cs typeface="DejaVu Sans"/>
            </a:endParaRPr>
          </a:p>
        </p:txBody>
      </p:sp>
      <p:graphicFrame>
        <p:nvGraphicFramePr>
          <p:cNvPr id="3" name="Chart">
            <a:extLst>
              <a:ext uri="{FF2B5EF4-FFF2-40B4-BE49-F238E27FC236}">
                <a16:creationId xmlns:a16="http://schemas.microsoft.com/office/drawing/2014/main" id="{8E9DF05A-58A6-4448-8123-D5D853D94B34}"/>
              </a:ext>
            </a:extLst>
          </p:cNvPr>
          <p:cNvGraphicFramePr/>
          <p:nvPr/>
        </p:nvGraphicFramePr>
        <p:xfrm>
          <a:off x="609600" y="1762125"/>
          <a:ext cx="64770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68A8073F-410C-4F5C-821E-404F11EDCE6D}"/>
              </a:ext>
            </a:extLst>
          </p:cNvPr>
          <p:cNvSpPr>
            <a:spLocks noGrp="1"/>
          </p:cNvSpPr>
          <p:nvPr/>
        </p:nvSpPr>
        <p:spPr>
          <a:xfrm>
            <a:off x="7715250" y="1905000"/>
            <a:ext cx="3714750" cy="1524000"/>
          </a:xfrm>
          <a:prstGeom prst="rect">
            <a:avLst/>
          </a:prstGeom>
          <a:noFill/>
          <a:ln w="0">
            <a:noFill/>
            <a:prstDash val="solid"/>
          </a:ln>
        </p:spPr>
        <p:txBody>
          <a:bodyPr lIns="0" tIns="0" rIns="0" bIns="0" anchor="t"/>
          <a:lstStyle>
            <a:defPPr>
              <a:defRPr sz="2250" b="1">
                <a:solidFill>
                  <a:srgbClr val="15364A"/>
                </a:solidFill>
                <a:latin typeface="DejaVu Sans"/>
                <a:ea typeface="DejaVu Sans"/>
                <a:cs typeface="DejaVu Sans"/>
              </a:defRPr>
            </a:defPPr>
            <a:lvl1pPr>
              <a:defRPr sz="2250" b="1">
                <a:solidFill>
                  <a:srgbClr val="15364A"/>
                </a:solidFill>
                <a:latin typeface="DejaVu Sans"/>
                <a:ea typeface="DejaVu Sans"/>
                <a:cs typeface="DejaVu Sans"/>
              </a:defRPr>
            </a:lvl1pPr>
            <a:lvl2pPr>
              <a:defRPr sz="2250" b="1">
                <a:solidFill>
                  <a:srgbClr val="15364A"/>
                </a:solidFill>
                <a:latin typeface="DejaVu Sans"/>
                <a:ea typeface="DejaVu Sans"/>
                <a:cs typeface="DejaVu Sans"/>
              </a:defRPr>
            </a:lvl2pPr>
            <a:lvl3pPr>
              <a:defRPr sz="2250" b="1">
                <a:solidFill>
                  <a:srgbClr val="15364A"/>
                </a:solidFill>
                <a:latin typeface="DejaVu Sans"/>
                <a:ea typeface="DejaVu Sans"/>
                <a:cs typeface="DejaVu Sans"/>
              </a:defRPr>
            </a:lvl3pPr>
            <a:lvl4pPr>
              <a:defRPr sz="2250" b="1">
                <a:solidFill>
                  <a:srgbClr val="15364A"/>
                </a:solidFill>
                <a:latin typeface="DejaVu Sans"/>
                <a:ea typeface="DejaVu Sans"/>
                <a:cs typeface="DejaVu Sans"/>
              </a:defRPr>
            </a:lvl4pPr>
            <a:lvl5pPr>
              <a:defRPr sz="2250" b="1">
                <a:solidFill>
                  <a:srgbClr val="15364A"/>
                </a:solidFill>
                <a:latin typeface="DejaVu Sans"/>
                <a:ea typeface="DejaVu Sans"/>
                <a:cs typeface="DejaVu Sans"/>
              </a:defRPr>
            </a:lvl5pPr>
            <a:lvl6pPr>
              <a:defRPr sz="2250" b="1">
                <a:solidFill>
                  <a:srgbClr val="15364A"/>
                </a:solidFill>
                <a:latin typeface="DejaVu Sans"/>
                <a:ea typeface="DejaVu Sans"/>
                <a:cs typeface="DejaVu Sans"/>
              </a:defRPr>
            </a:lvl6pPr>
            <a:lvl7pPr>
              <a:defRPr sz="2250" b="1">
                <a:solidFill>
                  <a:srgbClr val="15364A"/>
                </a:solidFill>
                <a:latin typeface="DejaVu Sans"/>
                <a:ea typeface="DejaVu Sans"/>
                <a:cs typeface="DejaVu Sans"/>
              </a:defRPr>
            </a:lvl7pPr>
            <a:lvl8pPr>
              <a:defRPr sz="2250" b="1">
                <a:solidFill>
                  <a:srgbClr val="15364A"/>
                </a:solidFill>
                <a:latin typeface="DejaVu Sans"/>
                <a:ea typeface="DejaVu Sans"/>
                <a:cs typeface="DejaVu Sans"/>
              </a:defRPr>
            </a:lvl8pPr>
            <a:lvl9pPr>
              <a:defRPr sz="2250" b="1">
                <a:solidFill>
                  <a:srgbClr val="15364A"/>
                </a:solidFill>
                <a:latin typeface="DejaVu Sans"/>
                <a:ea typeface="DejaVu Sans"/>
                <a:cs typeface="DejaVu Sans"/>
              </a:defRPr>
            </a:lvl9pPr>
          </a:lstStyle>
          <a:p>
            <a:pPr>
              <a:defRPr sz="2250" b="1">
                <a:solidFill>
                  <a:srgbClr val="15364A"/>
                </a:solidFill>
                <a:latin typeface="DejaVu Sans"/>
                <a:ea typeface="DejaVu Sans"/>
                <a:cs typeface="DejaVu Sans"/>
              </a:defRPr>
            </a:pPr>
            <a:r>
              <a:rPr sz="2250" b="1">
                <a:solidFill>
                  <a:srgbClr val="15364A"/>
                </a:solidFill>
                <a:latin typeface="DejaVu Sans"/>
                <a:ea typeface="DejaVu Sans"/>
                <a:cs typeface="DejaVu Sans"/>
              </a:rPr>
              <a:t>StandardScaler</a:t>
            </a:r>
          </a:p>
          <a:p>
            <a:pPr>
              <a:defRPr sz="2250" b="1">
                <a:solidFill>
                  <a:srgbClr val="15364A"/>
                </a:solidFill>
                <a:latin typeface="DejaVu Sans"/>
                <a:ea typeface="DejaVu Sans"/>
                <a:cs typeface="DejaVu Sans"/>
              </a:defRPr>
            </a:pPr>
            <a:r>
              <a:rPr sz="2250" b="1">
                <a:solidFill>
                  <a:srgbClr val="15364A"/>
                </a:solidFill>
                <a:latin typeface="DejaVu Sans"/>
                <a:ea typeface="DejaVu Sans"/>
                <a:cs typeface="DejaVu Sans"/>
              </a:rPr>
              <a:t>Ordinal dan one-hot</a:t>
            </a:r>
          </a:p>
          <a:p>
            <a:pPr>
              <a:defRPr sz="2250" b="1">
                <a:solidFill>
                  <a:srgbClr val="15364A"/>
                </a:solidFill>
                <a:latin typeface="DejaVu Sans"/>
                <a:ea typeface="DejaVu Sans"/>
                <a:cs typeface="DejaVu Sans"/>
              </a:defRPr>
            </a:pPr>
            <a:r>
              <a:rPr sz="2250" b="1">
                <a:solidFill>
                  <a:srgbClr val="15364A"/>
                </a:solidFill>
                <a:latin typeface="DejaVu Sans"/>
                <a:ea typeface="DejaVu Sans"/>
                <a:cs typeface="DejaVu Sans"/>
              </a:rPr>
              <a:t>Seleksi fitur 75%</a:t>
            </a:r>
          </a:p>
        </p:txBody>
      </p:sp>
      <p:sp>
        <p:nvSpPr>
          <p:cNvPr id="5" name="Rectangle 4">
            <a:extLst>
              <a:ext uri="{FF2B5EF4-FFF2-40B4-BE49-F238E27FC236}">
                <a16:creationId xmlns:a16="http://schemas.microsoft.com/office/drawing/2014/main" id="{355413A1-C02D-4F96-AF30-0EBEABD5C564}"/>
              </a:ext>
            </a:extLst>
          </p:cNvPr>
          <p:cNvSpPr>
            <a:spLocks noGrp="1"/>
          </p:cNvSpPr>
          <p:nvPr/>
        </p:nvSpPr>
        <p:spPr>
          <a:xfrm>
            <a:off x="7715250" y="3905250"/>
            <a:ext cx="3714750" cy="952500"/>
          </a:xfrm>
          <a:prstGeom prst="rect">
            <a:avLst/>
          </a:prstGeom>
          <a:noFill/>
          <a:ln w="0">
            <a:noFill/>
            <a:prstDash val="solid"/>
          </a:ln>
        </p:spPr>
        <p:txBody>
          <a:bodyPr lIns="0" tIns="0" rIns="0" bIns="0" anchor="t"/>
          <a:lstStyle>
            <a:defPPr>
              <a:defRPr sz="2250" b="0">
                <a:solidFill>
                  <a:srgbClr val="52636F"/>
                </a:solidFill>
                <a:latin typeface="DejaVu Sans"/>
                <a:ea typeface="DejaVu Sans"/>
                <a:cs typeface="DejaVu Sans"/>
              </a:defRPr>
            </a:defPPr>
            <a:lvl1pPr>
              <a:defRPr sz="2250" b="0">
                <a:solidFill>
                  <a:srgbClr val="52636F"/>
                </a:solidFill>
                <a:latin typeface="DejaVu Sans"/>
                <a:ea typeface="DejaVu Sans"/>
                <a:cs typeface="DejaVu Sans"/>
              </a:defRPr>
            </a:lvl1pPr>
            <a:lvl2pPr>
              <a:defRPr sz="2250" b="0">
                <a:solidFill>
                  <a:srgbClr val="52636F"/>
                </a:solidFill>
                <a:latin typeface="DejaVu Sans"/>
                <a:ea typeface="DejaVu Sans"/>
                <a:cs typeface="DejaVu Sans"/>
              </a:defRPr>
            </a:lvl2pPr>
            <a:lvl3pPr>
              <a:defRPr sz="2250" b="0">
                <a:solidFill>
                  <a:srgbClr val="52636F"/>
                </a:solidFill>
                <a:latin typeface="DejaVu Sans"/>
                <a:ea typeface="DejaVu Sans"/>
                <a:cs typeface="DejaVu Sans"/>
              </a:defRPr>
            </a:lvl3pPr>
            <a:lvl4pPr>
              <a:defRPr sz="2250" b="0">
                <a:solidFill>
                  <a:srgbClr val="52636F"/>
                </a:solidFill>
                <a:latin typeface="DejaVu Sans"/>
                <a:ea typeface="DejaVu Sans"/>
                <a:cs typeface="DejaVu Sans"/>
              </a:defRPr>
            </a:lvl4pPr>
            <a:lvl5pPr>
              <a:defRPr sz="2250" b="0">
                <a:solidFill>
                  <a:srgbClr val="52636F"/>
                </a:solidFill>
                <a:latin typeface="DejaVu Sans"/>
                <a:ea typeface="DejaVu Sans"/>
                <a:cs typeface="DejaVu Sans"/>
              </a:defRPr>
            </a:lvl5pPr>
            <a:lvl6pPr>
              <a:defRPr sz="2250" b="0">
                <a:solidFill>
                  <a:srgbClr val="52636F"/>
                </a:solidFill>
                <a:latin typeface="DejaVu Sans"/>
                <a:ea typeface="DejaVu Sans"/>
                <a:cs typeface="DejaVu Sans"/>
              </a:defRPr>
            </a:lvl6pPr>
            <a:lvl7pPr>
              <a:defRPr sz="2250" b="0">
                <a:solidFill>
                  <a:srgbClr val="52636F"/>
                </a:solidFill>
                <a:latin typeface="DejaVu Sans"/>
                <a:ea typeface="DejaVu Sans"/>
                <a:cs typeface="DejaVu Sans"/>
              </a:defRPr>
            </a:lvl7pPr>
            <a:lvl8pPr>
              <a:defRPr sz="2250" b="0">
                <a:solidFill>
                  <a:srgbClr val="52636F"/>
                </a:solidFill>
                <a:latin typeface="DejaVu Sans"/>
                <a:ea typeface="DejaVu Sans"/>
                <a:cs typeface="DejaVu Sans"/>
              </a:defRPr>
            </a:lvl8pPr>
            <a:lvl9pPr>
              <a:defRPr sz="2250" b="0">
                <a:solidFill>
                  <a:srgbClr val="52636F"/>
                </a:solidFill>
                <a:latin typeface="DejaVu Sans"/>
                <a:ea typeface="DejaVu Sans"/>
                <a:cs typeface="DejaVu Sans"/>
              </a:defRPr>
            </a:lvl9pPr>
          </a:lstStyle>
          <a:p>
            <a:pPr>
              <a:defRPr sz="2250" b="0">
                <a:solidFill>
                  <a:srgbClr val="52636F"/>
                </a:solidFill>
                <a:latin typeface="DejaVu Sans"/>
                <a:ea typeface="DejaVu Sans"/>
                <a:cs typeface="DejaVu Sans"/>
              </a:defRPr>
            </a:pPr>
            <a:r>
              <a:rPr sz="2250" b="0">
                <a:solidFill>
                  <a:srgbClr val="52636F"/>
                </a:solidFill>
                <a:latin typeface="DejaVu Sans"/>
                <a:ea typeface="DejaVu Sans"/>
                <a:cs typeface="DejaVu Sans"/>
              </a:rPr>
              <a:t>Sampel 25%</a:t>
            </a:r>
          </a:p>
          <a:p>
            <a:pPr>
              <a:defRPr sz="2250" b="0">
                <a:solidFill>
                  <a:srgbClr val="52636F"/>
                </a:solidFill>
                <a:latin typeface="DejaVu Sans"/>
                <a:ea typeface="DejaVu Sans"/>
                <a:cs typeface="DejaVu Sans"/>
              </a:defRPr>
            </a:pPr>
            <a:r>
              <a:rPr sz="2250" b="0">
                <a:solidFill>
                  <a:srgbClr val="52636F"/>
                </a:solidFill>
                <a:latin typeface="DejaVu Sans"/>
                <a:ea typeface="DejaVu Sans"/>
                <a:cs typeface="DejaVu Sans"/>
              </a:rPr>
              <a:t>60.878 menjadi 15.219</a:t>
            </a:r>
          </a:p>
        </p:txBody>
      </p:sp>
      <p:sp>
        <p:nvSpPr>
          <p:cNvPr id="6" name="Rectangle 5">
            <a:extLst>
              <a:ext uri="{FF2B5EF4-FFF2-40B4-BE49-F238E27FC236}">
                <a16:creationId xmlns:a16="http://schemas.microsoft.com/office/drawing/2014/main" id="{71CEBF9E-0527-4647-AB89-926DCE31DBAA}"/>
              </a:ext>
            </a:extLst>
          </p:cNvPr>
          <p:cNvSpPr>
            <a:spLocks noGrp="1"/>
          </p:cNvSpPr>
          <p:nvPr/>
        </p:nvSpPr>
        <p:spPr>
          <a:xfrm>
            <a:off x="609600" y="5667375"/>
            <a:ext cx="10972800" cy="476250"/>
          </a:xfrm>
          <a:prstGeom prst="rect">
            <a:avLst/>
          </a:prstGeom>
          <a:noFill/>
          <a:ln w="0">
            <a:noFill/>
            <a:prstDash val="solid"/>
          </a:ln>
        </p:spPr>
        <p:txBody>
          <a:bodyPr lIns="0" tIns="0" rIns="0" bIns="0" anchor="t"/>
          <a:lstStyle>
            <a:defPPr>
              <a:defRPr sz="2025" b="0">
                <a:solidFill>
                  <a:srgbClr val="C56A29"/>
                </a:solidFill>
                <a:latin typeface="DejaVu Sans"/>
                <a:ea typeface="DejaVu Sans"/>
                <a:cs typeface="DejaVu Sans"/>
              </a:defRPr>
            </a:defPPr>
            <a:lvl1pPr>
              <a:defRPr sz="2025" b="0">
                <a:solidFill>
                  <a:srgbClr val="C56A29"/>
                </a:solidFill>
                <a:latin typeface="DejaVu Sans"/>
                <a:ea typeface="DejaVu Sans"/>
                <a:cs typeface="DejaVu Sans"/>
              </a:defRPr>
            </a:lvl1pPr>
            <a:lvl2pPr>
              <a:defRPr sz="2025" b="0">
                <a:solidFill>
                  <a:srgbClr val="C56A29"/>
                </a:solidFill>
                <a:latin typeface="DejaVu Sans"/>
                <a:ea typeface="DejaVu Sans"/>
                <a:cs typeface="DejaVu Sans"/>
              </a:defRPr>
            </a:lvl2pPr>
            <a:lvl3pPr>
              <a:defRPr sz="2025" b="0">
                <a:solidFill>
                  <a:srgbClr val="C56A29"/>
                </a:solidFill>
                <a:latin typeface="DejaVu Sans"/>
                <a:ea typeface="DejaVu Sans"/>
                <a:cs typeface="DejaVu Sans"/>
              </a:defRPr>
            </a:lvl3pPr>
            <a:lvl4pPr>
              <a:defRPr sz="2025" b="0">
                <a:solidFill>
                  <a:srgbClr val="C56A29"/>
                </a:solidFill>
                <a:latin typeface="DejaVu Sans"/>
                <a:ea typeface="DejaVu Sans"/>
                <a:cs typeface="DejaVu Sans"/>
              </a:defRPr>
            </a:lvl4pPr>
            <a:lvl5pPr>
              <a:defRPr sz="2025" b="0">
                <a:solidFill>
                  <a:srgbClr val="C56A29"/>
                </a:solidFill>
                <a:latin typeface="DejaVu Sans"/>
                <a:ea typeface="DejaVu Sans"/>
                <a:cs typeface="DejaVu Sans"/>
              </a:defRPr>
            </a:lvl5pPr>
            <a:lvl6pPr>
              <a:defRPr sz="2025" b="0">
                <a:solidFill>
                  <a:srgbClr val="C56A29"/>
                </a:solidFill>
                <a:latin typeface="DejaVu Sans"/>
                <a:ea typeface="DejaVu Sans"/>
                <a:cs typeface="DejaVu Sans"/>
              </a:defRPr>
            </a:lvl6pPr>
            <a:lvl7pPr>
              <a:defRPr sz="2025" b="0">
                <a:solidFill>
                  <a:srgbClr val="C56A29"/>
                </a:solidFill>
                <a:latin typeface="DejaVu Sans"/>
                <a:ea typeface="DejaVu Sans"/>
                <a:cs typeface="DejaVu Sans"/>
              </a:defRPr>
            </a:lvl7pPr>
            <a:lvl8pPr>
              <a:defRPr sz="2025" b="0">
                <a:solidFill>
                  <a:srgbClr val="C56A29"/>
                </a:solidFill>
                <a:latin typeface="DejaVu Sans"/>
                <a:ea typeface="DejaVu Sans"/>
                <a:cs typeface="DejaVu Sans"/>
              </a:defRPr>
            </a:lvl8pPr>
            <a:lvl9pPr>
              <a:defRPr sz="2025" b="0">
                <a:solidFill>
                  <a:srgbClr val="C56A29"/>
                </a:solidFill>
                <a:latin typeface="DejaVu Sans"/>
                <a:ea typeface="DejaVu Sans"/>
                <a:cs typeface="DejaVu Sans"/>
              </a:defRPr>
            </a:lvl9pPr>
          </a:lstStyle>
          <a:p>
            <a:pPr>
              <a:defRPr sz="2025" b="0">
                <a:solidFill>
                  <a:srgbClr val="C56A29"/>
                </a:solidFill>
                <a:latin typeface="DejaVu Sans"/>
                <a:ea typeface="DejaVu Sans"/>
                <a:cs typeface="DejaVu Sans"/>
              </a:defRPr>
            </a:pPr>
            <a:r>
              <a:rPr sz="2025" b="0">
                <a:solidFill>
                  <a:srgbClr val="C56A29"/>
                </a:solidFill>
                <a:latin typeface="DejaVu Sans"/>
                <a:ea typeface="DejaVu Sans"/>
                <a:cs typeface="DejaVu Sans"/>
              </a:rPr>
              <a:t>Binning lama rawat memakai data diskrit</a:t>
            </a:r>
          </a:p>
        </p:txBody>
      </p:sp>
    </p:spTree>
    <p:extLst>
      <p:ext uri="{BB962C8B-B14F-4D97-AF65-F5344CB8AC3E}">
        <p14:creationId xmlns:p14="http://schemas.microsoft.com/office/powerpoint/2010/main" val="1464176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5FA6463-575F-47B8-A52E-36790B7F01A8}"/>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Recall naik, accuracy dan F1 turun</a:t>
            </a:r>
          </a:p>
        </p:txBody>
      </p:sp>
      <p:sp>
        <p:nvSpPr>
          <p:cNvPr id="2" name="Rectangle 1">
            <a:extLst>
              <a:ext uri="{FF2B5EF4-FFF2-40B4-BE49-F238E27FC236}">
                <a16:creationId xmlns:a16="http://schemas.microsoft.com/office/drawing/2014/main" id="{B975CF71-C1F8-4ACF-8DB6-C876838B5A7E}"/>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9.  Mitra </a:t>
            </a:r>
            <a:r>
              <a:rPr sz="1275" b="0" dirty="0" err="1">
                <a:solidFill>
                  <a:srgbClr val="52636F"/>
                </a:solidFill>
                <a:latin typeface="DejaVu Sans"/>
                <a:ea typeface="DejaVu Sans"/>
                <a:cs typeface="DejaVu Sans"/>
              </a:rPr>
              <a:t>Istiar</a:t>
            </a:r>
            <a:r>
              <a:rPr sz="1275" b="0" dirty="0">
                <a:solidFill>
                  <a:srgbClr val="52636F"/>
                </a:solidFill>
                <a:latin typeface="DejaVu Sans"/>
                <a:ea typeface="DejaVu Sans"/>
                <a:cs typeface="DejaVu Sans"/>
              </a:rPr>
              <a:t> </a:t>
            </a:r>
            <a:r>
              <a:rPr sz="1275" b="0" dirty="0" err="1">
                <a:solidFill>
                  <a:srgbClr val="52636F"/>
                </a:solidFill>
                <a:latin typeface="DejaVu Sans"/>
                <a:ea typeface="DejaVu Sans"/>
                <a:cs typeface="DejaVu Sans"/>
              </a:rPr>
              <a:t>Wardhana</a:t>
            </a:r>
            <a:endParaRPr sz="1275" b="0" dirty="0">
              <a:solidFill>
                <a:srgbClr val="52636F"/>
              </a:solidFill>
              <a:latin typeface="DejaVu Sans"/>
              <a:ea typeface="DejaVu Sans"/>
              <a:cs typeface="DejaVu Sans"/>
            </a:endParaRPr>
          </a:p>
        </p:txBody>
      </p:sp>
      <p:graphicFrame>
        <p:nvGraphicFramePr>
          <p:cNvPr id="3" name="Chart">
            <a:extLst>
              <a:ext uri="{FF2B5EF4-FFF2-40B4-BE49-F238E27FC236}">
                <a16:creationId xmlns:a16="http://schemas.microsoft.com/office/drawing/2014/main" id="{9690371A-A9E5-4020-8A3A-30CC26ED558D}"/>
              </a:ext>
            </a:extLst>
          </p:cNvPr>
          <p:cNvGraphicFramePr/>
          <p:nvPr/>
        </p:nvGraphicFramePr>
        <p:xfrm>
          <a:off x="609600" y="1762125"/>
          <a:ext cx="8096250" cy="381000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D4FA5B0E-664B-4C3C-89FE-27B049E4BFF4}"/>
              </a:ext>
            </a:extLst>
          </p:cNvPr>
          <p:cNvSpPr>
            <a:spLocks noGrp="1"/>
          </p:cNvSpPr>
          <p:nvPr/>
        </p:nvSpPr>
        <p:spPr>
          <a:xfrm>
            <a:off x="9048750" y="2190750"/>
            <a:ext cx="2571750" cy="904875"/>
          </a:xfrm>
          <a:prstGeom prst="rect">
            <a:avLst/>
          </a:prstGeom>
          <a:noFill/>
          <a:ln w="0">
            <a:noFill/>
            <a:prstDash val="solid"/>
          </a:ln>
        </p:spPr>
        <p:txBody>
          <a:bodyPr lIns="0" tIns="0" rIns="0" bIns="0" anchor="t"/>
          <a:lstStyle>
            <a:defPPr>
              <a:defRPr sz="4650" b="1">
                <a:solidFill>
                  <a:srgbClr val="087F8C"/>
                </a:solidFill>
                <a:latin typeface="DejaVu Sans"/>
                <a:ea typeface="DejaVu Sans"/>
                <a:cs typeface="DejaVu Sans"/>
              </a:defRPr>
            </a:defPPr>
            <a:lvl1pPr>
              <a:defRPr sz="4650" b="1">
                <a:solidFill>
                  <a:srgbClr val="087F8C"/>
                </a:solidFill>
                <a:latin typeface="DejaVu Sans"/>
                <a:ea typeface="DejaVu Sans"/>
                <a:cs typeface="DejaVu Sans"/>
              </a:defRPr>
            </a:lvl1pPr>
            <a:lvl2pPr>
              <a:defRPr sz="4650" b="1">
                <a:solidFill>
                  <a:srgbClr val="087F8C"/>
                </a:solidFill>
                <a:latin typeface="DejaVu Sans"/>
                <a:ea typeface="DejaVu Sans"/>
                <a:cs typeface="DejaVu Sans"/>
              </a:defRPr>
            </a:lvl2pPr>
            <a:lvl3pPr>
              <a:defRPr sz="4650" b="1">
                <a:solidFill>
                  <a:srgbClr val="087F8C"/>
                </a:solidFill>
                <a:latin typeface="DejaVu Sans"/>
                <a:ea typeface="DejaVu Sans"/>
                <a:cs typeface="DejaVu Sans"/>
              </a:defRPr>
            </a:lvl3pPr>
            <a:lvl4pPr>
              <a:defRPr sz="4650" b="1">
                <a:solidFill>
                  <a:srgbClr val="087F8C"/>
                </a:solidFill>
                <a:latin typeface="DejaVu Sans"/>
                <a:ea typeface="DejaVu Sans"/>
                <a:cs typeface="DejaVu Sans"/>
              </a:defRPr>
            </a:lvl4pPr>
            <a:lvl5pPr>
              <a:defRPr sz="4650" b="1">
                <a:solidFill>
                  <a:srgbClr val="087F8C"/>
                </a:solidFill>
                <a:latin typeface="DejaVu Sans"/>
                <a:ea typeface="DejaVu Sans"/>
                <a:cs typeface="DejaVu Sans"/>
              </a:defRPr>
            </a:lvl5pPr>
            <a:lvl6pPr>
              <a:defRPr sz="4650" b="1">
                <a:solidFill>
                  <a:srgbClr val="087F8C"/>
                </a:solidFill>
                <a:latin typeface="DejaVu Sans"/>
                <a:ea typeface="DejaVu Sans"/>
                <a:cs typeface="DejaVu Sans"/>
              </a:defRPr>
            </a:lvl6pPr>
            <a:lvl7pPr>
              <a:defRPr sz="4650" b="1">
                <a:solidFill>
                  <a:srgbClr val="087F8C"/>
                </a:solidFill>
                <a:latin typeface="DejaVu Sans"/>
                <a:ea typeface="DejaVu Sans"/>
                <a:cs typeface="DejaVu Sans"/>
              </a:defRPr>
            </a:lvl7pPr>
            <a:lvl8pPr>
              <a:defRPr sz="4650" b="1">
                <a:solidFill>
                  <a:srgbClr val="087F8C"/>
                </a:solidFill>
                <a:latin typeface="DejaVu Sans"/>
                <a:ea typeface="DejaVu Sans"/>
                <a:cs typeface="DejaVu Sans"/>
              </a:defRPr>
            </a:lvl8pPr>
            <a:lvl9pPr>
              <a:defRPr sz="4650" b="1">
                <a:solidFill>
                  <a:srgbClr val="087F8C"/>
                </a:solidFill>
                <a:latin typeface="DejaVu Sans"/>
                <a:ea typeface="DejaVu Sans"/>
                <a:cs typeface="DejaVu Sans"/>
              </a:defRPr>
            </a:lvl9pPr>
          </a:lstStyle>
          <a:p>
            <a:pPr>
              <a:defRPr sz="4650" b="1">
                <a:solidFill>
                  <a:srgbClr val="087F8C"/>
                </a:solidFill>
                <a:latin typeface="DejaVu Sans"/>
                <a:ea typeface="DejaVu Sans"/>
                <a:cs typeface="DejaVu Sans"/>
              </a:defRPr>
            </a:pPr>
            <a:r>
              <a:rPr sz="4650" b="1">
                <a:solidFill>
                  <a:srgbClr val="087F8C"/>
                </a:solidFill>
                <a:latin typeface="DejaVu Sans"/>
                <a:ea typeface="DejaVu Sans"/>
                <a:cs typeface="DejaVu Sans"/>
              </a:rPr>
              <a:t>+3,34</a:t>
            </a:r>
          </a:p>
        </p:txBody>
      </p:sp>
      <p:sp>
        <p:nvSpPr>
          <p:cNvPr id="5" name="Rectangle 4">
            <a:extLst>
              <a:ext uri="{FF2B5EF4-FFF2-40B4-BE49-F238E27FC236}">
                <a16:creationId xmlns:a16="http://schemas.microsoft.com/office/drawing/2014/main" id="{786BF353-C49C-4609-B2B1-70A3D0118245}"/>
              </a:ext>
            </a:extLst>
          </p:cNvPr>
          <p:cNvSpPr>
            <a:spLocks noGrp="1"/>
          </p:cNvSpPr>
          <p:nvPr/>
        </p:nvSpPr>
        <p:spPr>
          <a:xfrm>
            <a:off x="9048750" y="3143250"/>
            <a:ext cx="2571750" cy="904875"/>
          </a:xfrm>
          <a:prstGeom prst="rect">
            <a:avLst/>
          </a:prstGeom>
          <a:noFill/>
          <a:ln w="0">
            <a:noFill/>
            <a:prstDash val="solid"/>
          </a:ln>
        </p:spPr>
        <p:txBody>
          <a:bodyPr lIns="0" tIns="0" rIns="0" bIns="0" anchor="t"/>
          <a:lstStyle>
            <a:defPPr>
              <a:defRPr sz="2100" b="0">
                <a:solidFill>
                  <a:srgbClr val="52636F"/>
                </a:solidFill>
                <a:latin typeface="DejaVu Sans"/>
                <a:ea typeface="DejaVu Sans"/>
                <a:cs typeface="DejaVu Sans"/>
              </a:defRPr>
            </a:defPPr>
            <a:lvl1pPr>
              <a:defRPr sz="2100" b="0">
                <a:solidFill>
                  <a:srgbClr val="52636F"/>
                </a:solidFill>
                <a:latin typeface="DejaVu Sans"/>
                <a:ea typeface="DejaVu Sans"/>
                <a:cs typeface="DejaVu Sans"/>
              </a:defRPr>
            </a:lvl1pPr>
            <a:lvl2pPr>
              <a:defRPr sz="2100" b="0">
                <a:solidFill>
                  <a:srgbClr val="52636F"/>
                </a:solidFill>
                <a:latin typeface="DejaVu Sans"/>
                <a:ea typeface="DejaVu Sans"/>
                <a:cs typeface="DejaVu Sans"/>
              </a:defRPr>
            </a:lvl2pPr>
            <a:lvl3pPr>
              <a:defRPr sz="2100" b="0">
                <a:solidFill>
                  <a:srgbClr val="52636F"/>
                </a:solidFill>
                <a:latin typeface="DejaVu Sans"/>
                <a:ea typeface="DejaVu Sans"/>
                <a:cs typeface="DejaVu Sans"/>
              </a:defRPr>
            </a:lvl3pPr>
            <a:lvl4pPr>
              <a:defRPr sz="2100" b="0">
                <a:solidFill>
                  <a:srgbClr val="52636F"/>
                </a:solidFill>
                <a:latin typeface="DejaVu Sans"/>
                <a:ea typeface="DejaVu Sans"/>
                <a:cs typeface="DejaVu Sans"/>
              </a:defRPr>
            </a:lvl4pPr>
            <a:lvl5pPr>
              <a:defRPr sz="2100" b="0">
                <a:solidFill>
                  <a:srgbClr val="52636F"/>
                </a:solidFill>
                <a:latin typeface="DejaVu Sans"/>
                <a:ea typeface="DejaVu Sans"/>
                <a:cs typeface="DejaVu Sans"/>
              </a:defRPr>
            </a:lvl5pPr>
            <a:lvl6pPr>
              <a:defRPr sz="2100" b="0">
                <a:solidFill>
                  <a:srgbClr val="52636F"/>
                </a:solidFill>
                <a:latin typeface="DejaVu Sans"/>
                <a:ea typeface="DejaVu Sans"/>
                <a:cs typeface="DejaVu Sans"/>
              </a:defRPr>
            </a:lvl6pPr>
            <a:lvl7pPr>
              <a:defRPr sz="2100" b="0">
                <a:solidFill>
                  <a:srgbClr val="52636F"/>
                </a:solidFill>
                <a:latin typeface="DejaVu Sans"/>
                <a:ea typeface="DejaVu Sans"/>
                <a:cs typeface="DejaVu Sans"/>
              </a:defRPr>
            </a:lvl7pPr>
            <a:lvl8pPr>
              <a:defRPr sz="2100" b="0">
                <a:solidFill>
                  <a:srgbClr val="52636F"/>
                </a:solidFill>
                <a:latin typeface="DejaVu Sans"/>
                <a:ea typeface="DejaVu Sans"/>
                <a:cs typeface="DejaVu Sans"/>
              </a:defRPr>
            </a:lvl8pPr>
            <a:lvl9pPr>
              <a:defRPr sz="2100" b="0">
                <a:solidFill>
                  <a:srgbClr val="52636F"/>
                </a:solidFill>
                <a:latin typeface="DejaVu Sans"/>
                <a:ea typeface="DejaVu Sans"/>
                <a:cs typeface="DejaVu Sans"/>
              </a:defRPr>
            </a:lvl9pPr>
          </a:lstStyle>
          <a:p>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poin persentase</a:t>
            </a:r>
          </a:p>
          <a:p>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recall</a:t>
            </a:r>
          </a:p>
        </p:txBody>
      </p:sp>
      <p:sp>
        <p:nvSpPr>
          <p:cNvPr id="6" name="Rectangle 5">
            <a:extLst>
              <a:ext uri="{FF2B5EF4-FFF2-40B4-BE49-F238E27FC236}">
                <a16:creationId xmlns:a16="http://schemas.microsoft.com/office/drawing/2014/main" id="{FA5C0A56-58C4-474C-81A0-42A3DE82ADA3}"/>
              </a:ext>
            </a:extLst>
          </p:cNvPr>
          <p:cNvSpPr>
            <a:spLocks noGrp="1"/>
          </p:cNvSpPr>
          <p:nvPr/>
        </p:nvSpPr>
        <p:spPr>
          <a:xfrm>
            <a:off x="609600" y="5810250"/>
            <a:ext cx="10972800" cy="381000"/>
          </a:xfrm>
          <a:prstGeom prst="rect">
            <a:avLst/>
          </a:prstGeom>
          <a:noFill/>
          <a:ln w="0">
            <a:noFill/>
            <a:prstDash val="solid"/>
          </a:ln>
        </p:spPr>
        <p:txBody>
          <a:bodyPr lIns="0" tIns="0" rIns="0" bIns="0" anchor="t"/>
          <a:lstStyle>
            <a:defPPr>
              <a:defRPr sz="1875" b="0">
                <a:solidFill>
                  <a:srgbClr val="52636F"/>
                </a:solidFill>
                <a:latin typeface="DejaVu Sans"/>
                <a:ea typeface="DejaVu Sans"/>
                <a:cs typeface="DejaVu Sans"/>
              </a:defRPr>
            </a:defPPr>
            <a:lvl1pPr>
              <a:defRPr sz="1875" b="0">
                <a:solidFill>
                  <a:srgbClr val="52636F"/>
                </a:solidFill>
                <a:latin typeface="DejaVu Sans"/>
                <a:ea typeface="DejaVu Sans"/>
                <a:cs typeface="DejaVu Sans"/>
              </a:defRPr>
            </a:lvl1pPr>
            <a:lvl2pPr>
              <a:defRPr sz="1875" b="0">
                <a:solidFill>
                  <a:srgbClr val="52636F"/>
                </a:solidFill>
                <a:latin typeface="DejaVu Sans"/>
                <a:ea typeface="DejaVu Sans"/>
                <a:cs typeface="DejaVu Sans"/>
              </a:defRPr>
            </a:lvl2pPr>
            <a:lvl3pPr>
              <a:defRPr sz="1875" b="0">
                <a:solidFill>
                  <a:srgbClr val="52636F"/>
                </a:solidFill>
                <a:latin typeface="DejaVu Sans"/>
                <a:ea typeface="DejaVu Sans"/>
                <a:cs typeface="DejaVu Sans"/>
              </a:defRPr>
            </a:lvl3pPr>
            <a:lvl4pPr>
              <a:defRPr sz="1875" b="0">
                <a:solidFill>
                  <a:srgbClr val="52636F"/>
                </a:solidFill>
                <a:latin typeface="DejaVu Sans"/>
                <a:ea typeface="DejaVu Sans"/>
                <a:cs typeface="DejaVu Sans"/>
              </a:defRPr>
            </a:lvl4pPr>
            <a:lvl5pPr>
              <a:defRPr sz="1875" b="0">
                <a:solidFill>
                  <a:srgbClr val="52636F"/>
                </a:solidFill>
                <a:latin typeface="DejaVu Sans"/>
                <a:ea typeface="DejaVu Sans"/>
                <a:cs typeface="DejaVu Sans"/>
              </a:defRPr>
            </a:lvl5pPr>
            <a:lvl6pPr>
              <a:defRPr sz="1875" b="0">
                <a:solidFill>
                  <a:srgbClr val="52636F"/>
                </a:solidFill>
                <a:latin typeface="DejaVu Sans"/>
                <a:ea typeface="DejaVu Sans"/>
                <a:cs typeface="DejaVu Sans"/>
              </a:defRPr>
            </a:lvl6pPr>
            <a:lvl7pPr>
              <a:defRPr sz="1875" b="0">
                <a:solidFill>
                  <a:srgbClr val="52636F"/>
                </a:solidFill>
                <a:latin typeface="DejaVu Sans"/>
                <a:ea typeface="DejaVu Sans"/>
                <a:cs typeface="DejaVu Sans"/>
              </a:defRPr>
            </a:lvl7pPr>
            <a:lvl8pPr>
              <a:defRPr sz="1875" b="0">
                <a:solidFill>
                  <a:srgbClr val="52636F"/>
                </a:solidFill>
                <a:latin typeface="DejaVu Sans"/>
                <a:ea typeface="DejaVu Sans"/>
                <a:cs typeface="DejaVu Sans"/>
              </a:defRPr>
            </a:lvl8pPr>
            <a:lvl9pPr>
              <a:defRPr sz="1875" b="0">
                <a:solidFill>
                  <a:srgbClr val="52636F"/>
                </a:solidFill>
                <a:latin typeface="DejaVu Sans"/>
                <a:ea typeface="DejaVu Sans"/>
                <a:cs typeface="DejaVu Sans"/>
              </a:defRPr>
            </a:lvl9pPr>
          </a:lstStyle>
          <a:p>
            <a:pPr>
              <a:defRPr sz="1875" b="0">
                <a:solidFill>
                  <a:srgbClr val="52636F"/>
                </a:solidFill>
                <a:latin typeface="DejaVu Sans"/>
                <a:ea typeface="DejaVu Sans"/>
                <a:cs typeface="DejaVu Sans"/>
              </a:defRPr>
            </a:pPr>
            <a:r>
              <a:rPr sz="1875" b="0">
                <a:solidFill>
                  <a:srgbClr val="52636F"/>
                </a:solidFill>
                <a:latin typeface="DejaVu Sans"/>
                <a:ea typeface="DejaVu Sans"/>
                <a:cs typeface="DejaVu Sans"/>
              </a:rPr>
              <a:t>Test: 20.488 kunjungan. Tidak ada tuning berdasarkan hasil test.</a:t>
            </a:r>
          </a:p>
        </p:txBody>
      </p:sp>
    </p:spTree>
    <p:extLst>
      <p:ext uri="{BB962C8B-B14F-4D97-AF65-F5344CB8AC3E}">
        <p14:creationId xmlns:p14="http://schemas.microsoft.com/office/powerpoint/2010/main" val="442962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B98E717-BF34-489B-A0C3-71AC94DA6DDA}"/>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Tambahan deteksi disertai false positive</a:t>
            </a:r>
          </a:p>
        </p:txBody>
      </p:sp>
      <p:sp>
        <p:nvSpPr>
          <p:cNvPr id="2" name="Rectangle 1">
            <a:extLst>
              <a:ext uri="{FF2B5EF4-FFF2-40B4-BE49-F238E27FC236}">
                <a16:creationId xmlns:a16="http://schemas.microsoft.com/office/drawing/2014/main" id="{14CA0DFF-EABC-4772-95A1-03B25493651E}"/>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10.  Mitra </a:t>
            </a:r>
            <a:r>
              <a:rPr sz="1275" b="0" dirty="0" err="1">
                <a:solidFill>
                  <a:srgbClr val="52636F"/>
                </a:solidFill>
                <a:latin typeface="DejaVu Sans"/>
                <a:ea typeface="DejaVu Sans"/>
                <a:cs typeface="DejaVu Sans"/>
              </a:rPr>
              <a:t>Istiar</a:t>
            </a:r>
            <a:r>
              <a:rPr sz="1275" b="0" dirty="0">
                <a:solidFill>
                  <a:srgbClr val="52636F"/>
                </a:solidFill>
                <a:latin typeface="DejaVu Sans"/>
                <a:ea typeface="DejaVu Sans"/>
                <a:cs typeface="DejaVu Sans"/>
              </a:rPr>
              <a:t> </a:t>
            </a:r>
            <a:r>
              <a:rPr sz="1275" b="0" dirty="0" err="1">
                <a:solidFill>
                  <a:srgbClr val="52636F"/>
                </a:solidFill>
                <a:latin typeface="DejaVu Sans"/>
                <a:ea typeface="DejaVu Sans"/>
                <a:cs typeface="DejaVu Sans"/>
              </a:rPr>
              <a:t>Wardhana</a:t>
            </a:r>
            <a:endParaRPr sz="1275" b="0" dirty="0">
              <a:solidFill>
                <a:srgbClr val="52636F"/>
              </a:solidFill>
              <a:latin typeface="DejaVu Sans"/>
              <a:ea typeface="DejaVu Sans"/>
              <a:cs typeface="DejaVu Sans"/>
            </a:endParaRPr>
          </a:p>
        </p:txBody>
      </p:sp>
      <p:graphicFrame>
        <p:nvGraphicFramePr>
          <p:cNvPr id="3" name="Table 2">
            <a:extLst>
              <a:ext uri="{FF2B5EF4-FFF2-40B4-BE49-F238E27FC236}">
                <a16:creationId xmlns:a16="http://schemas.microsoft.com/office/drawing/2014/main" id="{0C496052-5051-436D-8114-90E170EC2856}"/>
              </a:ext>
            </a:extLst>
          </p:cNvPr>
          <p:cNvGraphicFramePr/>
          <p:nvPr/>
        </p:nvGraphicFramePr>
        <p:xfrm>
          <a:off x="609600" y="1714500"/>
          <a:ext cx="7524750" cy="3253740"/>
        </p:xfrm>
        <a:graphic>
          <a:graphicData uri="http://schemas.openxmlformats.org/drawingml/2006/table">
            <a:tbl>
              <a:tblPr/>
              <a:tblGrid>
                <a:gridCol w="3429000">
                  <a:extLst>
                    <a:ext uri="{9D8B030D-6E8A-4147-A177-3AD203B41FA5}">
                      <a16:colId xmlns:a16="http://schemas.microsoft.com/office/drawing/2014/main" val="20000"/>
                    </a:ext>
                  </a:extLst>
                </a:gridCol>
                <a:gridCol w="2047875">
                  <a:extLst>
                    <a:ext uri="{9D8B030D-6E8A-4147-A177-3AD203B41FA5}">
                      <a16:colId xmlns:a16="http://schemas.microsoft.com/office/drawing/2014/main" val="20001"/>
                    </a:ext>
                  </a:extLst>
                </a:gridCol>
                <a:gridCol w="2047875">
                  <a:extLst>
                    <a:ext uri="{9D8B030D-6E8A-4147-A177-3AD203B41FA5}">
                      <a16:colId xmlns:a16="http://schemas.microsoft.com/office/drawing/2014/main" val="20002"/>
                    </a:ext>
                  </a:extLst>
                </a:gridCol>
              </a:tblGrid>
              <a:tr h="647700">
                <a:tc>
                  <a:txBody>
                    <a:bodyPr/>
                    <a:lstStyle/>
                    <a:p>
                      <a:r>
                        <a:rPr sz="1875" b="1">
                          <a:solidFill>
                            <a:srgbClr val="FFFFFF"/>
                          </a:solidFill>
                          <a:latin typeface="DejaVu Sans"/>
                          <a:ea typeface="DejaVu Sans"/>
                          <a:cs typeface="DejaVu Sans"/>
                        </a:rPr>
                        <a:t>Hasil prediksi</a:t>
                      </a:r>
                    </a:p>
                  </a:txBody>
                  <a:tcPr anchor="ctr">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875" b="1">
                          <a:solidFill>
                            <a:srgbClr val="FFFFFF"/>
                          </a:solidFill>
                          <a:latin typeface="DejaVu Sans"/>
                          <a:ea typeface="DejaVu Sans"/>
                          <a:cs typeface="DejaVu Sans"/>
                        </a:rPr>
                        <a:t>Baseline</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875" b="1">
                          <a:solidFill>
                            <a:srgbClr val="FFFFFF"/>
                          </a:solidFill>
                          <a:latin typeface="DejaVu Sans"/>
                          <a:ea typeface="DejaVu Sans"/>
                          <a:cs typeface="DejaVu Sans"/>
                        </a:rPr>
                        <a:t>Pipeline penuh</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extLst>
                  <a:ext uri="{0D108BD9-81ED-4DB2-BD59-A6C34878D82A}">
                    <a16:rowId xmlns:a16="http://schemas.microsoft.com/office/drawing/2014/main" val="10000"/>
                  </a:ext>
                </a:extLst>
              </a:tr>
              <a:tr h="647700">
                <a:tc>
                  <a:txBody>
                    <a:bodyPr/>
                    <a:lstStyle/>
                    <a:p>
                      <a:r>
                        <a:rPr sz="1875" b="0">
                          <a:solidFill>
                            <a:srgbClr val="15364A"/>
                          </a:solidFill>
                          <a:latin typeface="DejaVu Sans"/>
                          <a:ea typeface="DejaVu Sans"/>
                          <a:cs typeface="DejaVu Sans"/>
                        </a:rPr>
                        <a:t>True positive</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1.444</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1.523</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extLst>
                  <a:ext uri="{0D108BD9-81ED-4DB2-BD59-A6C34878D82A}">
                    <a16:rowId xmlns:a16="http://schemas.microsoft.com/office/drawing/2014/main" val="10001"/>
                  </a:ext>
                </a:extLst>
              </a:tr>
              <a:tr h="647700">
                <a:tc>
                  <a:txBody>
                    <a:bodyPr/>
                    <a:lstStyle/>
                    <a:p>
                      <a:r>
                        <a:rPr sz="1875" b="0">
                          <a:solidFill>
                            <a:srgbClr val="15364A"/>
                          </a:solidFill>
                          <a:latin typeface="DejaVu Sans"/>
                          <a:ea typeface="DejaVu Sans"/>
                          <a:cs typeface="DejaVu Sans"/>
                        </a:rPr>
                        <a:t>False negative</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75" b="0">
                          <a:solidFill>
                            <a:srgbClr val="15364A"/>
                          </a:solidFill>
                          <a:latin typeface="DejaVu Sans"/>
                          <a:ea typeface="DejaVu Sans"/>
                          <a:cs typeface="DejaVu Sans"/>
                        </a:rPr>
                        <a:t>923</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75" b="0">
                          <a:solidFill>
                            <a:srgbClr val="15364A"/>
                          </a:solidFill>
                          <a:latin typeface="DejaVu Sans"/>
                          <a:ea typeface="DejaVu Sans"/>
                          <a:cs typeface="DejaVu Sans"/>
                        </a:rPr>
                        <a:t>844</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extLst>
                  <a:ext uri="{0D108BD9-81ED-4DB2-BD59-A6C34878D82A}">
                    <a16:rowId xmlns:a16="http://schemas.microsoft.com/office/drawing/2014/main" val="10002"/>
                  </a:ext>
                </a:extLst>
              </a:tr>
              <a:tr h="647700">
                <a:tc>
                  <a:txBody>
                    <a:bodyPr/>
                    <a:lstStyle/>
                    <a:p>
                      <a:r>
                        <a:rPr sz="1875" b="0">
                          <a:solidFill>
                            <a:srgbClr val="15364A"/>
                          </a:solidFill>
                          <a:latin typeface="DejaVu Sans"/>
                          <a:ea typeface="DejaVu Sans"/>
                          <a:cs typeface="DejaVu Sans"/>
                        </a:rPr>
                        <a:t>False positive</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6.770</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875" b="0">
                          <a:solidFill>
                            <a:srgbClr val="15364A"/>
                          </a:solidFill>
                          <a:latin typeface="DejaVu Sans"/>
                          <a:ea typeface="DejaVu Sans"/>
                          <a:cs typeface="DejaVu Sans"/>
                        </a:rPr>
                        <a:t>7.357</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extLst>
                  <a:ext uri="{0D108BD9-81ED-4DB2-BD59-A6C34878D82A}">
                    <a16:rowId xmlns:a16="http://schemas.microsoft.com/office/drawing/2014/main" val="10003"/>
                  </a:ext>
                </a:extLst>
              </a:tr>
              <a:tr h="647700">
                <a:tc>
                  <a:txBody>
                    <a:bodyPr/>
                    <a:lstStyle/>
                    <a:p>
                      <a:r>
                        <a:rPr sz="1875" b="0">
                          <a:solidFill>
                            <a:srgbClr val="15364A"/>
                          </a:solidFill>
                          <a:latin typeface="DejaVu Sans"/>
                          <a:ea typeface="DejaVu Sans"/>
                          <a:cs typeface="DejaVu Sans"/>
                        </a:rPr>
                        <a:t>True negative</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75" b="0">
                          <a:solidFill>
                            <a:srgbClr val="15364A"/>
                          </a:solidFill>
                          <a:latin typeface="DejaVu Sans"/>
                          <a:ea typeface="DejaVu Sans"/>
                          <a:cs typeface="DejaVu Sans"/>
                        </a:rPr>
                        <a:t>11.351</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875" b="0">
                          <a:solidFill>
                            <a:srgbClr val="15364A"/>
                          </a:solidFill>
                          <a:latin typeface="DejaVu Sans"/>
                          <a:ea typeface="DejaVu Sans"/>
                          <a:cs typeface="DejaVu Sans"/>
                        </a:rPr>
                        <a:t>10.764</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E0C25977-5CF0-4664-9BF5-377E48D099CD}"/>
              </a:ext>
            </a:extLst>
          </p:cNvPr>
          <p:cNvSpPr>
            <a:spLocks noGrp="1"/>
          </p:cNvSpPr>
          <p:nvPr/>
        </p:nvSpPr>
        <p:spPr>
          <a:xfrm>
            <a:off x="8763000" y="1952625"/>
            <a:ext cx="2857500" cy="857250"/>
          </a:xfrm>
          <a:prstGeom prst="rect">
            <a:avLst/>
          </a:prstGeom>
          <a:noFill/>
          <a:ln w="0">
            <a:noFill/>
            <a:prstDash val="solid"/>
          </a:ln>
        </p:spPr>
        <p:txBody>
          <a:bodyPr lIns="0" tIns="0" rIns="0" bIns="0" anchor="t"/>
          <a:lstStyle>
            <a:defPPr>
              <a:defRPr sz="5100" b="1">
                <a:solidFill>
                  <a:srgbClr val="087F8C"/>
                </a:solidFill>
                <a:latin typeface="DejaVu Sans"/>
                <a:ea typeface="DejaVu Sans"/>
                <a:cs typeface="DejaVu Sans"/>
              </a:defRPr>
            </a:defPPr>
            <a:lvl1pPr>
              <a:defRPr sz="5100" b="1">
                <a:solidFill>
                  <a:srgbClr val="087F8C"/>
                </a:solidFill>
                <a:latin typeface="DejaVu Sans"/>
                <a:ea typeface="DejaVu Sans"/>
                <a:cs typeface="DejaVu Sans"/>
              </a:defRPr>
            </a:lvl1pPr>
            <a:lvl2pPr>
              <a:defRPr sz="5100" b="1">
                <a:solidFill>
                  <a:srgbClr val="087F8C"/>
                </a:solidFill>
                <a:latin typeface="DejaVu Sans"/>
                <a:ea typeface="DejaVu Sans"/>
                <a:cs typeface="DejaVu Sans"/>
              </a:defRPr>
            </a:lvl2pPr>
            <a:lvl3pPr>
              <a:defRPr sz="5100" b="1">
                <a:solidFill>
                  <a:srgbClr val="087F8C"/>
                </a:solidFill>
                <a:latin typeface="DejaVu Sans"/>
                <a:ea typeface="DejaVu Sans"/>
                <a:cs typeface="DejaVu Sans"/>
              </a:defRPr>
            </a:lvl3pPr>
            <a:lvl4pPr>
              <a:defRPr sz="5100" b="1">
                <a:solidFill>
                  <a:srgbClr val="087F8C"/>
                </a:solidFill>
                <a:latin typeface="DejaVu Sans"/>
                <a:ea typeface="DejaVu Sans"/>
                <a:cs typeface="DejaVu Sans"/>
              </a:defRPr>
            </a:lvl4pPr>
            <a:lvl5pPr>
              <a:defRPr sz="5100" b="1">
                <a:solidFill>
                  <a:srgbClr val="087F8C"/>
                </a:solidFill>
                <a:latin typeface="DejaVu Sans"/>
                <a:ea typeface="DejaVu Sans"/>
                <a:cs typeface="DejaVu Sans"/>
              </a:defRPr>
            </a:lvl5pPr>
            <a:lvl6pPr>
              <a:defRPr sz="5100" b="1">
                <a:solidFill>
                  <a:srgbClr val="087F8C"/>
                </a:solidFill>
                <a:latin typeface="DejaVu Sans"/>
                <a:ea typeface="DejaVu Sans"/>
                <a:cs typeface="DejaVu Sans"/>
              </a:defRPr>
            </a:lvl6pPr>
            <a:lvl7pPr>
              <a:defRPr sz="5100" b="1">
                <a:solidFill>
                  <a:srgbClr val="087F8C"/>
                </a:solidFill>
                <a:latin typeface="DejaVu Sans"/>
                <a:ea typeface="DejaVu Sans"/>
                <a:cs typeface="DejaVu Sans"/>
              </a:defRPr>
            </a:lvl7pPr>
            <a:lvl8pPr>
              <a:defRPr sz="5100" b="1">
                <a:solidFill>
                  <a:srgbClr val="087F8C"/>
                </a:solidFill>
                <a:latin typeface="DejaVu Sans"/>
                <a:ea typeface="DejaVu Sans"/>
                <a:cs typeface="DejaVu Sans"/>
              </a:defRPr>
            </a:lvl8pPr>
            <a:lvl9pPr>
              <a:defRPr sz="5100" b="1">
                <a:solidFill>
                  <a:srgbClr val="087F8C"/>
                </a:solidFill>
                <a:latin typeface="DejaVu Sans"/>
                <a:ea typeface="DejaVu Sans"/>
                <a:cs typeface="DejaVu Sans"/>
              </a:defRPr>
            </a:lvl9pPr>
          </a:lstStyle>
          <a:p>
            <a:pPr>
              <a:defRPr sz="5100" b="1">
                <a:solidFill>
                  <a:srgbClr val="087F8C"/>
                </a:solidFill>
                <a:latin typeface="DejaVu Sans"/>
                <a:ea typeface="DejaVu Sans"/>
                <a:cs typeface="DejaVu Sans"/>
              </a:defRPr>
            </a:pPr>
            <a:r>
              <a:rPr sz="5100" b="1">
                <a:solidFill>
                  <a:srgbClr val="087F8C"/>
                </a:solidFill>
                <a:latin typeface="DejaVu Sans"/>
                <a:ea typeface="DejaVu Sans"/>
                <a:cs typeface="DejaVu Sans"/>
              </a:rPr>
              <a:t>79</a:t>
            </a:r>
          </a:p>
        </p:txBody>
      </p:sp>
      <p:sp>
        <p:nvSpPr>
          <p:cNvPr id="5" name="Rectangle 4">
            <a:extLst>
              <a:ext uri="{FF2B5EF4-FFF2-40B4-BE49-F238E27FC236}">
                <a16:creationId xmlns:a16="http://schemas.microsoft.com/office/drawing/2014/main" id="{9F2166E7-E0A2-42C7-AC9F-0B389D5020F3}"/>
              </a:ext>
            </a:extLst>
          </p:cNvPr>
          <p:cNvSpPr>
            <a:spLocks noGrp="1"/>
          </p:cNvSpPr>
          <p:nvPr/>
        </p:nvSpPr>
        <p:spPr>
          <a:xfrm>
            <a:off x="8763000" y="2857500"/>
            <a:ext cx="2857500" cy="904875"/>
          </a:xfrm>
          <a:prstGeom prst="rect">
            <a:avLst/>
          </a:prstGeom>
          <a:noFill/>
          <a:ln w="0">
            <a:noFill/>
            <a:prstDash val="solid"/>
          </a:ln>
        </p:spPr>
        <p:txBody>
          <a:bodyPr lIns="0" tIns="0" rIns="0" bIns="0" anchor="t"/>
          <a:lstStyle>
            <a:defPPr>
              <a:defRPr sz="2025" b="0">
                <a:solidFill>
                  <a:srgbClr val="52636F"/>
                </a:solidFill>
                <a:latin typeface="DejaVu Sans"/>
                <a:ea typeface="DejaVu Sans"/>
                <a:cs typeface="DejaVu Sans"/>
              </a:defRPr>
            </a:defPPr>
            <a:lvl1pPr>
              <a:defRPr sz="2025" b="0">
                <a:solidFill>
                  <a:srgbClr val="52636F"/>
                </a:solidFill>
                <a:latin typeface="DejaVu Sans"/>
                <a:ea typeface="DejaVu Sans"/>
                <a:cs typeface="DejaVu Sans"/>
              </a:defRPr>
            </a:lvl1pPr>
            <a:lvl2pPr>
              <a:defRPr sz="2025" b="0">
                <a:solidFill>
                  <a:srgbClr val="52636F"/>
                </a:solidFill>
                <a:latin typeface="DejaVu Sans"/>
                <a:ea typeface="DejaVu Sans"/>
                <a:cs typeface="DejaVu Sans"/>
              </a:defRPr>
            </a:lvl2pPr>
            <a:lvl3pPr>
              <a:defRPr sz="2025" b="0">
                <a:solidFill>
                  <a:srgbClr val="52636F"/>
                </a:solidFill>
                <a:latin typeface="DejaVu Sans"/>
                <a:ea typeface="DejaVu Sans"/>
                <a:cs typeface="DejaVu Sans"/>
              </a:defRPr>
            </a:lvl3pPr>
            <a:lvl4pPr>
              <a:defRPr sz="2025" b="0">
                <a:solidFill>
                  <a:srgbClr val="52636F"/>
                </a:solidFill>
                <a:latin typeface="DejaVu Sans"/>
                <a:ea typeface="DejaVu Sans"/>
                <a:cs typeface="DejaVu Sans"/>
              </a:defRPr>
            </a:lvl4pPr>
            <a:lvl5pPr>
              <a:defRPr sz="2025" b="0">
                <a:solidFill>
                  <a:srgbClr val="52636F"/>
                </a:solidFill>
                <a:latin typeface="DejaVu Sans"/>
                <a:ea typeface="DejaVu Sans"/>
                <a:cs typeface="DejaVu Sans"/>
              </a:defRPr>
            </a:lvl5pPr>
            <a:lvl6pPr>
              <a:defRPr sz="2025" b="0">
                <a:solidFill>
                  <a:srgbClr val="52636F"/>
                </a:solidFill>
                <a:latin typeface="DejaVu Sans"/>
                <a:ea typeface="DejaVu Sans"/>
                <a:cs typeface="DejaVu Sans"/>
              </a:defRPr>
            </a:lvl6pPr>
            <a:lvl7pPr>
              <a:defRPr sz="2025" b="0">
                <a:solidFill>
                  <a:srgbClr val="52636F"/>
                </a:solidFill>
                <a:latin typeface="DejaVu Sans"/>
                <a:ea typeface="DejaVu Sans"/>
                <a:cs typeface="DejaVu Sans"/>
              </a:defRPr>
            </a:lvl7pPr>
            <a:lvl8pPr>
              <a:defRPr sz="2025" b="0">
                <a:solidFill>
                  <a:srgbClr val="52636F"/>
                </a:solidFill>
                <a:latin typeface="DejaVu Sans"/>
                <a:ea typeface="DejaVu Sans"/>
                <a:cs typeface="DejaVu Sans"/>
              </a:defRPr>
            </a:lvl8pPr>
            <a:lvl9pPr>
              <a:defRPr sz="2025" b="0">
                <a:solidFill>
                  <a:srgbClr val="52636F"/>
                </a:solidFill>
                <a:latin typeface="DejaVu Sans"/>
                <a:ea typeface="DejaVu Sans"/>
                <a:cs typeface="DejaVu Sans"/>
              </a:defRPr>
            </a:lvl9pPr>
          </a:lstStyle>
          <a:p>
            <a:pPr>
              <a:defRPr sz="2025" b="0">
                <a:solidFill>
                  <a:srgbClr val="52636F"/>
                </a:solidFill>
                <a:latin typeface="DejaVu Sans"/>
                <a:ea typeface="DejaVu Sans"/>
                <a:cs typeface="DejaVu Sans"/>
              </a:defRPr>
            </a:pPr>
            <a:r>
              <a:rPr sz="2025" b="0">
                <a:solidFill>
                  <a:srgbClr val="52636F"/>
                </a:solidFill>
                <a:latin typeface="DejaVu Sans"/>
                <a:ea typeface="DejaVu Sans"/>
                <a:cs typeface="DejaVu Sans"/>
              </a:rPr>
              <a:t>tambahan kasus</a:t>
            </a:r>
          </a:p>
          <a:p>
            <a:pPr>
              <a:defRPr sz="2025" b="0">
                <a:solidFill>
                  <a:srgbClr val="52636F"/>
                </a:solidFill>
                <a:latin typeface="DejaVu Sans"/>
                <a:ea typeface="DejaVu Sans"/>
                <a:cs typeface="DejaVu Sans"/>
              </a:defRPr>
            </a:pPr>
            <a:r>
              <a:rPr sz="2025" b="0">
                <a:solidFill>
                  <a:srgbClr val="52636F"/>
                </a:solidFill>
                <a:latin typeface="DejaVu Sans"/>
                <a:ea typeface="DejaVu Sans"/>
                <a:cs typeface="DejaVu Sans"/>
              </a:rPr>
              <a:t>positif terdeteksi</a:t>
            </a:r>
          </a:p>
        </p:txBody>
      </p:sp>
      <p:sp>
        <p:nvSpPr>
          <p:cNvPr id="6" name="Rectangle 5">
            <a:extLst>
              <a:ext uri="{FF2B5EF4-FFF2-40B4-BE49-F238E27FC236}">
                <a16:creationId xmlns:a16="http://schemas.microsoft.com/office/drawing/2014/main" id="{5731148B-6600-4776-BA51-FD81339B05FF}"/>
              </a:ext>
            </a:extLst>
          </p:cNvPr>
          <p:cNvSpPr>
            <a:spLocks noGrp="1"/>
          </p:cNvSpPr>
          <p:nvPr/>
        </p:nvSpPr>
        <p:spPr>
          <a:xfrm>
            <a:off x="8763000" y="4000500"/>
            <a:ext cx="2857500" cy="857250"/>
          </a:xfrm>
          <a:prstGeom prst="rect">
            <a:avLst/>
          </a:prstGeom>
          <a:noFill/>
          <a:ln w="0">
            <a:noFill/>
            <a:prstDash val="solid"/>
          </a:ln>
        </p:spPr>
        <p:txBody>
          <a:bodyPr lIns="0" tIns="0" rIns="0" bIns="0" anchor="t"/>
          <a:lstStyle>
            <a:defPPr>
              <a:defRPr sz="5100" b="1">
                <a:solidFill>
                  <a:srgbClr val="C56A29"/>
                </a:solidFill>
                <a:latin typeface="DejaVu Sans"/>
                <a:ea typeface="DejaVu Sans"/>
                <a:cs typeface="DejaVu Sans"/>
              </a:defRPr>
            </a:defPPr>
            <a:lvl1pPr>
              <a:defRPr sz="5100" b="1">
                <a:solidFill>
                  <a:srgbClr val="C56A29"/>
                </a:solidFill>
                <a:latin typeface="DejaVu Sans"/>
                <a:ea typeface="DejaVu Sans"/>
                <a:cs typeface="DejaVu Sans"/>
              </a:defRPr>
            </a:lvl1pPr>
            <a:lvl2pPr>
              <a:defRPr sz="5100" b="1">
                <a:solidFill>
                  <a:srgbClr val="C56A29"/>
                </a:solidFill>
                <a:latin typeface="DejaVu Sans"/>
                <a:ea typeface="DejaVu Sans"/>
                <a:cs typeface="DejaVu Sans"/>
              </a:defRPr>
            </a:lvl2pPr>
            <a:lvl3pPr>
              <a:defRPr sz="5100" b="1">
                <a:solidFill>
                  <a:srgbClr val="C56A29"/>
                </a:solidFill>
                <a:latin typeface="DejaVu Sans"/>
                <a:ea typeface="DejaVu Sans"/>
                <a:cs typeface="DejaVu Sans"/>
              </a:defRPr>
            </a:lvl3pPr>
            <a:lvl4pPr>
              <a:defRPr sz="5100" b="1">
                <a:solidFill>
                  <a:srgbClr val="C56A29"/>
                </a:solidFill>
                <a:latin typeface="DejaVu Sans"/>
                <a:ea typeface="DejaVu Sans"/>
                <a:cs typeface="DejaVu Sans"/>
              </a:defRPr>
            </a:lvl4pPr>
            <a:lvl5pPr>
              <a:defRPr sz="5100" b="1">
                <a:solidFill>
                  <a:srgbClr val="C56A29"/>
                </a:solidFill>
                <a:latin typeface="DejaVu Sans"/>
                <a:ea typeface="DejaVu Sans"/>
                <a:cs typeface="DejaVu Sans"/>
              </a:defRPr>
            </a:lvl5pPr>
            <a:lvl6pPr>
              <a:defRPr sz="5100" b="1">
                <a:solidFill>
                  <a:srgbClr val="C56A29"/>
                </a:solidFill>
                <a:latin typeface="DejaVu Sans"/>
                <a:ea typeface="DejaVu Sans"/>
                <a:cs typeface="DejaVu Sans"/>
              </a:defRPr>
            </a:lvl6pPr>
            <a:lvl7pPr>
              <a:defRPr sz="5100" b="1">
                <a:solidFill>
                  <a:srgbClr val="C56A29"/>
                </a:solidFill>
                <a:latin typeface="DejaVu Sans"/>
                <a:ea typeface="DejaVu Sans"/>
                <a:cs typeface="DejaVu Sans"/>
              </a:defRPr>
            </a:lvl7pPr>
            <a:lvl8pPr>
              <a:defRPr sz="5100" b="1">
                <a:solidFill>
                  <a:srgbClr val="C56A29"/>
                </a:solidFill>
                <a:latin typeface="DejaVu Sans"/>
                <a:ea typeface="DejaVu Sans"/>
                <a:cs typeface="DejaVu Sans"/>
              </a:defRPr>
            </a:lvl8pPr>
            <a:lvl9pPr>
              <a:defRPr sz="5100" b="1">
                <a:solidFill>
                  <a:srgbClr val="C56A29"/>
                </a:solidFill>
                <a:latin typeface="DejaVu Sans"/>
                <a:ea typeface="DejaVu Sans"/>
                <a:cs typeface="DejaVu Sans"/>
              </a:defRPr>
            </a:lvl9pPr>
          </a:lstStyle>
          <a:p>
            <a:pPr>
              <a:defRPr sz="5100" b="1">
                <a:solidFill>
                  <a:srgbClr val="C56A29"/>
                </a:solidFill>
                <a:latin typeface="DejaVu Sans"/>
                <a:ea typeface="DejaVu Sans"/>
                <a:cs typeface="DejaVu Sans"/>
              </a:defRPr>
            </a:pPr>
            <a:r>
              <a:rPr sz="5100" b="1">
                <a:solidFill>
                  <a:srgbClr val="C56A29"/>
                </a:solidFill>
                <a:latin typeface="DejaVu Sans"/>
                <a:ea typeface="DejaVu Sans"/>
                <a:cs typeface="DejaVu Sans"/>
              </a:rPr>
              <a:t>587</a:t>
            </a:r>
          </a:p>
        </p:txBody>
      </p:sp>
      <p:sp>
        <p:nvSpPr>
          <p:cNvPr id="7" name="Rectangle 6">
            <a:extLst>
              <a:ext uri="{FF2B5EF4-FFF2-40B4-BE49-F238E27FC236}">
                <a16:creationId xmlns:a16="http://schemas.microsoft.com/office/drawing/2014/main" id="{C8913EFB-7085-4FAA-A701-E003C7D1E29F}"/>
              </a:ext>
            </a:extLst>
          </p:cNvPr>
          <p:cNvSpPr>
            <a:spLocks noGrp="1"/>
          </p:cNvSpPr>
          <p:nvPr/>
        </p:nvSpPr>
        <p:spPr>
          <a:xfrm>
            <a:off x="8763000" y="4857750"/>
            <a:ext cx="2857500" cy="809625"/>
          </a:xfrm>
          <a:prstGeom prst="rect">
            <a:avLst/>
          </a:prstGeom>
          <a:noFill/>
          <a:ln w="0">
            <a:noFill/>
            <a:prstDash val="solid"/>
          </a:ln>
        </p:spPr>
        <p:txBody>
          <a:bodyPr lIns="0" tIns="0" rIns="0" bIns="0" anchor="t"/>
          <a:lstStyle>
            <a:defPPr>
              <a:defRPr sz="2025" b="0">
                <a:solidFill>
                  <a:srgbClr val="52636F"/>
                </a:solidFill>
                <a:latin typeface="DejaVu Sans"/>
                <a:ea typeface="DejaVu Sans"/>
                <a:cs typeface="DejaVu Sans"/>
              </a:defRPr>
            </a:defPPr>
            <a:lvl1pPr>
              <a:defRPr sz="2025" b="0">
                <a:solidFill>
                  <a:srgbClr val="52636F"/>
                </a:solidFill>
                <a:latin typeface="DejaVu Sans"/>
                <a:ea typeface="DejaVu Sans"/>
                <a:cs typeface="DejaVu Sans"/>
              </a:defRPr>
            </a:lvl1pPr>
            <a:lvl2pPr>
              <a:defRPr sz="2025" b="0">
                <a:solidFill>
                  <a:srgbClr val="52636F"/>
                </a:solidFill>
                <a:latin typeface="DejaVu Sans"/>
                <a:ea typeface="DejaVu Sans"/>
                <a:cs typeface="DejaVu Sans"/>
              </a:defRPr>
            </a:lvl2pPr>
            <a:lvl3pPr>
              <a:defRPr sz="2025" b="0">
                <a:solidFill>
                  <a:srgbClr val="52636F"/>
                </a:solidFill>
                <a:latin typeface="DejaVu Sans"/>
                <a:ea typeface="DejaVu Sans"/>
                <a:cs typeface="DejaVu Sans"/>
              </a:defRPr>
            </a:lvl3pPr>
            <a:lvl4pPr>
              <a:defRPr sz="2025" b="0">
                <a:solidFill>
                  <a:srgbClr val="52636F"/>
                </a:solidFill>
                <a:latin typeface="DejaVu Sans"/>
                <a:ea typeface="DejaVu Sans"/>
                <a:cs typeface="DejaVu Sans"/>
              </a:defRPr>
            </a:lvl4pPr>
            <a:lvl5pPr>
              <a:defRPr sz="2025" b="0">
                <a:solidFill>
                  <a:srgbClr val="52636F"/>
                </a:solidFill>
                <a:latin typeface="DejaVu Sans"/>
                <a:ea typeface="DejaVu Sans"/>
                <a:cs typeface="DejaVu Sans"/>
              </a:defRPr>
            </a:lvl5pPr>
            <a:lvl6pPr>
              <a:defRPr sz="2025" b="0">
                <a:solidFill>
                  <a:srgbClr val="52636F"/>
                </a:solidFill>
                <a:latin typeface="DejaVu Sans"/>
                <a:ea typeface="DejaVu Sans"/>
                <a:cs typeface="DejaVu Sans"/>
              </a:defRPr>
            </a:lvl6pPr>
            <a:lvl7pPr>
              <a:defRPr sz="2025" b="0">
                <a:solidFill>
                  <a:srgbClr val="52636F"/>
                </a:solidFill>
                <a:latin typeface="DejaVu Sans"/>
                <a:ea typeface="DejaVu Sans"/>
                <a:cs typeface="DejaVu Sans"/>
              </a:defRPr>
            </a:lvl7pPr>
            <a:lvl8pPr>
              <a:defRPr sz="2025" b="0">
                <a:solidFill>
                  <a:srgbClr val="52636F"/>
                </a:solidFill>
                <a:latin typeface="DejaVu Sans"/>
                <a:ea typeface="DejaVu Sans"/>
                <a:cs typeface="DejaVu Sans"/>
              </a:defRPr>
            </a:lvl8pPr>
            <a:lvl9pPr>
              <a:defRPr sz="2025" b="0">
                <a:solidFill>
                  <a:srgbClr val="52636F"/>
                </a:solidFill>
                <a:latin typeface="DejaVu Sans"/>
                <a:ea typeface="DejaVu Sans"/>
                <a:cs typeface="DejaVu Sans"/>
              </a:defRPr>
            </a:lvl9pPr>
          </a:lstStyle>
          <a:p>
            <a:pPr>
              <a:defRPr sz="2025" b="0">
                <a:solidFill>
                  <a:srgbClr val="52636F"/>
                </a:solidFill>
                <a:latin typeface="DejaVu Sans"/>
                <a:ea typeface="DejaVu Sans"/>
                <a:cs typeface="DejaVu Sans"/>
              </a:defRPr>
            </a:pPr>
            <a:r>
              <a:rPr sz="2025" b="0">
                <a:solidFill>
                  <a:srgbClr val="52636F"/>
                </a:solidFill>
                <a:latin typeface="DejaVu Sans"/>
                <a:ea typeface="DejaVu Sans"/>
                <a:cs typeface="DejaVu Sans"/>
              </a:rPr>
              <a:t>tambahan</a:t>
            </a:r>
          </a:p>
          <a:p>
            <a:pPr>
              <a:defRPr sz="2025" b="0">
                <a:solidFill>
                  <a:srgbClr val="52636F"/>
                </a:solidFill>
                <a:latin typeface="DejaVu Sans"/>
                <a:ea typeface="DejaVu Sans"/>
                <a:cs typeface="DejaVu Sans"/>
              </a:defRPr>
            </a:pPr>
            <a:r>
              <a:rPr sz="2025" b="0">
                <a:solidFill>
                  <a:srgbClr val="52636F"/>
                </a:solidFill>
                <a:latin typeface="DejaVu Sans"/>
                <a:ea typeface="DejaVu Sans"/>
                <a:cs typeface="DejaVu Sans"/>
              </a:rPr>
              <a:t>false positive</a:t>
            </a:r>
          </a:p>
        </p:txBody>
      </p:sp>
      <p:sp>
        <p:nvSpPr>
          <p:cNvPr id="8" name="Rectangle 7">
            <a:extLst>
              <a:ext uri="{FF2B5EF4-FFF2-40B4-BE49-F238E27FC236}">
                <a16:creationId xmlns:a16="http://schemas.microsoft.com/office/drawing/2014/main" id="{E710A8D9-0CE5-4B82-95E3-F2D598895F4C}"/>
              </a:ext>
            </a:extLst>
          </p:cNvPr>
          <p:cNvSpPr>
            <a:spLocks noGrp="1"/>
          </p:cNvSpPr>
          <p:nvPr/>
        </p:nvSpPr>
        <p:spPr>
          <a:xfrm>
            <a:off x="609600" y="5381625"/>
            <a:ext cx="7524750" cy="619125"/>
          </a:xfrm>
          <a:prstGeom prst="rect">
            <a:avLst/>
          </a:prstGeom>
          <a:noFill/>
          <a:ln w="0">
            <a:noFill/>
            <a:prstDash val="solid"/>
          </a:ln>
        </p:spPr>
        <p:txBody>
          <a:bodyPr lIns="0" tIns="0" rIns="0" bIns="0" anchor="t"/>
          <a:lstStyle>
            <a:defPPr>
              <a:defRPr sz="2400" b="1">
                <a:solidFill>
                  <a:srgbClr val="15364A"/>
                </a:solidFill>
                <a:latin typeface="DejaVu Sans"/>
                <a:ea typeface="DejaVu Sans"/>
                <a:cs typeface="DejaVu Sans"/>
              </a:defRPr>
            </a:defPPr>
            <a:lvl1pPr>
              <a:defRPr sz="2400" b="1">
                <a:solidFill>
                  <a:srgbClr val="15364A"/>
                </a:solidFill>
                <a:latin typeface="DejaVu Sans"/>
                <a:ea typeface="DejaVu Sans"/>
                <a:cs typeface="DejaVu Sans"/>
              </a:defRPr>
            </a:lvl1pPr>
            <a:lvl2pPr>
              <a:defRPr sz="2400" b="1">
                <a:solidFill>
                  <a:srgbClr val="15364A"/>
                </a:solidFill>
                <a:latin typeface="DejaVu Sans"/>
                <a:ea typeface="DejaVu Sans"/>
                <a:cs typeface="DejaVu Sans"/>
              </a:defRPr>
            </a:lvl2pPr>
            <a:lvl3pPr>
              <a:defRPr sz="2400" b="1">
                <a:solidFill>
                  <a:srgbClr val="15364A"/>
                </a:solidFill>
                <a:latin typeface="DejaVu Sans"/>
                <a:ea typeface="DejaVu Sans"/>
                <a:cs typeface="DejaVu Sans"/>
              </a:defRPr>
            </a:lvl3pPr>
            <a:lvl4pPr>
              <a:defRPr sz="2400" b="1">
                <a:solidFill>
                  <a:srgbClr val="15364A"/>
                </a:solidFill>
                <a:latin typeface="DejaVu Sans"/>
                <a:ea typeface="DejaVu Sans"/>
                <a:cs typeface="DejaVu Sans"/>
              </a:defRPr>
            </a:lvl4pPr>
            <a:lvl5pPr>
              <a:defRPr sz="2400" b="1">
                <a:solidFill>
                  <a:srgbClr val="15364A"/>
                </a:solidFill>
                <a:latin typeface="DejaVu Sans"/>
                <a:ea typeface="DejaVu Sans"/>
                <a:cs typeface="DejaVu Sans"/>
              </a:defRPr>
            </a:lvl5pPr>
            <a:lvl6pPr>
              <a:defRPr sz="2400" b="1">
                <a:solidFill>
                  <a:srgbClr val="15364A"/>
                </a:solidFill>
                <a:latin typeface="DejaVu Sans"/>
                <a:ea typeface="DejaVu Sans"/>
                <a:cs typeface="DejaVu Sans"/>
              </a:defRPr>
            </a:lvl6pPr>
            <a:lvl7pPr>
              <a:defRPr sz="2400" b="1">
                <a:solidFill>
                  <a:srgbClr val="15364A"/>
                </a:solidFill>
                <a:latin typeface="DejaVu Sans"/>
                <a:ea typeface="DejaVu Sans"/>
                <a:cs typeface="DejaVu Sans"/>
              </a:defRPr>
            </a:lvl7pPr>
            <a:lvl8pPr>
              <a:defRPr sz="2400" b="1">
                <a:solidFill>
                  <a:srgbClr val="15364A"/>
                </a:solidFill>
                <a:latin typeface="DejaVu Sans"/>
                <a:ea typeface="DejaVu Sans"/>
                <a:cs typeface="DejaVu Sans"/>
              </a:defRPr>
            </a:lvl8pPr>
            <a:lvl9pPr>
              <a:defRPr sz="2400" b="1">
                <a:solidFill>
                  <a:srgbClr val="15364A"/>
                </a:solidFill>
                <a:latin typeface="DejaVu Sans"/>
                <a:ea typeface="DejaVu Sans"/>
                <a:cs typeface="DejaVu Sans"/>
              </a:defRPr>
            </a:lvl9pPr>
          </a:lstStyle>
          <a:p>
            <a:pPr>
              <a:defRPr sz="2400" b="1">
                <a:solidFill>
                  <a:srgbClr val="15364A"/>
                </a:solidFill>
                <a:latin typeface="DejaVu Sans"/>
                <a:ea typeface="DejaVu Sans"/>
                <a:cs typeface="DejaVu Sans"/>
              </a:defRPr>
            </a:pPr>
            <a:r>
              <a:rPr sz="2400" b="1">
                <a:solidFill>
                  <a:srgbClr val="15364A"/>
                </a:solidFill>
                <a:latin typeface="DejaVu Sans"/>
                <a:ea typeface="DejaVu Sans"/>
                <a:cs typeface="DejaVu Sans"/>
              </a:rPr>
              <a:t>Precision pipeline penuh: 17,15%</a:t>
            </a:r>
          </a:p>
        </p:txBody>
      </p:sp>
    </p:spTree>
    <p:extLst>
      <p:ext uri="{BB962C8B-B14F-4D97-AF65-F5344CB8AC3E}">
        <p14:creationId xmlns:p14="http://schemas.microsoft.com/office/powerpoint/2010/main" val="515098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B16B845-4890-452D-BB9B-32F894DFB25A}"/>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Q1: proporsi readmisi tidak monoton terhadap usia</a:t>
            </a:r>
          </a:p>
        </p:txBody>
      </p:sp>
      <p:sp>
        <p:nvSpPr>
          <p:cNvPr id="2" name="Rectangle 1">
            <a:extLst>
              <a:ext uri="{FF2B5EF4-FFF2-40B4-BE49-F238E27FC236}">
                <a16:creationId xmlns:a16="http://schemas.microsoft.com/office/drawing/2014/main" id="{A4C5E18D-4358-441C-860F-9FC04373FC5D}"/>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11.  Harris Imam </a:t>
            </a:r>
            <a:r>
              <a:rPr sz="1275" b="0" dirty="0" err="1">
                <a:solidFill>
                  <a:srgbClr val="52636F"/>
                </a:solidFill>
                <a:latin typeface="DejaVu Sans"/>
                <a:ea typeface="DejaVu Sans"/>
                <a:cs typeface="DejaVu Sans"/>
              </a:rPr>
              <a:t>Fathoni</a:t>
            </a:r>
            <a:endParaRPr sz="1275" b="0" dirty="0">
              <a:solidFill>
                <a:srgbClr val="52636F"/>
              </a:solidFill>
              <a:latin typeface="DejaVu Sans"/>
              <a:ea typeface="DejaVu Sans"/>
              <a:cs typeface="DejaVu Sans"/>
            </a:endParaRPr>
          </a:p>
        </p:txBody>
      </p:sp>
      <p:graphicFrame>
        <p:nvGraphicFramePr>
          <p:cNvPr id="3" name="Chart">
            <a:extLst>
              <a:ext uri="{FF2B5EF4-FFF2-40B4-BE49-F238E27FC236}">
                <a16:creationId xmlns:a16="http://schemas.microsoft.com/office/drawing/2014/main" id="{6FD13048-1BB2-4B86-A806-C90DC87B51BE}"/>
              </a:ext>
            </a:extLst>
          </p:cNvPr>
          <p:cNvGraphicFramePr/>
          <p:nvPr/>
        </p:nvGraphicFramePr>
        <p:xfrm>
          <a:off x="609600" y="1714500"/>
          <a:ext cx="10972800" cy="35242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66F583FC-8ECD-477A-80CD-7D17DE0CEE90}"/>
              </a:ext>
            </a:extLst>
          </p:cNvPr>
          <p:cNvSpPr>
            <a:spLocks noGrp="1"/>
          </p:cNvSpPr>
          <p:nvPr/>
        </p:nvSpPr>
        <p:spPr>
          <a:xfrm>
            <a:off x="609600" y="5286375"/>
            <a:ext cx="10972800" cy="381000"/>
          </a:xfrm>
          <a:prstGeom prst="rect">
            <a:avLst/>
          </a:prstGeom>
          <a:noFill/>
          <a:ln w="0">
            <a:noFill/>
            <a:prstDash val="solid"/>
          </a:ln>
        </p:spPr>
        <p:txBody>
          <a:bodyPr lIns="0" tIns="0" rIns="0" bIns="0" anchor="t"/>
          <a:lstStyle>
            <a:defPPr>
              <a:defRPr sz="1725" b="0">
                <a:solidFill>
                  <a:srgbClr val="52636F"/>
                </a:solidFill>
                <a:latin typeface="DejaVu Sans"/>
                <a:ea typeface="DejaVu Sans"/>
                <a:cs typeface="DejaVu Sans"/>
              </a:defRPr>
            </a:defPPr>
            <a:lvl1pPr>
              <a:defRPr sz="1725" b="0">
                <a:solidFill>
                  <a:srgbClr val="52636F"/>
                </a:solidFill>
                <a:latin typeface="DejaVu Sans"/>
                <a:ea typeface="DejaVu Sans"/>
                <a:cs typeface="DejaVu Sans"/>
              </a:defRPr>
            </a:lvl1pPr>
            <a:lvl2pPr>
              <a:defRPr sz="1725" b="0">
                <a:solidFill>
                  <a:srgbClr val="52636F"/>
                </a:solidFill>
                <a:latin typeface="DejaVu Sans"/>
                <a:ea typeface="DejaVu Sans"/>
                <a:cs typeface="DejaVu Sans"/>
              </a:defRPr>
            </a:lvl2pPr>
            <a:lvl3pPr>
              <a:defRPr sz="1725" b="0">
                <a:solidFill>
                  <a:srgbClr val="52636F"/>
                </a:solidFill>
                <a:latin typeface="DejaVu Sans"/>
                <a:ea typeface="DejaVu Sans"/>
                <a:cs typeface="DejaVu Sans"/>
              </a:defRPr>
            </a:lvl3pPr>
            <a:lvl4pPr>
              <a:defRPr sz="1725" b="0">
                <a:solidFill>
                  <a:srgbClr val="52636F"/>
                </a:solidFill>
                <a:latin typeface="DejaVu Sans"/>
                <a:ea typeface="DejaVu Sans"/>
                <a:cs typeface="DejaVu Sans"/>
              </a:defRPr>
            </a:lvl4pPr>
            <a:lvl5pPr>
              <a:defRPr sz="1725" b="0">
                <a:solidFill>
                  <a:srgbClr val="52636F"/>
                </a:solidFill>
                <a:latin typeface="DejaVu Sans"/>
                <a:ea typeface="DejaVu Sans"/>
                <a:cs typeface="DejaVu Sans"/>
              </a:defRPr>
            </a:lvl5pPr>
            <a:lvl6pPr>
              <a:defRPr sz="1725" b="0">
                <a:solidFill>
                  <a:srgbClr val="52636F"/>
                </a:solidFill>
                <a:latin typeface="DejaVu Sans"/>
                <a:ea typeface="DejaVu Sans"/>
                <a:cs typeface="DejaVu Sans"/>
              </a:defRPr>
            </a:lvl6pPr>
            <a:lvl7pPr>
              <a:defRPr sz="1725" b="0">
                <a:solidFill>
                  <a:srgbClr val="52636F"/>
                </a:solidFill>
                <a:latin typeface="DejaVu Sans"/>
                <a:ea typeface="DejaVu Sans"/>
                <a:cs typeface="DejaVu Sans"/>
              </a:defRPr>
            </a:lvl7pPr>
            <a:lvl8pPr>
              <a:defRPr sz="1725" b="0">
                <a:solidFill>
                  <a:srgbClr val="52636F"/>
                </a:solidFill>
                <a:latin typeface="DejaVu Sans"/>
                <a:ea typeface="DejaVu Sans"/>
                <a:cs typeface="DejaVu Sans"/>
              </a:defRPr>
            </a:lvl8pPr>
            <a:lvl9pPr>
              <a:defRPr sz="1725" b="0">
                <a:solidFill>
                  <a:srgbClr val="52636F"/>
                </a:solidFill>
                <a:latin typeface="DejaVu Sans"/>
                <a:ea typeface="DejaVu Sans"/>
                <a:cs typeface="DejaVu Sans"/>
              </a:defRPr>
            </a:lvl9pPr>
          </a:lstStyle>
          <a:p>
            <a:pPr>
              <a:defRPr sz="1725" b="0">
                <a:solidFill>
                  <a:srgbClr val="52636F"/>
                </a:solidFill>
                <a:latin typeface="DejaVu Sans"/>
                <a:ea typeface="DejaVu Sans"/>
                <a:cs typeface="DejaVu Sans"/>
              </a:defRPr>
            </a:pPr>
            <a:r>
              <a:rPr sz="1725" b="0">
                <a:solidFill>
                  <a:srgbClr val="52636F"/>
                </a:solidFill>
                <a:latin typeface="DejaVu Sans"/>
                <a:ea typeface="DejaVu Sans"/>
                <a:cs typeface="DejaVu Sans"/>
              </a:rPr>
              <a:t>Usia dalam tahun. Denominator: kunjungan pada setiap interval usia.</a:t>
            </a:r>
          </a:p>
        </p:txBody>
      </p:sp>
      <p:sp>
        <p:nvSpPr>
          <p:cNvPr id="5" name="Rectangle 4">
            <a:extLst>
              <a:ext uri="{FF2B5EF4-FFF2-40B4-BE49-F238E27FC236}">
                <a16:creationId xmlns:a16="http://schemas.microsoft.com/office/drawing/2014/main" id="{676C1049-671D-4B7B-B9C4-4585C4DA9176}"/>
              </a:ext>
            </a:extLst>
          </p:cNvPr>
          <p:cNvSpPr>
            <a:spLocks noGrp="1"/>
          </p:cNvSpPr>
          <p:nvPr/>
        </p:nvSpPr>
        <p:spPr>
          <a:xfrm>
            <a:off x="609600" y="5781675"/>
            <a:ext cx="10972800" cy="381000"/>
          </a:xfrm>
          <a:prstGeom prst="rect">
            <a:avLst/>
          </a:prstGeom>
          <a:noFill/>
          <a:ln w="0">
            <a:noFill/>
            <a:prstDash val="solid"/>
          </a:ln>
        </p:spPr>
        <p:txBody>
          <a:bodyPr lIns="0" tIns="0" rIns="0" bIns="0" anchor="t"/>
          <a:lstStyle>
            <a:defPPr>
              <a:defRPr sz="2100" b="1">
                <a:solidFill>
                  <a:srgbClr val="15364A"/>
                </a:solidFill>
                <a:latin typeface="DejaVu Sans"/>
                <a:ea typeface="DejaVu Sans"/>
                <a:cs typeface="DejaVu Sans"/>
              </a:defRPr>
            </a:defPPr>
            <a:lvl1pPr>
              <a:defRPr sz="2100" b="1">
                <a:solidFill>
                  <a:srgbClr val="15364A"/>
                </a:solidFill>
                <a:latin typeface="DejaVu Sans"/>
                <a:ea typeface="DejaVu Sans"/>
                <a:cs typeface="DejaVu Sans"/>
              </a:defRPr>
            </a:lvl1pPr>
            <a:lvl2pPr>
              <a:defRPr sz="2100" b="1">
                <a:solidFill>
                  <a:srgbClr val="15364A"/>
                </a:solidFill>
                <a:latin typeface="DejaVu Sans"/>
                <a:ea typeface="DejaVu Sans"/>
                <a:cs typeface="DejaVu Sans"/>
              </a:defRPr>
            </a:lvl2pPr>
            <a:lvl3pPr>
              <a:defRPr sz="2100" b="1">
                <a:solidFill>
                  <a:srgbClr val="15364A"/>
                </a:solidFill>
                <a:latin typeface="DejaVu Sans"/>
                <a:ea typeface="DejaVu Sans"/>
                <a:cs typeface="DejaVu Sans"/>
              </a:defRPr>
            </a:lvl3pPr>
            <a:lvl4pPr>
              <a:defRPr sz="2100" b="1">
                <a:solidFill>
                  <a:srgbClr val="15364A"/>
                </a:solidFill>
                <a:latin typeface="DejaVu Sans"/>
                <a:ea typeface="DejaVu Sans"/>
                <a:cs typeface="DejaVu Sans"/>
              </a:defRPr>
            </a:lvl4pPr>
            <a:lvl5pPr>
              <a:defRPr sz="2100" b="1">
                <a:solidFill>
                  <a:srgbClr val="15364A"/>
                </a:solidFill>
                <a:latin typeface="DejaVu Sans"/>
                <a:ea typeface="DejaVu Sans"/>
                <a:cs typeface="DejaVu Sans"/>
              </a:defRPr>
            </a:lvl5pPr>
            <a:lvl6pPr>
              <a:defRPr sz="2100" b="1">
                <a:solidFill>
                  <a:srgbClr val="15364A"/>
                </a:solidFill>
                <a:latin typeface="DejaVu Sans"/>
                <a:ea typeface="DejaVu Sans"/>
                <a:cs typeface="DejaVu Sans"/>
              </a:defRPr>
            </a:lvl6pPr>
            <a:lvl7pPr>
              <a:defRPr sz="2100" b="1">
                <a:solidFill>
                  <a:srgbClr val="15364A"/>
                </a:solidFill>
                <a:latin typeface="DejaVu Sans"/>
                <a:ea typeface="DejaVu Sans"/>
                <a:cs typeface="DejaVu Sans"/>
              </a:defRPr>
            </a:lvl7pPr>
            <a:lvl8pPr>
              <a:defRPr sz="2100" b="1">
                <a:solidFill>
                  <a:srgbClr val="15364A"/>
                </a:solidFill>
                <a:latin typeface="DejaVu Sans"/>
                <a:ea typeface="DejaVu Sans"/>
                <a:cs typeface="DejaVu Sans"/>
              </a:defRPr>
            </a:lvl8pPr>
            <a:lvl9pPr>
              <a:defRPr sz="2100" b="1">
                <a:solidFill>
                  <a:srgbClr val="15364A"/>
                </a:solidFill>
                <a:latin typeface="DejaVu Sans"/>
                <a:ea typeface="DejaVu Sans"/>
                <a:cs typeface="DejaVu Sans"/>
              </a:defRPr>
            </a:lvl9pPr>
          </a:lstStyle>
          <a:p>
            <a:pPr>
              <a:defRPr sz="2100" b="1">
                <a:solidFill>
                  <a:srgbClr val="15364A"/>
                </a:solidFill>
                <a:latin typeface="DejaVu Sans"/>
                <a:ea typeface="DejaVu Sans"/>
                <a:cs typeface="DejaVu Sans"/>
              </a:defRPr>
            </a:pPr>
            <a:r>
              <a:rPr sz="2100" b="1">
                <a:solidFill>
                  <a:srgbClr val="15364A"/>
                </a:solidFill>
                <a:latin typeface="DejaVu Sans"/>
                <a:ea typeface="DejaVu Sans"/>
                <a:cs typeface="DejaVu Sans"/>
              </a:rPr>
              <a:t>Usia 20–29: 137/981     Usia 70–79: 1.839/15.594</a:t>
            </a:r>
          </a:p>
        </p:txBody>
      </p:sp>
    </p:spTree>
    <p:extLst>
      <p:ext uri="{BB962C8B-B14F-4D97-AF65-F5344CB8AC3E}">
        <p14:creationId xmlns:p14="http://schemas.microsoft.com/office/powerpoint/2010/main" val="813813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1AF7BAE-6AEC-4A46-B3A8-D9F469B6D9AA}"/>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Q2 dan Q3: riwayat layanan dan lama rawat</a:t>
            </a:r>
          </a:p>
        </p:txBody>
      </p:sp>
      <p:sp>
        <p:nvSpPr>
          <p:cNvPr id="2" name="Rectangle 1">
            <a:extLst>
              <a:ext uri="{FF2B5EF4-FFF2-40B4-BE49-F238E27FC236}">
                <a16:creationId xmlns:a16="http://schemas.microsoft.com/office/drawing/2014/main" id="{E5CFE3C7-97DB-4E70-B5EB-7299733A6E86}"/>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12.  Harris Imam </a:t>
            </a:r>
            <a:r>
              <a:rPr sz="1275" b="0" dirty="0" err="1">
                <a:solidFill>
                  <a:srgbClr val="52636F"/>
                </a:solidFill>
                <a:latin typeface="DejaVu Sans"/>
                <a:ea typeface="DejaVu Sans"/>
                <a:cs typeface="DejaVu Sans"/>
              </a:rPr>
              <a:t>Fathoni</a:t>
            </a:r>
            <a:endParaRPr sz="1275" b="0" dirty="0">
              <a:solidFill>
                <a:srgbClr val="52636F"/>
              </a:solidFill>
              <a:latin typeface="DejaVu Sans"/>
              <a:ea typeface="DejaVu Sans"/>
              <a:cs typeface="DejaVu Sans"/>
            </a:endParaRPr>
          </a:p>
        </p:txBody>
      </p:sp>
      <p:graphicFrame>
        <p:nvGraphicFramePr>
          <p:cNvPr id="3" name="Chart">
            <a:extLst>
              <a:ext uri="{FF2B5EF4-FFF2-40B4-BE49-F238E27FC236}">
                <a16:creationId xmlns:a16="http://schemas.microsoft.com/office/drawing/2014/main" id="{828DD9EB-7D92-4F29-9890-BC0D812DC8BB}"/>
              </a:ext>
            </a:extLst>
          </p:cNvPr>
          <p:cNvGraphicFramePr/>
          <p:nvPr/>
        </p:nvGraphicFramePr>
        <p:xfrm>
          <a:off x="609600" y="1714500"/>
          <a:ext cx="6286500"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CFB7568A-707D-4B5C-A81E-DF35D61F9C5E}"/>
              </a:ext>
            </a:extLst>
          </p:cNvPr>
          <p:cNvSpPr>
            <a:spLocks noGrp="1"/>
          </p:cNvSpPr>
          <p:nvPr/>
        </p:nvSpPr>
        <p:spPr>
          <a:xfrm>
            <a:off x="609600" y="5143500"/>
            <a:ext cx="6286500" cy="381000"/>
          </a:xfrm>
          <a:prstGeom prst="rect">
            <a:avLst/>
          </a:prstGeom>
          <a:noFill/>
          <a:ln w="0">
            <a:noFill/>
            <a:prstDash val="solid"/>
          </a:ln>
        </p:spPr>
        <p:txBody>
          <a:bodyPr lIns="0" tIns="0" rIns="0" bIns="0" anchor="t"/>
          <a:lstStyle>
            <a:defPPr>
              <a:defRPr sz="1800" b="0">
                <a:solidFill>
                  <a:srgbClr val="52636F"/>
                </a:solidFill>
                <a:latin typeface="DejaVu Sans"/>
                <a:ea typeface="DejaVu Sans"/>
                <a:cs typeface="DejaVu Sans"/>
              </a:defRPr>
            </a:defPPr>
            <a:lvl1pPr>
              <a:defRPr sz="1800" b="0">
                <a:solidFill>
                  <a:srgbClr val="52636F"/>
                </a:solidFill>
                <a:latin typeface="DejaVu Sans"/>
                <a:ea typeface="DejaVu Sans"/>
                <a:cs typeface="DejaVu Sans"/>
              </a:defRPr>
            </a:lvl1pPr>
            <a:lvl2pPr>
              <a:defRPr sz="1800" b="0">
                <a:solidFill>
                  <a:srgbClr val="52636F"/>
                </a:solidFill>
                <a:latin typeface="DejaVu Sans"/>
                <a:ea typeface="DejaVu Sans"/>
                <a:cs typeface="DejaVu Sans"/>
              </a:defRPr>
            </a:lvl2pPr>
            <a:lvl3pPr>
              <a:defRPr sz="1800" b="0">
                <a:solidFill>
                  <a:srgbClr val="52636F"/>
                </a:solidFill>
                <a:latin typeface="DejaVu Sans"/>
                <a:ea typeface="DejaVu Sans"/>
                <a:cs typeface="DejaVu Sans"/>
              </a:defRPr>
            </a:lvl3pPr>
            <a:lvl4pPr>
              <a:defRPr sz="1800" b="0">
                <a:solidFill>
                  <a:srgbClr val="52636F"/>
                </a:solidFill>
                <a:latin typeface="DejaVu Sans"/>
                <a:ea typeface="DejaVu Sans"/>
                <a:cs typeface="DejaVu Sans"/>
              </a:defRPr>
            </a:lvl4pPr>
            <a:lvl5pPr>
              <a:defRPr sz="1800" b="0">
                <a:solidFill>
                  <a:srgbClr val="52636F"/>
                </a:solidFill>
                <a:latin typeface="DejaVu Sans"/>
                <a:ea typeface="DejaVu Sans"/>
                <a:cs typeface="DejaVu Sans"/>
              </a:defRPr>
            </a:lvl5pPr>
            <a:lvl6pPr>
              <a:defRPr sz="1800" b="0">
                <a:solidFill>
                  <a:srgbClr val="52636F"/>
                </a:solidFill>
                <a:latin typeface="DejaVu Sans"/>
                <a:ea typeface="DejaVu Sans"/>
                <a:cs typeface="DejaVu Sans"/>
              </a:defRPr>
            </a:lvl6pPr>
            <a:lvl7pPr>
              <a:defRPr sz="1800" b="0">
                <a:solidFill>
                  <a:srgbClr val="52636F"/>
                </a:solidFill>
                <a:latin typeface="DejaVu Sans"/>
                <a:ea typeface="DejaVu Sans"/>
                <a:cs typeface="DejaVu Sans"/>
              </a:defRPr>
            </a:lvl7pPr>
            <a:lvl8pPr>
              <a:defRPr sz="1800" b="0">
                <a:solidFill>
                  <a:srgbClr val="52636F"/>
                </a:solidFill>
                <a:latin typeface="DejaVu Sans"/>
                <a:ea typeface="DejaVu Sans"/>
                <a:cs typeface="DejaVu Sans"/>
              </a:defRPr>
            </a:lvl8pPr>
            <a:lvl9pPr>
              <a:defRPr sz="1800" b="0">
                <a:solidFill>
                  <a:srgbClr val="52636F"/>
                </a:solidFill>
                <a:latin typeface="DejaVu Sans"/>
                <a:ea typeface="DejaVu Sans"/>
                <a:cs typeface="DejaVu Sans"/>
              </a:defRPr>
            </a:lvl9pPr>
          </a:lstStyle>
          <a:p>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Jumlah rawat inap sebelumnya</a:t>
            </a:r>
          </a:p>
        </p:txBody>
      </p:sp>
      <p:graphicFrame>
        <p:nvGraphicFramePr>
          <p:cNvPr id="5" name="Table 4">
            <a:extLst>
              <a:ext uri="{FF2B5EF4-FFF2-40B4-BE49-F238E27FC236}">
                <a16:creationId xmlns:a16="http://schemas.microsoft.com/office/drawing/2014/main" id="{0A176D60-C9CB-4094-B086-A8A0F093BD1F}"/>
              </a:ext>
            </a:extLst>
          </p:cNvPr>
          <p:cNvGraphicFramePr/>
          <p:nvPr/>
        </p:nvGraphicFramePr>
        <p:xfrm>
          <a:off x="7381875" y="1952625"/>
          <a:ext cx="4143375" cy="2714624"/>
        </p:xfrm>
        <a:graphic>
          <a:graphicData uri="http://schemas.openxmlformats.org/drawingml/2006/table">
            <a:tbl>
              <a:tblPr/>
              <a:tblGrid>
                <a:gridCol w="1666875">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tblGrid>
              <a:tr h="678656">
                <a:tc>
                  <a:txBody>
                    <a:bodyPr/>
                    <a:lstStyle/>
                    <a:p>
                      <a:r>
                        <a:rPr sz="1650" b="1">
                          <a:solidFill>
                            <a:srgbClr val="FFFFFF"/>
                          </a:solidFill>
                          <a:latin typeface="DejaVu Sans"/>
                          <a:ea typeface="DejaVu Sans"/>
                          <a:cs typeface="DejaVu Sans"/>
                        </a:rPr>
                        <a:t>Lama rawat</a:t>
                      </a:r>
                    </a:p>
                  </a:txBody>
                  <a:tcPr anchor="ctr">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650" b="1">
                          <a:solidFill>
                            <a:srgbClr val="FFFFFF"/>
                          </a:solidFill>
                          <a:latin typeface="DejaVu Sans"/>
                          <a:ea typeface="DejaVu Sans"/>
                          <a:cs typeface="DejaVu Sans"/>
                        </a:rPr>
                        <a:t>Bukan &lt;30</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a:lstStyle/>
                    <a:p>
                      <a:r>
                        <a:rPr sz="1650" b="1">
                          <a:solidFill>
                            <a:srgbClr val="FFFFFF"/>
                          </a:solidFill>
                          <a:latin typeface="DejaVu Sans"/>
                          <a:ea typeface="DejaVu Sans"/>
                          <a:cs typeface="DejaVu Sans"/>
                        </a:rPr>
                        <a:t>&lt;30</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extLst>
                  <a:ext uri="{0D108BD9-81ED-4DB2-BD59-A6C34878D82A}">
                    <a16:rowId xmlns:a16="http://schemas.microsoft.com/office/drawing/2014/main" val="10000"/>
                  </a:ext>
                </a:extLst>
              </a:tr>
              <a:tr h="678656">
                <a:tc>
                  <a:txBody>
                    <a:bodyPr/>
                    <a:lstStyle/>
                    <a:p>
                      <a:r>
                        <a:rPr sz="1650" b="0">
                          <a:solidFill>
                            <a:srgbClr val="15364A"/>
                          </a:solidFill>
                          <a:latin typeface="DejaVu Sans"/>
                          <a:ea typeface="DejaVu Sans"/>
                          <a:cs typeface="DejaVu Sans"/>
                        </a:rPr>
                        <a:t>Mean</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650" b="0">
                          <a:solidFill>
                            <a:srgbClr val="15364A"/>
                          </a:solidFill>
                          <a:latin typeface="DejaVu Sans"/>
                          <a:ea typeface="DejaVu Sans"/>
                          <a:cs typeface="DejaVu Sans"/>
                        </a:rPr>
                        <a:t>4,335</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650" b="0">
                          <a:solidFill>
                            <a:srgbClr val="15364A"/>
                          </a:solidFill>
                          <a:latin typeface="DejaVu Sans"/>
                          <a:ea typeface="DejaVu Sans"/>
                          <a:cs typeface="DejaVu Sans"/>
                        </a:rPr>
                        <a:t>4,772</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extLst>
                  <a:ext uri="{0D108BD9-81ED-4DB2-BD59-A6C34878D82A}">
                    <a16:rowId xmlns:a16="http://schemas.microsoft.com/office/drawing/2014/main" val="10001"/>
                  </a:ext>
                </a:extLst>
              </a:tr>
              <a:tr h="678656">
                <a:tc>
                  <a:txBody>
                    <a:bodyPr/>
                    <a:lstStyle/>
                    <a:p>
                      <a:r>
                        <a:rPr sz="1650" b="0">
                          <a:solidFill>
                            <a:srgbClr val="15364A"/>
                          </a:solidFill>
                          <a:latin typeface="DejaVu Sans"/>
                          <a:ea typeface="DejaVu Sans"/>
                          <a:cs typeface="DejaVu Sans"/>
                        </a:rPr>
                        <a:t>Median</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650" b="0">
                          <a:solidFill>
                            <a:srgbClr val="15364A"/>
                          </a:solidFill>
                          <a:latin typeface="DejaVu Sans"/>
                          <a:ea typeface="DejaVu Sans"/>
                          <a:cs typeface="DejaVu Sans"/>
                        </a:rPr>
                        <a:t>4</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tc>
                  <a:txBody>
                    <a:bodyPr/>
                    <a:lstStyle/>
                    <a:p>
                      <a:r>
                        <a:rPr sz="1650" b="0">
                          <a:solidFill>
                            <a:srgbClr val="15364A"/>
                          </a:solidFill>
                          <a:latin typeface="DejaVu Sans"/>
                          <a:ea typeface="DejaVu Sans"/>
                          <a:cs typeface="DejaVu Sans"/>
                        </a:rPr>
                        <a:t>4</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0F5F7"/>
                    </a:solidFill>
                  </a:tcPr>
                </a:tc>
                <a:extLst>
                  <a:ext uri="{0D108BD9-81ED-4DB2-BD59-A6C34878D82A}">
                    <a16:rowId xmlns:a16="http://schemas.microsoft.com/office/drawing/2014/main" val="10002"/>
                  </a:ext>
                </a:extLst>
              </a:tr>
              <a:tr h="678656">
                <a:tc>
                  <a:txBody>
                    <a:bodyPr/>
                    <a:lstStyle/>
                    <a:p>
                      <a:r>
                        <a:rPr sz="1650" b="0">
                          <a:solidFill>
                            <a:srgbClr val="15364A"/>
                          </a:solidFill>
                          <a:latin typeface="DejaVu Sans"/>
                          <a:ea typeface="DejaVu Sans"/>
                          <a:cs typeface="DejaVu Sans"/>
                        </a:rPr>
                        <a:t>Q1–Q3</a:t>
                      </a:r>
                    </a:p>
                  </a:txBody>
                  <a:tcPr anchor="ctr">
                    <a:lnL w="9525">
                      <a:solidFill>
                        <a:srgbClr val="D7E1E7"/>
                      </a:solidFill>
                      <a:prstDash val="soli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650" b="0">
                          <a:solidFill>
                            <a:srgbClr val="15364A"/>
                          </a:solidFill>
                          <a:latin typeface="DejaVu Sans"/>
                          <a:ea typeface="DejaVu Sans"/>
                          <a:cs typeface="DejaVu Sans"/>
                        </a:rPr>
                        <a:t>2–6</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tc>
                  <a:txBody>
                    <a:bodyPr/>
                    <a:lstStyle/>
                    <a:p>
                      <a:r>
                        <a:rPr sz="1650" b="0">
                          <a:solidFill>
                            <a:srgbClr val="15364A"/>
                          </a:solidFill>
                          <a:latin typeface="DejaVu Sans"/>
                          <a:ea typeface="DejaVu Sans"/>
                          <a:cs typeface="DejaVu Sans"/>
                        </a:rPr>
                        <a:t>3–6</a:t>
                      </a:r>
                    </a:p>
                  </a:txBody>
                  <a:tcPr anchor="ctr">
                    <a:lnL w="9525" cap="flat" cmpd="sng" algn="ctr">
                      <a:solidFill>
                        <a:srgbClr val="D7E1E7"/>
                      </a:solidFill>
                      <a:prstDash val="solid"/>
                      <a:round/>
                      <a:headEnd type="none" w="med" len="med"/>
                      <a:tailEnd type="none" w="med" len="med"/>
                    </a:lnL>
                    <a:lnR w="9525">
                      <a:solidFill>
                        <a:srgbClr val="D7E1E7"/>
                      </a:solidFill>
                      <a:prstDash val="solid"/>
                    </a:lnR>
                    <a:lnT w="9525" cap="flat" cmpd="sng" algn="ctr">
                      <a:solidFill>
                        <a:srgbClr val="D7E1E7"/>
                      </a:solidFill>
                      <a:prstDash val="solid"/>
                      <a:round/>
                      <a:headEnd type="none" w="med" len="med"/>
                      <a:tailEnd type="none" w="med" len="med"/>
                    </a:lnT>
                    <a:lnB w="9525">
                      <a:solidFill>
                        <a:srgbClr val="D7E1E7"/>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10E7561F-4E5A-40C6-B6AA-FEB49CE145C4}"/>
              </a:ext>
            </a:extLst>
          </p:cNvPr>
          <p:cNvSpPr>
            <a:spLocks noGrp="1"/>
          </p:cNvSpPr>
          <p:nvPr/>
        </p:nvSpPr>
        <p:spPr>
          <a:xfrm>
            <a:off x="7381875" y="4953000"/>
            <a:ext cx="4143375" cy="762000"/>
          </a:xfrm>
          <a:prstGeom prst="rect">
            <a:avLst/>
          </a:prstGeom>
          <a:noFill/>
          <a:ln w="0">
            <a:noFill/>
            <a:prstDash val="solid"/>
          </a:ln>
        </p:spPr>
        <p:txBody>
          <a:bodyPr lIns="0" tIns="0" rIns="0" bIns="0" anchor="t"/>
          <a:lstStyle>
            <a:defPPr>
              <a:defRPr sz="1875" b="0">
                <a:solidFill>
                  <a:srgbClr val="52636F"/>
                </a:solidFill>
                <a:latin typeface="DejaVu Sans"/>
                <a:ea typeface="DejaVu Sans"/>
                <a:cs typeface="DejaVu Sans"/>
              </a:defRPr>
            </a:defPPr>
            <a:lvl1pPr>
              <a:defRPr sz="1875" b="0">
                <a:solidFill>
                  <a:srgbClr val="52636F"/>
                </a:solidFill>
                <a:latin typeface="DejaVu Sans"/>
                <a:ea typeface="DejaVu Sans"/>
                <a:cs typeface="DejaVu Sans"/>
              </a:defRPr>
            </a:lvl1pPr>
            <a:lvl2pPr>
              <a:defRPr sz="1875" b="0">
                <a:solidFill>
                  <a:srgbClr val="52636F"/>
                </a:solidFill>
                <a:latin typeface="DejaVu Sans"/>
                <a:ea typeface="DejaVu Sans"/>
                <a:cs typeface="DejaVu Sans"/>
              </a:defRPr>
            </a:lvl2pPr>
            <a:lvl3pPr>
              <a:defRPr sz="1875" b="0">
                <a:solidFill>
                  <a:srgbClr val="52636F"/>
                </a:solidFill>
                <a:latin typeface="DejaVu Sans"/>
                <a:ea typeface="DejaVu Sans"/>
                <a:cs typeface="DejaVu Sans"/>
              </a:defRPr>
            </a:lvl3pPr>
            <a:lvl4pPr>
              <a:defRPr sz="1875" b="0">
                <a:solidFill>
                  <a:srgbClr val="52636F"/>
                </a:solidFill>
                <a:latin typeface="DejaVu Sans"/>
                <a:ea typeface="DejaVu Sans"/>
                <a:cs typeface="DejaVu Sans"/>
              </a:defRPr>
            </a:lvl4pPr>
            <a:lvl5pPr>
              <a:defRPr sz="1875" b="0">
                <a:solidFill>
                  <a:srgbClr val="52636F"/>
                </a:solidFill>
                <a:latin typeface="DejaVu Sans"/>
                <a:ea typeface="DejaVu Sans"/>
                <a:cs typeface="DejaVu Sans"/>
              </a:defRPr>
            </a:lvl5pPr>
            <a:lvl6pPr>
              <a:defRPr sz="1875" b="0">
                <a:solidFill>
                  <a:srgbClr val="52636F"/>
                </a:solidFill>
                <a:latin typeface="DejaVu Sans"/>
                <a:ea typeface="DejaVu Sans"/>
                <a:cs typeface="DejaVu Sans"/>
              </a:defRPr>
            </a:lvl6pPr>
            <a:lvl7pPr>
              <a:defRPr sz="1875" b="0">
                <a:solidFill>
                  <a:srgbClr val="52636F"/>
                </a:solidFill>
                <a:latin typeface="DejaVu Sans"/>
                <a:ea typeface="DejaVu Sans"/>
                <a:cs typeface="DejaVu Sans"/>
              </a:defRPr>
            </a:lvl7pPr>
            <a:lvl8pPr>
              <a:defRPr sz="1875" b="0">
                <a:solidFill>
                  <a:srgbClr val="52636F"/>
                </a:solidFill>
                <a:latin typeface="DejaVu Sans"/>
                <a:ea typeface="DejaVu Sans"/>
                <a:cs typeface="DejaVu Sans"/>
              </a:defRPr>
            </a:lvl8pPr>
            <a:lvl9pPr>
              <a:defRPr sz="1875" b="0">
                <a:solidFill>
                  <a:srgbClr val="52636F"/>
                </a:solidFill>
                <a:latin typeface="DejaVu Sans"/>
                <a:ea typeface="DejaVu Sans"/>
                <a:cs typeface="DejaVu Sans"/>
              </a:defRPr>
            </a:lvl9pPr>
          </a:lstStyle>
          <a:p>
            <a:pPr>
              <a:defRPr sz="1875" b="0">
                <a:solidFill>
                  <a:srgbClr val="52636F"/>
                </a:solidFill>
                <a:latin typeface="DejaVu Sans"/>
                <a:ea typeface="DejaVu Sans"/>
                <a:cs typeface="DejaVu Sans"/>
              </a:defRPr>
            </a:pPr>
            <a:r>
              <a:rPr sz="1875" b="0">
                <a:solidFill>
                  <a:srgbClr val="52636F"/>
                </a:solidFill>
                <a:latin typeface="DejaVu Sans"/>
                <a:ea typeface="DejaVu Sans"/>
                <a:cs typeface="DejaVu Sans"/>
              </a:rPr>
              <a:t>n = 54.116 dan 6.762</a:t>
            </a:r>
          </a:p>
          <a:p>
            <a:pPr>
              <a:defRPr sz="1875" b="0">
                <a:solidFill>
                  <a:srgbClr val="52636F"/>
                </a:solidFill>
                <a:latin typeface="DejaVu Sans"/>
                <a:ea typeface="DejaVu Sans"/>
                <a:cs typeface="DejaVu Sans"/>
              </a:defRPr>
            </a:pPr>
            <a:r>
              <a:rPr sz="1875" b="0">
                <a:solidFill>
                  <a:srgbClr val="52636F"/>
                </a:solidFill>
                <a:latin typeface="DejaVu Sans"/>
                <a:ea typeface="DejaVu Sans"/>
                <a:cs typeface="DejaVu Sans"/>
              </a:rPr>
              <a:t>Satuan: hari</a:t>
            </a:r>
          </a:p>
        </p:txBody>
      </p:sp>
      <p:sp>
        <p:nvSpPr>
          <p:cNvPr id="7" name="Rectangle 6">
            <a:extLst>
              <a:ext uri="{FF2B5EF4-FFF2-40B4-BE49-F238E27FC236}">
                <a16:creationId xmlns:a16="http://schemas.microsoft.com/office/drawing/2014/main" id="{14C6AEE4-A6EC-442D-84E4-671B95BB434F}"/>
              </a:ext>
            </a:extLst>
          </p:cNvPr>
          <p:cNvSpPr>
            <a:spLocks noGrp="1"/>
          </p:cNvSpPr>
          <p:nvPr/>
        </p:nvSpPr>
        <p:spPr>
          <a:xfrm>
            <a:off x="609600" y="5810250"/>
            <a:ext cx="10972800" cy="381000"/>
          </a:xfrm>
          <a:prstGeom prst="rect">
            <a:avLst/>
          </a:prstGeom>
          <a:noFill/>
          <a:ln w="0">
            <a:noFill/>
            <a:prstDash val="solid"/>
          </a:ln>
        </p:spPr>
        <p:txBody>
          <a:bodyPr lIns="0" tIns="0" rIns="0" bIns="0" anchor="t"/>
          <a:lstStyle>
            <a:defPPr>
              <a:defRPr sz="1650" b="0">
                <a:solidFill>
                  <a:srgbClr val="52636F"/>
                </a:solidFill>
                <a:latin typeface="DejaVu Sans"/>
                <a:ea typeface="DejaVu Sans"/>
                <a:cs typeface="DejaVu Sans"/>
              </a:defRPr>
            </a:defPPr>
            <a:lvl1pPr>
              <a:defRPr sz="1650" b="0">
                <a:solidFill>
                  <a:srgbClr val="52636F"/>
                </a:solidFill>
                <a:latin typeface="DejaVu Sans"/>
                <a:ea typeface="DejaVu Sans"/>
                <a:cs typeface="DejaVu Sans"/>
              </a:defRPr>
            </a:lvl1pPr>
            <a:lvl2pPr>
              <a:defRPr sz="1650" b="0">
                <a:solidFill>
                  <a:srgbClr val="52636F"/>
                </a:solidFill>
                <a:latin typeface="DejaVu Sans"/>
                <a:ea typeface="DejaVu Sans"/>
                <a:cs typeface="DejaVu Sans"/>
              </a:defRPr>
            </a:lvl2pPr>
            <a:lvl3pPr>
              <a:defRPr sz="1650" b="0">
                <a:solidFill>
                  <a:srgbClr val="52636F"/>
                </a:solidFill>
                <a:latin typeface="DejaVu Sans"/>
                <a:ea typeface="DejaVu Sans"/>
                <a:cs typeface="DejaVu Sans"/>
              </a:defRPr>
            </a:lvl3pPr>
            <a:lvl4pPr>
              <a:defRPr sz="1650" b="0">
                <a:solidFill>
                  <a:srgbClr val="52636F"/>
                </a:solidFill>
                <a:latin typeface="DejaVu Sans"/>
                <a:ea typeface="DejaVu Sans"/>
                <a:cs typeface="DejaVu Sans"/>
              </a:defRPr>
            </a:lvl4pPr>
            <a:lvl5pPr>
              <a:defRPr sz="1650" b="0">
                <a:solidFill>
                  <a:srgbClr val="52636F"/>
                </a:solidFill>
                <a:latin typeface="DejaVu Sans"/>
                <a:ea typeface="DejaVu Sans"/>
                <a:cs typeface="DejaVu Sans"/>
              </a:defRPr>
            </a:lvl5pPr>
            <a:lvl6pPr>
              <a:defRPr sz="1650" b="0">
                <a:solidFill>
                  <a:srgbClr val="52636F"/>
                </a:solidFill>
                <a:latin typeface="DejaVu Sans"/>
                <a:ea typeface="DejaVu Sans"/>
                <a:cs typeface="DejaVu Sans"/>
              </a:defRPr>
            </a:lvl6pPr>
            <a:lvl7pPr>
              <a:defRPr sz="1650" b="0">
                <a:solidFill>
                  <a:srgbClr val="52636F"/>
                </a:solidFill>
                <a:latin typeface="DejaVu Sans"/>
                <a:ea typeface="DejaVu Sans"/>
                <a:cs typeface="DejaVu Sans"/>
              </a:defRPr>
            </a:lvl7pPr>
            <a:lvl8pPr>
              <a:defRPr sz="1650" b="0">
                <a:solidFill>
                  <a:srgbClr val="52636F"/>
                </a:solidFill>
                <a:latin typeface="DejaVu Sans"/>
                <a:ea typeface="DejaVu Sans"/>
                <a:cs typeface="DejaVu Sans"/>
              </a:defRPr>
            </a:lvl8pPr>
            <a:lvl9pPr>
              <a:defRPr sz="1650" b="0">
                <a:solidFill>
                  <a:srgbClr val="52636F"/>
                </a:solidFill>
                <a:latin typeface="DejaVu Sans"/>
                <a:ea typeface="DejaVu Sans"/>
                <a:cs typeface="DejaVu Sans"/>
              </a:defRPr>
            </a:lvl9pPr>
          </a:lstStyle>
          <a:p>
            <a:pPr>
              <a:defRPr sz="1650" b="0">
                <a:solidFill>
                  <a:srgbClr val="52636F"/>
                </a:solidFill>
                <a:latin typeface="DejaVu Sans"/>
                <a:ea typeface="DejaVu Sans"/>
                <a:cs typeface="DejaVu Sans"/>
              </a:defRPr>
            </a:pPr>
            <a:r>
              <a:rPr sz="1650" b="0">
                <a:solidFill>
                  <a:srgbClr val="52636F"/>
                </a:solidFill>
                <a:latin typeface="DejaVu Sans"/>
                <a:ea typeface="DejaVu Sans"/>
                <a:cs typeface="DejaVu Sans"/>
              </a:rPr>
              <a:t>Denominator Q2: 40.533 / 11.682 / 4.511 / 4.152 kunjungan</a:t>
            </a:r>
          </a:p>
        </p:txBody>
      </p:sp>
    </p:spTree>
    <p:extLst>
      <p:ext uri="{BB962C8B-B14F-4D97-AF65-F5344CB8AC3E}">
        <p14:creationId xmlns:p14="http://schemas.microsoft.com/office/powerpoint/2010/main" val="1833424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5DBC3F-266A-4B02-BF09-E79B48CAB797}"/>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Sebaran miring, multikolinearitas numerik rendah</a:t>
            </a:r>
          </a:p>
        </p:txBody>
      </p:sp>
      <p:sp>
        <p:nvSpPr>
          <p:cNvPr id="2" name="Rectangle 1">
            <a:extLst>
              <a:ext uri="{FF2B5EF4-FFF2-40B4-BE49-F238E27FC236}">
                <a16:creationId xmlns:a16="http://schemas.microsoft.com/office/drawing/2014/main" id="{A5D3677D-E42B-430C-B9DB-CE1F6DC5A99B}"/>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13.  Harris Imam </a:t>
            </a:r>
            <a:r>
              <a:rPr sz="1275" b="0" dirty="0" err="1">
                <a:solidFill>
                  <a:srgbClr val="52636F"/>
                </a:solidFill>
                <a:latin typeface="DejaVu Sans"/>
                <a:ea typeface="DejaVu Sans"/>
                <a:cs typeface="DejaVu Sans"/>
              </a:rPr>
              <a:t>Fathoni</a:t>
            </a:r>
            <a:endParaRPr sz="1275" b="0" dirty="0">
              <a:solidFill>
                <a:srgbClr val="52636F"/>
              </a:solidFill>
              <a:latin typeface="DejaVu Sans"/>
              <a:ea typeface="DejaVu Sans"/>
              <a:cs typeface="DejaVu Sans"/>
            </a:endParaRPr>
          </a:p>
        </p:txBody>
      </p:sp>
      <p:sp>
        <p:nvSpPr>
          <p:cNvPr id="3" name="Rectangle 2">
            <a:extLst>
              <a:ext uri="{FF2B5EF4-FFF2-40B4-BE49-F238E27FC236}">
                <a16:creationId xmlns:a16="http://schemas.microsoft.com/office/drawing/2014/main" id="{B9AFD494-D2CD-4313-AD41-1AC2BB01BDAC}"/>
              </a:ext>
            </a:extLst>
          </p:cNvPr>
          <p:cNvSpPr>
            <a:spLocks noGrp="1"/>
          </p:cNvSpPr>
          <p:nvPr/>
        </p:nvSpPr>
        <p:spPr>
          <a:xfrm>
            <a:off x="609600" y="1504950"/>
            <a:ext cx="6667500" cy="304800"/>
          </a:xfrm>
          <a:prstGeom prst="rect">
            <a:avLst/>
          </a:prstGeom>
          <a:noFill/>
          <a:ln w="0">
            <a:noFill/>
            <a:prstDash val="solid"/>
          </a:ln>
        </p:spPr>
        <p:txBody>
          <a:bodyPr lIns="0" tIns="0" rIns="0" bIns="0" anchor="t"/>
          <a:lstStyle>
            <a:defPPr>
              <a:defRPr sz="1725" b="0">
                <a:solidFill>
                  <a:srgbClr val="52636F"/>
                </a:solidFill>
                <a:latin typeface="DejaVu Sans"/>
                <a:ea typeface="DejaVu Sans"/>
                <a:cs typeface="DejaVu Sans"/>
              </a:defRPr>
            </a:defPPr>
            <a:lvl1pPr>
              <a:defRPr sz="1725" b="0">
                <a:solidFill>
                  <a:srgbClr val="52636F"/>
                </a:solidFill>
                <a:latin typeface="DejaVu Sans"/>
                <a:ea typeface="DejaVu Sans"/>
                <a:cs typeface="DejaVu Sans"/>
              </a:defRPr>
            </a:lvl1pPr>
            <a:lvl2pPr>
              <a:defRPr sz="1725" b="0">
                <a:solidFill>
                  <a:srgbClr val="52636F"/>
                </a:solidFill>
                <a:latin typeface="DejaVu Sans"/>
                <a:ea typeface="DejaVu Sans"/>
                <a:cs typeface="DejaVu Sans"/>
              </a:defRPr>
            </a:lvl2pPr>
            <a:lvl3pPr>
              <a:defRPr sz="1725" b="0">
                <a:solidFill>
                  <a:srgbClr val="52636F"/>
                </a:solidFill>
                <a:latin typeface="DejaVu Sans"/>
                <a:ea typeface="DejaVu Sans"/>
                <a:cs typeface="DejaVu Sans"/>
              </a:defRPr>
            </a:lvl3pPr>
            <a:lvl4pPr>
              <a:defRPr sz="1725" b="0">
                <a:solidFill>
                  <a:srgbClr val="52636F"/>
                </a:solidFill>
                <a:latin typeface="DejaVu Sans"/>
                <a:ea typeface="DejaVu Sans"/>
                <a:cs typeface="DejaVu Sans"/>
              </a:defRPr>
            </a:lvl4pPr>
            <a:lvl5pPr>
              <a:defRPr sz="1725" b="0">
                <a:solidFill>
                  <a:srgbClr val="52636F"/>
                </a:solidFill>
                <a:latin typeface="DejaVu Sans"/>
                <a:ea typeface="DejaVu Sans"/>
                <a:cs typeface="DejaVu Sans"/>
              </a:defRPr>
            </a:lvl5pPr>
            <a:lvl6pPr>
              <a:defRPr sz="1725" b="0">
                <a:solidFill>
                  <a:srgbClr val="52636F"/>
                </a:solidFill>
                <a:latin typeface="DejaVu Sans"/>
                <a:ea typeface="DejaVu Sans"/>
                <a:cs typeface="DejaVu Sans"/>
              </a:defRPr>
            </a:lvl6pPr>
            <a:lvl7pPr>
              <a:defRPr sz="1725" b="0">
                <a:solidFill>
                  <a:srgbClr val="52636F"/>
                </a:solidFill>
                <a:latin typeface="DejaVu Sans"/>
                <a:ea typeface="DejaVu Sans"/>
                <a:cs typeface="DejaVu Sans"/>
              </a:defRPr>
            </a:lvl7pPr>
            <a:lvl8pPr>
              <a:defRPr sz="1725" b="0">
                <a:solidFill>
                  <a:srgbClr val="52636F"/>
                </a:solidFill>
                <a:latin typeface="DejaVu Sans"/>
                <a:ea typeface="DejaVu Sans"/>
                <a:cs typeface="DejaVu Sans"/>
              </a:defRPr>
            </a:lvl8pPr>
            <a:lvl9pPr>
              <a:defRPr sz="1725" b="0">
                <a:solidFill>
                  <a:srgbClr val="52636F"/>
                </a:solidFill>
                <a:latin typeface="DejaVu Sans"/>
                <a:ea typeface="DejaVu Sans"/>
                <a:cs typeface="DejaVu Sans"/>
              </a:defRPr>
            </a:lvl9pPr>
          </a:lstStyle>
          <a:p>
            <a:pPr>
              <a:defRPr sz="1725" b="0">
                <a:solidFill>
                  <a:srgbClr val="52636F"/>
                </a:solidFill>
                <a:latin typeface="DejaVu Sans"/>
                <a:ea typeface="DejaVu Sans"/>
                <a:cs typeface="DejaVu Sans"/>
              </a:defRPr>
            </a:pPr>
            <a:r>
              <a:rPr sz="1725" b="0">
                <a:solidFill>
                  <a:srgbClr val="52636F"/>
                </a:solidFill>
                <a:latin typeface="DejaVu Sans"/>
                <a:ea typeface="DejaVu Sans"/>
                <a:cs typeface="DejaVu Sans"/>
              </a:rPr>
              <a:t>Skewness pada seluruh train</a:t>
            </a:r>
          </a:p>
        </p:txBody>
      </p:sp>
      <p:graphicFrame>
        <p:nvGraphicFramePr>
          <p:cNvPr id="4" name="Chart">
            <a:extLst>
              <a:ext uri="{FF2B5EF4-FFF2-40B4-BE49-F238E27FC236}">
                <a16:creationId xmlns:a16="http://schemas.microsoft.com/office/drawing/2014/main" id="{DDF16C57-3F6C-413A-A15E-6D6C1EA1978D}"/>
              </a:ext>
            </a:extLst>
          </p:cNvPr>
          <p:cNvGraphicFramePr/>
          <p:nvPr/>
        </p:nvGraphicFramePr>
        <p:xfrm>
          <a:off x="609600" y="1809750"/>
          <a:ext cx="6762750" cy="35242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B180163A-05B8-4999-8D65-56A716E68324}"/>
              </a:ext>
            </a:extLst>
          </p:cNvPr>
          <p:cNvSpPr>
            <a:spLocks noGrp="1"/>
          </p:cNvSpPr>
          <p:nvPr/>
        </p:nvSpPr>
        <p:spPr>
          <a:xfrm>
            <a:off x="7905750" y="2000250"/>
            <a:ext cx="3619500" cy="762000"/>
          </a:xfrm>
          <a:prstGeom prst="rect">
            <a:avLst/>
          </a:prstGeom>
          <a:noFill/>
          <a:ln w="0">
            <a:noFill/>
            <a:prstDash val="solid"/>
          </a:ln>
        </p:spPr>
        <p:txBody>
          <a:bodyPr lIns="0" tIns="0" rIns="0" bIns="0" anchor="t"/>
          <a:lstStyle>
            <a:defPPr>
              <a:defRPr sz="3000" b="1">
                <a:solidFill>
                  <a:srgbClr val="087F8C"/>
                </a:solidFill>
                <a:latin typeface="DejaVu Sans"/>
                <a:ea typeface="DejaVu Sans"/>
                <a:cs typeface="DejaVu Sans"/>
              </a:defRPr>
            </a:defPPr>
            <a:lvl1pPr>
              <a:defRPr sz="3000" b="1">
                <a:solidFill>
                  <a:srgbClr val="087F8C"/>
                </a:solidFill>
                <a:latin typeface="DejaVu Sans"/>
                <a:ea typeface="DejaVu Sans"/>
                <a:cs typeface="DejaVu Sans"/>
              </a:defRPr>
            </a:lvl1pPr>
            <a:lvl2pPr>
              <a:defRPr sz="3000" b="1">
                <a:solidFill>
                  <a:srgbClr val="087F8C"/>
                </a:solidFill>
                <a:latin typeface="DejaVu Sans"/>
                <a:ea typeface="DejaVu Sans"/>
                <a:cs typeface="DejaVu Sans"/>
              </a:defRPr>
            </a:lvl2pPr>
            <a:lvl3pPr>
              <a:defRPr sz="3000" b="1">
                <a:solidFill>
                  <a:srgbClr val="087F8C"/>
                </a:solidFill>
                <a:latin typeface="DejaVu Sans"/>
                <a:ea typeface="DejaVu Sans"/>
                <a:cs typeface="DejaVu Sans"/>
              </a:defRPr>
            </a:lvl3pPr>
            <a:lvl4pPr>
              <a:defRPr sz="3000" b="1">
                <a:solidFill>
                  <a:srgbClr val="087F8C"/>
                </a:solidFill>
                <a:latin typeface="DejaVu Sans"/>
                <a:ea typeface="DejaVu Sans"/>
                <a:cs typeface="DejaVu Sans"/>
              </a:defRPr>
            </a:lvl4pPr>
            <a:lvl5pPr>
              <a:defRPr sz="3000" b="1">
                <a:solidFill>
                  <a:srgbClr val="087F8C"/>
                </a:solidFill>
                <a:latin typeface="DejaVu Sans"/>
                <a:ea typeface="DejaVu Sans"/>
                <a:cs typeface="DejaVu Sans"/>
              </a:defRPr>
            </a:lvl5pPr>
            <a:lvl6pPr>
              <a:defRPr sz="3000" b="1">
                <a:solidFill>
                  <a:srgbClr val="087F8C"/>
                </a:solidFill>
                <a:latin typeface="DejaVu Sans"/>
                <a:ea typeface="DejaVu Sans"/>
                <a:cs typeface="DejaVu Sans"/>
              </a:defRPr>
            </a:lvl6pPr>
            <a:lvl7pPr>
              <a:defRPr sz="3000" b="1">
                <a:solidFill>
                  <a:srgbClr val="087F8C"/>
                </a:solidFill>
                <a:latin typeface="DejaVu Sans"/>
                <a:ea typeface="DejaVu Sans"/>
                <a:cs typeface="DejaVu Sans"/>
              </a:defRPr>
            </a:lvl7pPr>
            <a:lvl8pPr>
              <a:defRPr sz="3000" b="1">
                <a:solidFill>
                  <a:srgbClr val="087F8C"/>
                </a:solidFill>
                <a:latin typeface="DejaVu Sans"/>
                <a:ea typeface="DejaVu Sans"/>
                <a:cs typeface="DejaVu Sans"/>
              </a:defRPr>
            </a:lvl8pPr>
            <a:lvl9pPr>
              <a:defRPr sz="3000" b="1">
                <a:solidFill>
                  <a:srgbClr val="087F8C"/>
                </a:solidFill>
                <a:latin typeface="DejaVu Sans"/>
                <a:ea typeface="DejaVu Sans"/>
                <a:cs typeface="DejaVu Sans"/>
              </a:defRPr>
            </a:lvl9pPr>
          </a:lstStyle>
          <a:p>
            <a:pPr>
              <a:defRPr sz="3000" b="1">
                <a:solidFill>
                  <a:srgbClr val="087F8C"/>
                </a:solidFill>
                <a:latin typeface="DejaVu Sans"/>
                <a:ea typeface="DejaVu Sans"/>
                <a:cs typeface="DejaVu Sans"/>
              </a:defRPr>
            </a:pPr>
            <a:r>
              <a:rPr sz="3000" b="1">
                <a:solidFill>
                  <a:srgbClr val="087F8C"/>
                </a:solidFill>
                <a:latin typeface="DejaVu Sans"/>
                <a:ea typeface="DejaVu Sans"/>
                <a:cs typeface="DejaVu Sans"/>
              </a:rPr>
              <a:t>VIF 1,03–1,53</a:t>
            </a:r>
          </a:p>
        </p:txBody>
      </p:sp>
      <p:sp>
        <p:nvSpPr>
          <p:cNvPr id="6" name="Rectangle 5">
            <a:extLst>
              <a:ext uri="{FF2B5EF4-FFF2-40B4-BE49-F238E27FC236}">
                <a16:creationId xmlns:a16="http://schemas.microsoft.com/office/drawing/2014/main" id="{1D9F99A3-166D-4218-9248-11986ADEC643}"/>
              </a:ext>
            </a:extLst>
          </p:cNvPr>
          <p:cNvSpPr>
            <a:spLocks noGrp="1"/>
          </p:cNvSpPr>
          <p:nvPr/>
        </p:nvSpPr>
        <p:spPr>
          <a:xfrm>
            <a:off x="7905750" y="3000375"/>
            <a:ext cx="3619500" cy="1381125"/>
          </a:xfrm>
          <a:prstGeom prst="rect">
            <a:avLst/>
          </a:prstGeom>
          <a:noFill/>
          <a:ln w="0">
            <a:noFill/>
            <a:prstDash val="solid"/>
          </a:ln>
        </p:spPr>
        <p:txBody>
          <a:bodyPr lIns="0" tIns="0" rIns="0" bIns="0" anchor="t"/>
          <a:lstStyle>
            <a:defPPr>
              <a:defRPr sz="2100" b="0">
                <a:solidFill>
                  <a:srgbClr val="52636F"/>
                </a:solidFill>
                <a:latin typeface="DejaVu Sans"/>
                <a:ea typeface="DejaVu Sans"/>
                <a:cs typeface="DejaVu Sans"/>
              </a:defRPr>
            </a:defPPr>
            <a:lvl1pPr>
              <a:defRPr sz="2100" b="0">
                <a:solidFill>
                  <a:srgbClr val="52636F"/>
                </a:solidFill>
                <a:latin typeface="DejaVu Sans"/>
                <a:ea typeface="DejaVu Sans"/>
                <a:cs typeface="DejaVu Sans"/>
              </a:defRPr>
            </a:lvl1pPr>
            <a:lvl2pPr>
              <a:defRPr sz="2100" b="0">
                <a:solidFill>
                  <a:srgbClr val="52636F"/>
                </a:solidFill>
                <a:latin typeface="DejaVu Sans"/>
                <a:ea typeface="DejaVu Sans"/>
                <a:cs typeface="DejaVu Sans"/>
              </a:defRPr>
            </a:lvl2pPr>
            <a:lvl3pPr>
              <a:defRPr sz="2100" b="0">
                <a:solidFill>
                  <a:srgbClr val="52636F"/>
                </a:solidFill>
                <a:latin typeface="DejaVu Sans"/>
                <a:ea typeface="DejaVu Sans"/>
                <a:cs typeface="DejaVu Sans"/>
              </a:defRPr>
            </a:lvl3pPr>
            <a:lvl4pPr>
              <a:defRPr sz="2100" b="0">
                <a:solidFill>
                  <a:srgbClr val="52636F"/>
                </a:solidFill>
                <a:latin typeface="DejaVu Sans"/>
                <a:ea typeface="DejaVu Sans"/>
                <a:cs typeface="DejaVu Sans"/>
              </a:defRPr>
            </a:lvl4pPr>
            <a:lvl5pPr>
              <a:defRPr sz="2100" b="0">
                <a:solidFill>
                  <a:srgbClr val="52636F"/>
                </a:solidFill>
                <a:latin typeface="DejaVu Sans"/>
                <a:ea typeface="DejaVu Sans"/>
                <a:cs typeface="DejaVu Sans"/>
              </a:defRPr>
            </a:lvl5pPr>
            <a:lvl6pPr>
              <a:defRPr sz="2100" b="0">
                <a:solidFill>
                  <a:srgbClr val="52636F"/>
                </a:solidFill>
                <a:latin typeface="DejaVu Sans"/>
                <a:ea typeface="DejaVu Sans"/>
                <a:cs typeface="DejaVu Sans"/>
              </a:defRPr>
            </a:lvl6pPr>
            <a:lvl7pPr>
              <a:defRPr sz="2100" b="0">
                <a:solidFill>
                  <a:srgbClr val="52636F"/>
                </a:solidFill>
                <a:latin typeface="DejaVu Sans"/>
                <a:ea typeface="DejaVu Sans"/>
                <a:cs typeface="DejaVu Sans"/>
              </a:defRPr>
            </a:lvl7pPr>
            <a:lvl8pPr>
              <a:defRPr sz="2100" b="0">
                <a:solidFill>
                  <a:srgbClr val="52636F"/>
                </a:solidFill>
                <a:latin typeface="DejaVu Sans"/>
                <a:ea typeface="DejaVu Sans"/>
                <a:cs typeface="DejaVu Sans"/>
              </a:defRPr>
            </a:lvl8pPr>
            <a:lvl9pPr>
              <a:defRPr sz="2100" b="0">
                <a:solidFill>
                  <a:srgbClr val="52636F"/>
                </a:solidFill>
                <a:latin typeface="DejaVu Sans"/>
                <a:ea typeface="DejaVu Sans"/>
                <a:cs typeface="DejaVu Sans"/>
              </a:defRPr>
            </a:lvl9pPr>
          </a:lstStyle>
          <a:p>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Delapan fitur numerik</a:t>
            </a:r>
          </a:p>
          <a:p>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Tidak menunjukkan</a:t>
            </a:r>
          </a:p>
          <a:p>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kolinearitas linear kuat</a:t>
            </a:r>
          </a:p>
        </p:txBody>
      </p:sp>
      <p:sp>
        <p:nvSpPr>
          <p:cNvPr id="7" name="Rectangle 6">
            <a:extLst>
              <a:ext uri="{FF2B5EF4-FFF2-40B4-BE49-F238E27FC236}">
                <a16:creationId xmlns:a16="http://schemas.microsoft.com/office/drawing/2014/main" id="{2227B3F3-C76E-4024-829C-35BBFB82D666}"/>
              </a:ext>
            </a:extLst>
          </p:cNvPr>
          <p:cNvSpPr>
            <a:spLocks noGrp="1"/>
          </p:cNvSpPr>
          <p:nvPr/>
        </p:nvSpPr>
        <p:spPr>
          <a:xfrm>
            <a:off x="609600" y="5667375"/>
            <a:ext cx="10972800" cy="476250"/>
          </a:xfrm>
          <a:prstGeom prst="rect">
            <a:avLst/>
          </a:prstGeom>
          <a:noFill/>
          <a:ln w="0">
            <a:noFill/>
            <a:prstDash val="solid"/>
          </a:ln>
        </p:spPr>
        <p:txBody>
          <a:bodyPr lIns="0" tIns="0" rIns="0" bIns="0" anchor="t"/>
          <a:lstStyle>
            <a:defPPr>
              <a:defRPr sz="2250" b="1">
                <a:solidFill>
                  <a:srgbClr val="15364A"/>
                </a:solidFill>
                <a:latin typeface="DejaVu Sans"/>
                <a:ea typeface="DejaVu Sans"/>
                <a:cs typeface="DejaVu Sans"/>
              </a:defRPr>
            </a:defPPr>
            <a:lvl1pPr>
              <a:defRPr sz="2250" b="1">
                <a:solidFill>
                  <a:srgbClr val="15364A"/>
                </a:solidFill>
                <a:latin typeface="DejaVu Sans"/>
                <a:ea typeface="DejaVu Sans"/>
                <a:cs typeface="DejaVu Sans"/>
              </a:defRPr>
            </a:lvl1pPr>
            <a:lvl2pPr>
              <a:defRPr sz="2250" b="1">
                <a:solidFill>
                  <a:srgbClr val="15364A"/>
                </a:solidFill>
                <a:latin typeface="DejaVu Sans"/>
                <a:ea typeface="DejaVu Sans"/>
                <a:cs typeface="DejaVu Sans"/>
              </a:defRPr>
            </a:lvl2pPr>
            <a:lvl3pPr>
              <a:defRPr sz="2250" b="1">
                <a:solidFill>
                  <a:srgbClr val="15364A"/>
                </a:solidFill>
                <a:latin typeface="DejaVu Sans"/>
                <a:ea typeface="DejaVu Sans"/>
                <a:cs typeface="DejaVu Sans"/>
              </a:defRPr>
            </a:lvl3pPr>
            <a:lvl4pPr>
              <a:defRPr sz="2250" b="1">
                <a:solidFill>
                  <a:srgbClr val="15364A"/>
                </a:solidFill>
                <a:latin typeface="DejaVu Sans"/>
                <a:ea typeface="DejaVu Sans"/>
                <a:cs typeface="DejaVu Sans"/>
              </a:defRPr>
            </a:lvl4pPr>
            <a:lvl5pPr>
              <a:defRPr sz="2250" b="1">
                <a:solidFill>
                  <a:srgbClr val="15364A"/>
                </a:solidFill>
                <a:latin typeface="DejaVu Sans"/>
                <a:ea typeface="DejaVu Sans"/>
                <a:cs typeface="DejaVu Sans"/>
              </a:defRPr>
            </a:lvl5pPr>
            <a:lvl6pPr>
              <a:defRPr sz="2250" b="1">
                <a:solidFill>
                  <a:srgbClr val="15364A"/>
                </a:solidFill>
                <a:latin typeface="DejaVu Sans"/>
                <a:ea typeface="DejaVu Sans"/>
                <a:cs typeface="DejaVu Sans"/>
              </a:defRPr>
            </a:lvl6pPr>
            <a:lvl7pPr>
              <a:defRPr sz="2250" b="1">
                <a:solidFill>
                  <a:srgbClr val="15364A"/>
                </a:solidFill>
                <a:latin typeface="DejaVu Sans"/>
                <a:ea typeface="DejaVu Sans"/>
                <a:cs typeface="DejaVu Sans"/>
              </a:defRPr>
            </a:lvl7pPr>
            <a:lvl8pPr>
              <a:defRPr sz="2250" b="1">
                <a:solidFill>
                  <a:srgbClr val="15364A"/>
                </a:solidFill>
                <a:latin typeface="DejaVu Sans"/>
                <a:ea typeface="DejaVu Sans"/>
                <a:cs typeface="DejaVu Sans"/>
              </a:defRPr>
            </a:lvl8pPr>
            <a:lvl9pPr>
              <a:defRPr sz="2250" b="1">
                <a:solidFill>
                  <a:srgbClr val="15364A"/>
                </a:solidFill>
                <a:latin typeface="DejaVu Sans"/>
                <a:ea typeface="DejaVu Sans"/>
                <a:cs typeface="DejaVu Sans"/>
              </a:defRPr>
            </a:lvl9pPr>
          </a:lstStyle>
          <a:p>
            <a:pPr>
              <a:defRPr sz="2250" b="1">
                <a:solidFill>
                  <a:srgbClr val="15364A"/>
                </a:solidFill>
                <a:latin typeface="DejaVu Sans"/>
                <a:ea typeface="DejaVu Sans"/>
                <a:cs typeface="DejaVu Sans"/>
              </a:defRPr>
            </a:pPr>
            <a:r>
              <a:rPr sz="2250" b="1">
                <a:solidFill>
                  <a:srgbClr val="15364A"/>
                </a:solidFill>
                <a:latin typeface="DejaVu Sans"/>
                <a:ea typeface="DejaVu Sans"/>
                <a:cs typeface="DejaVu Sans"/>
              </a:rPr>
              <a:t>Normalitas fitur bukan syarat Decision Tree</a:t>
            </a:r>
          </a:p>
        </p:txBody>
      </p:sp>
    </p:spTree>
    <p:extLst>
      <p:ext uri="{BB962C8B-B14F-4D97-AF65-F5344CB8AC3E}">
        <p14:creationId xmlns:p14="http://schemas.microsoft.com/office/powerpoint/2010/main" val="529333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617EC0-6EBE-4D13-9D4B-660E3A0C78D6}"/>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Imputasi mengubah komposisi kategori</a:t>
            </a:r>
          </a:p>
        </p:txBody>
      </p:sp>
      <p:sp>
        <p:nvSpPr>
          <p:cNvPr id="2" name="Rectangle 1">
            <a:extLst>
              <a:ext uri="{FF2B5EF4-FFF2-40B4-BE49-F238E27FC236}">
                <a16:creationId xmlns:a16="http://schemas.microsoft.com/office/drawing/2014/main" id="{C2227A0C-DAAA-4C13-B344-2F3B6515A2B2}"/>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14.  Harris Imam </a:t>
            </a:r>
            <a:r>
              <a:rPr sz="1275" b="0" dirty="0" err="1">
                <a:solidFill>
                  <a:srgbClr val="52636F"/>
                </a:solidFill>
                <a:latin typeface="DejaVu Sans"/>
                <a:ea typeface="DejaVu Sans"/>
                <a:cs typeface="DejaVu Sans"/>
              </a:rPr>
              <a:t>Fathoni</a:t>
            </a:r>
            <a:endParaRPr sz="1275" b="0" dirty="0">
              <a:solidFill>
                <a:srgbClr val="52636F"/>
              </a:solidFill>
              <a:latin typeface="DejaVu Sans"/>
              <a:ea typeface="DejaVu Sans"/>
              <a:cs typeface="DejaVu Sans"/>
            </a:endParaRPr>
          </a:p>
        </p:txBody>
      </p:sp>
      <p:graphicFrame>
        <p:nvGraphicFramePr>
          <p:cNvPr id="3" name="Chart">
            <a:extLst>
              <a:ext uri="{FF2B5EF4-FFF2-40B4-BE49-F238E27FC236}">
                <a16:creationId xmlns:a16="http://schemas.microsoft.com/office/drawing/2014/main" id="{1D84EAF6-2943-4392-8CA1-25052A394A1E}"/>
              </a:ext>
            </a:extLst>
          </p:cNvPr>
          <p:cNvGraphicFramePr/>
          <p:nvPr/>
        </p:nvGraphicFramePr>
        <p:xfrm>
          <a:off x="609600" y="1809750"/>
          <a:ext cx="6953250"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A1E4A845-C629-4F5A-8692-36B0B25AC33E}"/>
              </a:ext>
            </a:extLst>
          </p:cNvPr>
          <p:cNvSpPr>
            <a:spLocks noGrp="1"/>
          </p:cNvSpPr>
          <p:nvPr/>
        </p:nvSpPr>
        <p:spPr>
          <a:xfrm>
            <a:off x="8048625" y="2095500"/>
            <a:ext cx="3476625" cy="904875"/>
          </a:xfrm>
          <a:prstGeom prst="rect">
            <a:avLst/>
          </a:prstGeom>
          <a:noFill/>
          <a:ln w="0">
            <a:noFill/>
            <a:prstDash val="solid"/>
          </a:ln>
        </p:spPr>
        <p:txBody>
          <a:bodyPr lIns="0" tIns="0" rIns="0" bIns="0" anchor="t"/>
          <a:lstStyle>
            <a:defPPr>
              <a:defRPr sz="4575" b="1">
                <a:solidFill>
                  <a:srgbClr val="C56A29"/>
                </a:solidFill>
                <a:latin typeface="DejaVu Sans"/>
                <a:ea typeface="DejaVu Sans"/>
                <a:cs typeface="DejaVu Sans"/>
              </a:defRPr>
            </a:defPPr>
            <a:lvl1pPr>
              <a:defRPr sz="4575" b="1">
                <a:solidFill>
                  <a:srgbClr val="C56A29"/>
                </a:solidFill>
                <a:latin typeface="DejaVu Sans"/>
                <a:ea typeface="DejaVu Sans"/>
                <a:cs typeface="DejaVu Sans"/>
              </a:defRPr>
            </a:lvl1pPr>
            <a:lvl2pPr>
              <a:defRPr sz="4575" b="1">
                <a:solidFill>
                  <a:srgbClr val="C56A29"/>
                </a:solidFill>
                <a:latin typeface="DejaVu Sans"/>
                <a:ea typeface="DejaVu Sans"/>
                <a:cs typeface="DejaVu Sans"/>
              </a:defRPr>
            </a:lvl2pPr>
            <a:lvl3pPr>
              <a:defRPr sz="4575" b="1">
                <a:solidFill>
                  <a:srgbClr val="C56A29"/>
                </a:solidFill>
                <a:latin typeface="DejaVu Sans"/>
                <a:ea typeface="DejaVu Sans"/>
                <a:cs typeface="DejaVu Sans"/>
              </a:defRPr>
            </a:lvl3pPr>
            <a:lvl4pPr>
              <a:defRPr sz="4575" b="1">
                <a:solidFill>
                  <a:srgbClr val="C56A29"/>
                </a:solidFill>
                <a:latin typeface="DejaVu Sans"/>
                <a:ea typeface="DejaVu Sans"/>
                <a:cs typeface="DejaVu Sans"/>
              </a:defRPr>
            </a:lvl4pPr>
            <a:lvl5pPr>
              <a:defRPr sz="4575" b="1">
                <a:solidFill>
                  <a:srgbClr val="C56A29"/>
                </a:solidFill>
                <a:latin typeface="DejaVu Sans"/>
                <a:ea typeface="DejaVu Sans"/>
                <a:cs typeface="DejaVu Sans"/>
              </a:defRPr>
            </a:lvl5pPr>
            <a:lvl6pPr>
              <a:defRPr sz="4575" b="1">
                <a:solidFill>
                  <a:srgbClr val="C56A29"/>
                </a:solidFill>
                <a:latin typeface="DejaVu Sans"/>
                <a:ea typeface="DejaVu Sans"/>
                <a:cs typeface="DejaVu Sans"/>
              </a:defRPr>
            </a:lvl6pPr>
            <a:lvl7pPr>
              <a:defRPr sz="4575" b="1">
                <a:solidFill>
                  <a:srgbClr val="C56A29"/>
                </a:solidFill>
                <a:latin typeface="DejaVu Sans"/>
                <a:ea typeface="DejaVu Sans"/>
                <a:cs typeface="DejaVu Sans"/>
              </a:defRPr>
            </a:lvl7pPr>
            <a:lvl8pPr>
              <a:defRPr sz="4575" b="1">
                <a:solidFill>
                  <a:srgbClr val="C56A29"/>
                </a:solidFill>
                <a:latin typeface="DejaVu Sans"/>
                <a:ea typeface="DejaVu Sans"/>
                <a:cs typeface="DejaVu Sans"/>
              </a:defRPr>
            </a:lvl8pPr>
            <a:lvl9pPr>
              <a:defRPr sz="4575" b="1">
                <a:solidFill>
                  <a:srgbClr val="C56A29"/>
                </a:solidFill>
                <a:latin typeface="DejaVu Sans"/>
                <a:ea typeface="DejaVu Sans"/>
                <a:cs typeface="DejaVu Sans"/>
              </a:defRPr>
            </a:lvl9pPr>
          </a:lstStyle>
          <a:p>
            <a:pPr>
              <a:defRPr sz="4575" b="1">
                <a:solidFill>
                  <a:srgbClr val="C56A29"/>
                </a:solidFill>
                <a:latin typeface="DejaVu Sans"/>
                <a:ea typeface="DejaVu Sans"/>
                <a:cs typeface="DejaVu Sans"/>
              </a:defRPr>
            </a:pPr>
            <a:r>
              <a:rPr sz="4575" b="1">
                <a:solidFill>
                  <a:srgbClr val="C56A29"/>
                </a:solidFill>
                <a:latin typeface="DejaVu Sans"/>
                <a:ea typeface="DejaVu Sans"/>
                <a:cs typeface="DejaVu Sans"/>
              </a:rPr>
              <a:t>+2,252</a:t>
            </a:r>
          </a:p>
        </p:txBody>
      </p:sp>
      <p:sp>
        <p:nvSpPr>
          <p:cNvPr id="5" name="Rectangle 4">
            <a:extLst>
              <a:ext uri="{FF2B5EF4-FFF2-40B4-BE49-F238E27FC236}">
                <a16:creationId xmlns:a16="http://schemas.microsoft.com/office/drawing/2014/main" id="{41998CE0-D9F8-4DE0-9D1D-A27724B6D655}"/>
              </a:ext>
            </a:extLst>
          </p:cNvPr>
          <p:cNvSpPr>
            <a:spLocks noGrp="1"/>
          </p:cNvSpPr>
          <p:nvPr/>
        </p:nvSpPr>
        <p:spPr>
          <a:xfrm>
            <a:off x="8048625" y="3048000"/>
            <a:ext cx="3476625" cy="1000125"/>
          </a:xfrm>
          <a:prstGeom prst="rect">
            <a:avLst/>
          </a:prstGeom>
          <a:noFill/>
          <a:ln w="0">
            <a:noFill/>
            <a:prstDash val="solid"/>
          </a:ln>
        </p:spPr>
        <p:txBody>
          <a:bodyPr lIns="0" tIns="0" rIns="0" bIns="0" anchor="t"/>
          <a:lstStyle>
            <a:defPPr>
              <a:defRPr sz="2100" b="0">
                <a:solidFill>
                  <a:srgbClr val="52636F"/>
                </a:solidFill>
                <a:latin typeface="DejaVu Sans"/>
                <a:ea typeface="DejaVu Sans"/>
                <a:cs typeface="DejaVu Sans"/>
              </a:defRPr>
            </a:defPPr>
            <a:lvl1pPr>
              <a:defRPr sz="2100" b="0">
                <a:solidFill>
                  <a:srgbClr val="52636F"/>
                </a:solidFill>
                <a:latin typeface="DejaVu Sans"/>
                <a:ea typeface="DejaVu Sans"/>
                <a:cs typeface="DejaVu Sans"/>
              </a:defRPr>
            </a:lvl1pPr>
            <a:lvl2pPr>
              <a:defRPr sz="2100" b="0">
                <a:solidFill>
                  <a:srgbClr val="52636F"/>
                </a:solidFill>
                <a:latin typeface="DejaVu Sans"/>
                <a:ea typeface="DejaVu Sans"/>
                <a:cs typeface="DejaVu Sans"/>
              </a:defRPr>
            </a:lvl2pPr>
            <a:lvl3pPr>
              <a:defRPr sz="2100" b="0">
                <a:solidFill>
                  <a:srgbClr val="52636F"/>
                </a:solidFill>
                <a:latin typeface="DejaVu Sans"/>
                <a:ea typeface="DejaVu Sans"/>
                <a:cs typeface="DejaVu Sans"/>
              </a:defRPr>
            </a:lvl3pPr>
            <a:lvl4pPr>
              <a:defRPr sz="2100" b="0">
                <a:solidFill>
                  <a:srgbClr val="52636F"/>
                </a:solidFill>
                <a:latin typeface="DejaVu Sans"/>
                <a:ea typeface="DejaVu Sans"/>
                <a:cs typeface="DejaVu Sans"/>
              </a:defRPr>
            </a:lvl4pPr>
            <a:lvl5pPr>
              <a:defRPr sz="2100" b="0">
                <a:solidFill>
                  <a:srgbClr val="52636F"/>
                </a:solidFill>
                <a:latin typeface="DejaVu Sans"/>
                <a:ea typeface="DejaVu Sans"/>
                <a:cs typeface="DejaVu Sans"/>
              </a:defRPr>
            </a:lvl5pPr>
            <a:lvl6pPr>
              <a:defRPr sz="2100" b="0">
                <a:solidFill>
                  <a:srgbClr val="52636F"/>
                </a:solidFill>
                <a:latin typeface="DejaVu Sans"/>
                <a:ea typeface="DejaVu Sans"/>
                <a:cs typeface="DejaVu Sans"/>
              </a:defRPr>
            </a:lvl6pPr>
            <a:lvl7pPr>
              <a:defRPr sz="2100" b="0">
                <a:solidFill>
                  <a:srgbClr val="52636F"/>
                </a:solidFill>
                <a:latin typeface="DejaVu Sans"/>
                <a:ea typeface="DejaVu Sans"/>
                <a:cs typeface="DejaVu Sans"/>
              </a:defRPr>
            </a:lvl7pPr>
            <a:lvl8pPr>
              <a:defRPr sz="2100" b="0">
                <a:solidFill>
                  <a:srgbClr val="52636F"/>
                </a:solidFill>
                <a:latin typeface="DejaVu Sans"/>
                <a:ea typeface="DejaVu Sans"/>
                <a:cs typeface="DejaVu Sans"/>
              </a:defRPr>
            </a:lvl8pPr>
            <a:lvl9pPr>
              <a:defRPr sz="2100" b="0">
                <a:solidFill>
                  <a:srgbClr val="52636F"/>
                </a:solidFill>
                <a:latin typeface="DejaVu Sans"/>
                <a:ea typeface="DejaVu Sans"/>
                <a:cs typeface="DejaVu Sans"/>
              </a:defRPr>
            </a:lvl9pPr>
          </a:lstStyle>
          <a:p>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poin persentase</a:t>
            </a:r>
          </a:p>
          <a:p>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pada kategori mayoritas</a:t>
            </a:r>
          </a:p>
        </p:txBody>
      </p:sp>
      <p:sp>
        <p:nvSpPr>
          <p:cNvPr id="6" name="Rectangle 5">
            <a:extLst>
              <a:ext uri="{FF2B5EF4-FFF2-40B4-BE49-F238E27FC236}">
                <a16:creationId xmlns:a16="http://schemas.microsoft.com/office/drawing/2014/main" id="{8F13BAC6-EF15-412D-A5E9-5311661CEDE1}"/>
              </a:ext>
            </a:extLst>
          </p:cNvPr>
          <p:cNvSpPr>
            <a:spLocks noGrp="1"/>
          </p:cNvSpPr>
          <p:nvPr/>
        </p:nvSpPr>
        <p:spPr>
          <a:xfrm>
            <a:off x="8048625" y="4476750"/>
            <a:ext cx="3476625" cy="952500"/>
          </a:xfrm>
          <a:prstGeom prst="rect">
            <a:avLst/>
          </a:prstGeom>
          <a:noFill/>
          <a:ln w="0">
            <a:noFill/>
            <a:prstDash val="solid"/>
          </a:ln>
        </p:spPr>
        <p:txBody>
          <a:bodyPr lIns="0" tIns="0" rIns="0" bIns="0" anchor="t"/>
          <a:lstStyle>
            <a:defPPr>
              <a:defRPr sz="2400" b="1">
                <a:solidFill>
                  <a:srgbClr val="087F8C"/>
                </a:solidFill>
                <a:latin typeface="DejaVu Sans"/>
                <a:ea typeface="DejaVu Sans"/>
                <a:cs typeface="DejaVu Sans"/>
              </a:defRPr>
            </a:defPPr>
            <a:lvl1pPr>
              <a:defRPr sz="2400" b="1">
                <a:solidFill>
                  <a:srgbClr val="087F8C"/>
                </a:solidFill>
                <a:latin typeface="DejaVu Sans"/>
                <a:ea typeface="DejaVu Sans"/>
                <a:cs typeface="DejaVu Sans"/>
              </a:defRPr>
            </a:lvl1pPr>
            <a:lvl2pPr>
              <a:defRPr sz="2400" b="1">
                <a:solidFill>
                  <a:srgbClr val="087F8C"/>
                </a:solidFill>
                <a:latin typeface="DejaVu Sans"/>
                <a:ea typeface="DejaVu Sans"/>
                <a:cs typeface="DejaVu Sans"/>
              </a:defRPr>
            </a:lvl2pPr>
            <a:lvl3pPr>
              <a:defRPr sz="2400" b="1">
                <a:solidFill>
                  <a:srgbClr val="087F8C"/>
                </a:solidFill>
                <a:latin typeface="DejaVu Sans"/>
                <a:ea typeface="DejaVu Sans"/>
                <a:cs typeface="DejaVu Sans"/>
              </a:defRPr>
            </a:lvl3pPr>
            <a:lvl4pPr>
              <a:defRPr sz="2400" b="1">
                <a:solidFill>
                  <a:srgbClr val="087F8C"/>
                </a:solidFill>
                <a:latin typeface="DejaVu Sans"/>
                <a:ea typeface="DejaVu Sans"/>
                <a:cs typeface="DejaVu Sans"/>
              </a:defRPr>
            </a:lvl4pPr>
            <a:lvl5pPr>
              <a:defRPr sz="2400" b="1">
                <a:solidFill>
                  <a:srgbClr val="087F8C"/>
                </a:solidFill>
                <a:latin typeface="DejaVu Sans"/>
                <a:ea typeface="DejaVu Sans"/>
                <a:cs typeface="DejaVu Sans"/>
              </a:defRPr>
            </a:lvl5pPr>
            <a:lvl6pPr>
              <a:defRPr sz="2400" b="1">
                <a:solidFill>
                  <a:srgbClr val="087F8C"/>
                </a:solidFill>
                <a:latin typeface="DejaVu Sans"/>
                <a:ea typeface="DejaVu Sans"/>
                <a:cs typeface="DejaVu Sans"/>
              </a:defRPr>
            </a:lvl6pPr>
            <a:lvl7pPr>
              <a:defRPr sz="2400" b="1">
                <a:solidFill>
                  <a:srgbClr val="087F8C"/>
                </a:solidFill>
                <a:latin typeface="DejaVu Sans"/>
                <a:ea typeface="DejaVu Sans"/>
                <a:cs typeface="DejaVu Sans"/>
              </a:defRPr>
            </a:lvl7pPr>
            <a:lvl8pPr>
              <a:defRPr sz="2400" b="1">
                <a:solidFill>
                  <a:srgbClr val="087F8C"/>
                </a:solidFill>
                <a:latin typeface="DejaVu Sans"/>
                <a:ea typeface="DejaVu Sans"/>
                <a:cs typeface="DejaVu Sans"/>
              </a:defRPr>
            </a:lvl8pPr>
            <a:lvl9pPr>
              <a:defRPr sz="2400" b="1">
                <a:solidFill>
                  <a:srgbClr val="087F8C"/>
                </a:solidFill>
                <a:latin typeface="DejaVu Sans"/>
                <a:ea typeface="DejaVu Sans"/>
                <a:cs typeface="DejaVu Sans"/>
              </a:defRPr>
            </a:lvl9pPr>
          </a:lstStyle>
          <a:p>
            <a:pPr>
              <a:defRPr sz="2400" b="1">
                <a:solidFill>
                  <a:srgbClr val="087F8C"/>
                </a:solidFill>
                <a:latin typeface="DejaVu Sans"/>
                <a:ea typeface="DejaVu Sans"/>
                <a:cs typeface="DejaVu Sans"/>
              </a:defRPr>
            </a:pPr>
            <a:r>
              <a:rPr sz="2400" b="1">
                <a:solidFill>
                  <a:srgbClr val="087F8C"/>
                </a:solidFill>
                <a:latin typeface="DejaVu Sans"/>
                <a:ea typeface="DejaVu Sans"/>
                <a:cs typeface="DejaVu Sans"/>
              </a:rPr>
              <a:t>Numerik dan</a:t>
            </a:r>
          </a:p>
          <a:p>
            <a:pPr>
              <a:defRPr sz="2400" b="1">
                <a:solidFill>
                  <a:srgbClr val="087F8C"/>
                </a:solidFill>
                <a:latin typeface="DejaVu Sans"/>
                <a:ea typeface="DejaVu Sans"/>
                <a:cs typeface="DejaVu Sans"/>
              </a:defRPr>
            </a:pPr>
            <a:r>
              <a:rPr sz="2400" b="1">
                <a:solidFill>
                  <a:srgbClr val="087F8C"/>
                </a:solidFill>
                <a:latin typeface="DejaVu Sans"/>
                <a:ea typeface="DejaVu Sans"/>
                <a:cs typeface="DejaVu Sans"/>
              </a:rPr>
              <a:t>korelasi tetap</a:t>
            </a:r>
          </a:p>
        </p:txBody>
      </p:sp>
      <p:sp>
        <p:nvSpPr>
          <p:cNvPr id="7" name="Rectangle 6">
            <a:extLst>
              <a:ext uri="{FF2B5EF4-FFF2-40B4-BE49-F238E27FC236}">
                <a16:creationId xmlns:a16="http://schemas.microsoft.com/office/drawing/2014/main" id="{39C419B2-ED4D-407F-9216-1A5B5B6CD297}"/>
              </a:ext>
            </a:extLst>
          </p:cNvPr>
          <p:cNvSpPr>
            <a:spLocks noGrp="1"/>
          </p:cNvSpPr>
          <p:nvPr/>
        </p:nvSpPr>
        <p:spPr>
          <a:xfrm>
            <a:off x="609600" y="5810250"/>
            <a:ext cx="10972800" cy="381000"/>
          </a:xfrm>
          <a:prstGeom prst="rect">
            <a:avLst/>
          </a:prstGeom>
          <a:noFill/>
          <a:ln w="0">
            <a:noFill/>
            <a:prstDash val="solid"/>
          </a:ln>
        </p:spPr>
        <p:txBody>
          <a:bodyPr lIns="0" tIns="0" rIns="0" bIns="0" anchor="t"/>
          <a:lstStyle>
            <a:defPPr>
              <a:defRPr sz="1800" b="0">
                <a:solidFill>
                  <a:srgbClr val="52636F"/>
                </a:solidFill>
                <a:latin typeface="DejaVu Sans"/>
                <a:ea typeface="DejaVu Sans"/>
                <a:cs typeface="DejaVu Sans"/>
              </a:defRPr>
            </a:defPPr>
            <a:lvl1pPr>
              <a:defRPr sz="1800" b="0">
                <a:solidFill>
                  <a:srgbClr val="52636F"/>
                </a:solidFill>
                <a:latin typeface="DejaVu Sans"/>
                <a:ea typeface="DejaVu Sans"/>
                <a:cs typeface="DejaVu Sans"/>
              </a:defRPr>
            </a:lvl1pPr>
            <a:lvl2pPr>
              <a:defRPr sz="1800" b="0">
                <a:solidFill>
                  <a:srgbClr val="52636F"/>
                </a:solidFill>
                <a:latin typeface="DejaVu Sans"/>
                <a:ea typeface="DejaVu Sans"/>
                <a:cs typeface="DejaVu Sans"/>
              </a:defRPr>
            </a:lvl2pPr>
            <a:lvl3pPr>
              <a:defRPr sz="1800" b="0">
                <a:solidFill>
                  <a:srgbClr val="52636F"/>
                </a:solidFill>
                <a:latin typeface="DejaVu Sans"/>
                <a:ea typeface="DejaVu Sans"/>
                <a:cs typeface="DejaVu Sans"/>
              </a:defRPr>
            </a:lvl3pPr>
            <a:lvl4pPr>
              <a:defRPr sz="1800" b="0">
                <a:solidFill>
                  <a:srgbClr val="52636F"/>
                </a:solidFill>
                <a:latin typeface="DejaVu Sans"/>
                <a:ea typeface="DejaVu Sans"/>
                <a:cs typeface="DejaVu Sans"/>
              </a:defRPr>
            </a:lvl4pPr>
            <a:lvl5pPr>
              <a:defRPr sz="1800" b="0">
                <a:solidFill>
                  <a:srgbClr val="52636F"/>
                </a:solidFill>
                <a:latin typeface="DejaVu Sans"/>
                <a:ea typeface="DejaVu Sans"/>
                <a:cs typeface="DejaVu Sans"/>
              </a:defRPr>
            </a:lvl5pPr>
            <a:lvl6pPr>
              <a:defRPr sz="1800" b="0">
                <a:solidFill>
                  <a:srgbClr val="52636F"/>
                </a:solidFill>
                <a:latin typeface="DejaVu Sans"/>
                <a:ea typeface="DejaVu Sans"/>
                <a:cs typeface="DejaVu Sans"/>
              </a:defRPr>
            </a:lvl6pPr>
            <a:lvl7pPr>
              <a:defRPr sz="1800" b="0">
                <a:solidFill>
                  <a:srgbClr val="52636F"/>
                </a:solidFill>
                <a:latin typeface="DejaVu Sans"/>
                <a:ea typeface="DejaVu Sans"/>
                <a:cs typeface="DejaVu Sans"/>
              </a:defRPr>
            </a:lvl7pPr>
            <a:lvl8pPr>
              <a:defRPr sz="1800" b="0">
                <a:solidFill>
                  <a:srgbClr val="52636F"/>
                </a:solidFill>
                <a:latin typeface="DejaVu Sans"/>
                <a:ea typeface="DejaVu Sans"/>
                <a:cs typeface="DejaVu Sans"/>
              </a:defRPr>
            </a:lvl8pPr>
            <a:lvl9pPr>
              <a:defRPr sz="1800" b="0">
                <a:solidFill>
                  <a:srgbClr val="52636F"/>
                </a:solidFill>
                <a:latin typeface="DejaVu Sans"/>
                <a:ea typeface="DejaVu Sans"/>
                <a:cs typeface="DejaVu Sans"/>
              </a:defRPr>
            </a:lvl9pPr>
          </a:lstStyle>
          <a:p>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Perubahan distribusi perlu dibahas sebagai potensi bias imputasi</a:t>
            </a:r>
          </a:p>
        </p:txBody>
      </p:sp>
    </p:spTree>
    <p:extLst>
      <p:ext uri="{BB962C8B-B14F-4D97-AF65-F5344CB8AC3E}">
        <p14:creationId xmlns:p14="http://schemas.microsoft.com/office/powerpoint/2010/main" val="521156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3748E1A-6F9A-4B7E-9CB4-AF5B66F72949}"/>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Kesimpulan dan batas eksperimen</a:t>
            </a:r>
          </a:p>
        </p:txBody>
      </p:sp>
      <p:sp>
        <p:nvSpPr>
          <p:cNvPr id="2" name="Rectangle 1">
            <a:extLst>
              <a:ext uri="{FF2B5EF4-FFF2-40B4-BE49-F238E27FC236}">
                <a16:creationId xmlns:a16="http://schemas.microsoft.com/office/drawing/2014/main" id="{327B5841-84BD-45A5-823A-9D98EF397274}"/>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dirty="0">
                <a:solidFill>
                  <a:srgbClr val="52636F"/>
                </a:solidFill>
                <a:latin typeface="DejaVu Sans"/>
                <a:ea typeface="DejaVu Sans"/>
                <a:cs typeface="DejaVu Sans"/>
              </a:rPr>
              <a:t>15.  Harris Imam </a:t>
            </a:r>
            <a:r>
              <a:rPr sz="1275" b="0" dirty="0" err="1">
                <a:solidFill>
                  <a:srgbClr val="52636F"/>
                </a:solidFill>
                <a:latin typeface="DejaVu Sans"/>
                <a:ea typeface="DejaVu Sans"/>
                <a:cs typeface="DejaVu Sans"/>
              </a:rPr>
              <a:t>Fathoni</a:t>
            </a:r>
            <a:endParaRPr sz="1275" b="0" dirty="0">
              <a:solidFill>
                <a:srgbClr val="52636F"/>
              </a:solidFill>
              <a:latin typeface="DejaVu Sans"/>
              <a:ea typeface="DejaVu Sans"/>
              <a:cs typeface="DejaVu Sans"/>
            </a:endParaRPr>
          </a:p>
        </p:txBody>
      </p:sp>
      <p:sp>
        <p:nvSpPr>
          <p:cNvPr id="3" name="Rectangle 2">
            <a:extLst>
              <a:ext uri="{FF2B5EF4-FFF2-40B4-BE49-F238E27FC236}">
                <a16:creationId xmlns:a16="http://schemas.microsoft.com/office/drawing/2014/main" id="{ACCFB865-A3E7-4FC5-9C33-14B8586B07B8}"/>
              </a:ext>
            </a:extLst>
          </p:cNvPr>
          <p:cNvSpPr>
            <a:spLocks noGrp="1"/>
          </p:cNvSpPr>
          <p:nvPr/>
        </p:nvSpPr>
        <p:spPr>
          <a:xfrm>
            <a:off x="609600" y="1762125"/>
            <a:ext cx="1905000" cy="571500"/>
          </a:xfrm>
          <a:prstGeom prst="rect">
            <a:avLst/>
          </a:prstGeom>
          <a:noFill/>
          <a:ln w="0">
            <a:noFill/>
            <a:prstDash val="solid"/>
          </a:ln>
        </p:spPr>
        <p:txBody>
          <a:bodyPr lIns="0" tIns="0" rIns="0" bIns="0" anchor="t"/>
          <a:lstStyle>
            <a:defPPr>
              <a:defRPr sz="2700" b="1">
                <a:solidFill>
                  <a:srgbClr val="087F8C"/>
                </a:solidFill>
                <a:latin typeface="DejaVu Sans"/>
                <a:ea typeface="DejaVu Sans"/>
                <a:cs typeface="DejaVu Sans"/>
              </a:defRPr>
            </a:defPPr>
            <a:lvl1pPr>
              <a:defRPr sz="2700" b="1">
                <a:solidFill>
                  <a:srgbClr val="087F8C"/>
                </a:solidFill>
                <a:latin typeface="DejaVu Sans"/>
                <a:ea typeface="DejaVu Sans"/>
                <a:cs typeface="DejaVu Sans"/>
              </a:defRPr>
            </a:lvl1pPr>
            <a:lvl2pPr>
              <a:defRPr sz="2700" b="1">
                <a:solidFill>
                  <a:srgbClr val="087F8C"/>
                </a:solidFill>
                <a:latin typeface="DejaVu Sans"/>
                <a:ea typeface="DejaVu Sans"/>
                <a:cs typeface="DejaVu Sans"/>
              </a:defRPr>
            </a:lvl2pPr>
            <a:lvl3pPr>
              <a:defRPr sz="2700" b="1">
                <a:solidFill>
                  <a:srgbClr val="087F8C"/>
                </a:solidFill>
                <a:latin typeface="DejaVu Sans"/>
                <a:ea typeface="DejaVu Sans"/>
                <a:cs typeface="DejaVu Sans"/>
              </a:defRPr>
            </a:lvl3pPr>
            <a:lvl4pPr>
              <a:defRPr sz="2700" b="1">
                <a:solidFill>
                  <a:srgbClr val="087F8C"/>
                </a:solidFill>
                <a:latin typeface="DejaVu Sans"/>
                <a:ea typeface="DejaVu Sans"/>
                <a:cs typeface="DejaVu Sans"/>
              </a:defRPr>
            </a:lvl4pPr>
            <a:lvl5pPr>
              <a:defRPr sz="2700" b="1">
                <a:solidFill>
                  <a:srgbClr val="087F8C"/>
                </a:solidFill>
                <a:latin typeface="DejaVu Sans"/>
                <a:ea typeface="DejaVu Sans"/>
                <a:cs typeface="DejaVu Sans"/>
              </a:defRPr>
            </a:lvl5pPr>
            <a:lvl6pPr>
              <a:defRPr sz="2700" b="1">
                <a:solidFill>
                  <a:srgbClr val="087F8C"/>
                </a:solidFill>
                <a:latin typeface="DejaVu Sans"/>
                <a:ea typeface="DejaVu Sans"/>
                <a:cs typeface="DejaVu Sans"/>
              </a:defRPr>
            </a:lvl6pPr>
            <a:lvl7pPr>
              <a:defRPr sz="2700" b="1">
                <a:solidFill>
                  <a:srgbClr val="087F8C"/>
                </a:solidFill>
                <a:latin typeface="DejaVu Sans"/>
                <a:ea typeface="DejaVu Sans"/>
                <a:cs typeface="DejaVu Sans"/>
              </a:defRPr>
            </a:lvl7pPr>
            <a:lvl8pPr>
              <a:defRPr sz="2700" b="1">
                <a:solidFill>
                  <a:srgbClr val="087F8C"/>
                </a:solidFill>
                <a:latin typeface="DejaVu Sans"/>
                <a:ea typeface="DejaVu Sans"/>
                <a:cs typeface="DejaVu Sans"/>
              </a:defRPr>
            </a:lvl8pPr>
            <a:lvl9pPr>
              <a:defRPr sz="2700" b="1">
                <a:solidFill>
                  <a:srgbClr val="087F8C"/>
                </a:solidFill>
                <a:latin typeface="DejaVu Sans"/>
                <a:ea typeface="DejaVu Sans"/>
                <a:cs typeface="DejaVu Sans"/>
              </a:defRPr>
            </a:lvl9pPr>
          </a:lstStyle>
          <a:p>
            <a:pPr>
              <a:defRPr sz="2700" b="1">
                <a:solidFill>
                  <a:srgbClr val="087F8C"/>
                </a:solidFill>
                <a:latin typeface="DejaVu Sans"/>
                <a:ea typeface="DejaVu Sans"/>
                <a:cs typeface="DejaVu Sans"/>
              </a:defRPr>
            </a:pPr>
            <a:r>
              <a:rPr sz="2700" b="1">
                <a:solidFill>
                  <a:srgbClr val="087F8C"/>
                </a:solidFill>
                <a:latin typeface="DejaVu Sans"/>
                <a:ea typeface="DejaVu Sans"/>
                <a:cs typeface="DejaVu Sans"/>
              </a:rPr>
              <a:t>MP2</a:t>
            </a:r>
          </a:p>
        </p:txBody>
      </p:sp>
      <p:sp>
        <p:nvSpPr>
          <p:cNvPr id="4" name="Rectangle 3">
            <a:extLst>
              <a:ext uri="{FF2B5EF4-FFF2-40B4-BE49-F238E27FC236}">
                <a16:creationId xmlns:a16="http://schemas.microsoft.com/office/drawing/2014/main" id="{4B3AB208-6920-4742-A271-D214507F50E4}"/>
              </a:ext>
            </a:extLst>
          </p:cNvPr>
          <p:cNvSpPr>
            <a:spLocks noGrp="1"/>
          </p:cNvSpPr>
          <p:nvPr/>
        </p:nvSpPr>
        <p:spPr>
          <a:xfrm>
            <a:off x="2667000" y="1762125"/>
            <a:ext cx="8715375" cy="857250"/>
          </a:xfrm>
          <a:prstGeom prst="rect">
            <a:avLst/>
          </a:prstGeom>
          <a:noFill/>
          <a:ln w="0">
            <a:noFill/>
            <a:prstDash val="solid"/>
          </a:ln>
        </p:spPr>
        <p:txBody>
          <a:bodyPr lIns="0" tIns="0" rIns="0" bIns="0" anchor="t"/>
          <a:lstStyle>
            <a:defPPr>
              <a:defRPr sz="2400" b="1">
                <a:solidFill>
                  <a:srgbClr val="15364A"/>
                </a:solidFill>
                <a:latin typeface="DejaVu Sans"/>
                <a:ea typeface="DejaVu Sans"/>
                <a:cs typeface="DejaVu Sans"/>
              </a:defRPr>
            </a:defPPr>
            <a:lvl1pPr>
              <a:defRPr sz="2400" b="1">
                <a:solidFill>
                  <a:srgbClr val="15364A"/>
                </a:solidFill>
                <a:latin typeface="DejaVu Sans"/>
                <a:ea typeface="DejaVu Sans"/>
                <a:cs typeface="DejaVu Sans"/>
              </a:defRPr>
            </a:lvl1pPr>
            <a:lvl2pPr>
              <a:defRPr sz="2400" b="1">
                <a:solidFill>
                  <a:srgbClr val="15364A"/>
                </a:solidFill>
                <a:latin typeface="DejaVu Sans"/>
                <a:ea typeface="DejaVu Sans"/>
                <a:cs typeface="DejaVu Sans"/>
              </a:defRPr>
            </a:lvl2pPr>
            <a:lvl3pPr>
              <a:defRPr sz="2400" b="1">
                <a:solidFill>
                  <a:srgbClr val="15364A"/>
                </a:solidFill>
                <a:latin typeface="DejaVu Sans"/>
                <a:ea typeface="DejaVu Sans"/>
                <a:cs typeface="DejaVu Sans"/>
              </a:defRPr>
            </a:lvl3pPr>
            <a:lvl4pPr>
              <a:defRPr sz="2400" b="1">
                <a:solidFill>
                  <a:srgbClr val="15364A"/>
                </a:solidFill>
                <a:latin typeface="DejaVu Sans"/>
                <a:ea typeface="DejaVu Sans"/>
                <a:cs typeface="DejaVu Sans"/>
              </a:defRPr>
            </a:lvl4pPr>
            <a:lvl5pPr>
              <a:defRPr sz="2400" b="1">
                <a:solidFill>
                  <a:srgbClr val="15364A"/>
                </a:solidFill>
                <a:latin typeface="DejaVu Sans"/>
                <a:ea typeface="DejaVu Sans"/>
                <a:cs typeface="DejaVu Sans"/>
              </a:defRPr>
            </a:lvl5pPr>
            <a:lvl6pPr>
              <a:defRPr sz="2400" b="1">
                <a:solidFill>
                  <a:srgbClr val="15364A"/>
                </a:solidFill>
                <a:latin typeface="DejaVu Sans"/>
                <a:ea typeface="DejaVu Sans"/>
                <a:cs typeface="DejaVu Sans"/>
              </a:defRPr>
            </a:lvl6pPr>
            <a:lvl7pPr>
              <a:defRPr sz="2400" b="1">
                <a:solidFill>
                  <a:srgbClr val="15364A"/>
                </a:solidFill>
                <a:latin typeface="DejaVu Sans"/>
                <a:ea typeface="DejaVu Sans"/>
                <a:cs typeface="DejaVu Sans"/>
              </a:defRPr>
            </a:lvl7pPr>
            <a:lvl8pPr>
              <a:defRPr sz="2400" b="1">
                <a:solidFill>
                  <a:srgbClr val="15364A"/>
                </a:solidFill>
                <a:latin typeface="DejaVu Sans"/>
                <a:ea typeface="DejaVu Sans"/>
                <a:cs typeface="DejaVu Sans"/>
              </a:defRPr>
            </a:lvl8pPr>
            <a:lvl9pPr>
              <a:defRPr sz="2400" b="1">
                <a:solidFill>
                  <a:srgbClr val="15364A"/>
                </a:solidFill>
                <a:latin typeface="DejaVu Sans"/>
                <a:ea typeface="DejaVu Sans"/>
                <a:cs typeface="DejaVu Sans"/>
              </a:defRPr>
            </a:lvl9pPr>
          </a:lstStyle>
          <a:p>
            <a:pPr>
              <a:defRPr sz="2400" b="1">
                <a:solidFill>
                  <a:srgbClr val="15364A"/>
                </a:solidFill>
                <a:latin typeface="DejaVu Sans"/>
                <a:ea typeface="DejaVu Sans"/>
                <a:cs typeface="DejaVu Sans"/>
              </a:defRPr>
            </a:pPr>
            <a:r>
              <a:rPr sz="2400" b="1">
                <a:solidFill>
                  <a:srgbClr val="15364A"/>
                </a:solidFill>
                <a:latin typeface="DejaVu Sans"/>
                <a:ea typeface="DejaVu Sans"/>
                <a:cs typeface="DejaVu Sans"/>
              </a:rPr>
              <a:t>Recall meningkat, accuracy dan F1 sedikit menurun</a:t>
            </a:r>
          </a:p>
        </p:txBody>
      </p:sp>
      <p:sp>
        <p:nvSpPr>
          <p:cNvPr id="5" name="Rectangle 4">
            <a:extLst>
              <a:ext uri="{FF2B5EF4-FFF2-40B4-BE49-F238E27FC236}">
                <a16:creationId xmlns:a16="http://schemas.microsoft.com/office/drawing/2014/main" id="{292CF4AE-571F-4496-A19B-6AED06E8809E}"/>
              </a:ext>
            </a:extLst>
          </p:cNvPr>
          <p:cNvSpPr>
            <a:spLocks noGrp="1"/>
          </p:cNvSpPr>
          <p:nvPr/>
        </p:nvSpPr>
        <p:spPr>
          <a:xfrm>
            <a:off x="609600" y="2905125"/>
            <a:ext cx="1905000" cy="571500"/>
          </a:xfrm>
          <a:prstGeom prst="rect">
            <a:avLst/>
          </a:prstGeom>
          <a:noFill/>
          <a:ln w="0">
            <a:noFill/>
            <a:prstDash val="solid"/>
          </a:ln>
        </p:spPr>
        <p:txBody>
          <a:bodyPr lIns="0" tIns="0" rIns="0" bIns="0" anchor="t"/>
          <a:lstStyle>
            <a:defPPr>
              <a:defRPr sz="2700" b="1">
                <a:solidFill>
                  <a:srgbClr val="087F8C"/>
                </a:solidFill>
                <a:latin typeface="DejaVu Sans"/>
                <a:ea typeface="DejaVu Sans"/>
                <a:cs typeface="DejaVu Sans"/>
              </a:defRPr>
            </a:defPPr>
            <a:lvl1pPr>
              <a:defRPr sz="2700" b="1">
                <a:solidFill>
                  <a:srgbClr val="087F8C"/>
                </a:solidFill>
                <a:latin typeface="DejaVu Sans"/>
                <a:ea typeface="DejaVu Sans"/>
                <a:cs typeface="DejaVu Sans"/>
              </a:defRPr>
            </a:lvl1pPr>
            <a:lvl2pPr>
              <a:defRPr sz="2700" b="1">
                <a:solidFill>
                  <a:srgbClr val="087F8C"/>
                </a:solidFill>
                <a:latin typeface="DejaVu Sans"/>
                <a:ea typeface="DejaVu Sans"/>
                <a:cs typeface="DejaVu Sans"/>
              </a:defRPr>
            </a:lvl2pPr>
            <a:lvl3pPr>
              <a:defRPr sz="2700" b="1">
                <a:solidFill>
                  <a:srgbClr val="087F8C"/>
                </a:solidFill>
                <a:latin typeface="DejaVu Sans"/>
                <a:ea typeface="DejaVu Sans"/>
                <a:cs typeface="DejaVu Sans"/>
              </a:defRPr>
            </a:lvl3pPr>
            <a:lvl4pPr>
              <a:defRPr sz="2700" b="1">
                <a:solidFill>
                  <a:srgbClr val="087F8C"/>
                </a:solidFill>
                <a:latin typeface="DejaVu Sans"/>
                <a:ea typeface="DejaVu Sans"/>
                <a:cs typeface="DejaVu Sans"/>
              </a:defRPr>
            </a:lvl4pPr>
            <a:lvl5pPr>
              <a:defRPr sz="2700" b="1">
                <a:solidFill>
                  <a:srgbClr val="087F8C"/>
                </a:solidFill>
                <a:latin typeface="DejaVu Sans"/>
                <a:ea typeface="DejaVu Sans"/>
                <a:cs typeface="DejaVu Sans"/>
              </a:defRPr>
            </a:lvl5pPr>
            <a:lvl6pPr>
              <a:defRPr sz="2700" b="1">
                <a:solidFill>
                  <a:srgbClr val="087F8C"/>
                </a:solidFill>
                <a:latin typeface="DejaVu Sans"/>
                <a:ea typeface="DejaVu Sans"/>
                <a:cs typeface="DejaVu Sans"/>
              </a:defRPr>
            </a:lvl6pPr>
            <a:lvl7pPr>
              <a:defRPr sz="2700" b="1">
                <a:solidFill>
                  <a:srgbClr val="087F8C"/>
                </a:solidFill>
                <a:latin typeface="DejaVu Sans"/>
                <a:ea typeface="DejaVu Sans"/>
                <a:cs typeface="DejaVu Sans"/>
              </a:defRPr>
            </a:lvl7pPr>
            <a:lvl8pPr>
              <a:defRPr sz="2700" b="1">
                <a:solidFill>
                  <a:srgbClr val="087F8C"/>
                </a:solidFill>
                <a:latin typeface="DejaVu Sans"/>
                <a:ea typeface="DejaVu Sans"/>
                <a:cs typeface="DejaVu Sans"/>
              </a:defRPr>
            </a:lvl8pPr>
            <a:lvl9pPr>
              <a:defRPr sz="2700" b="1">
                <a:solidFill>
                  <a:srgbClr val="087F8C"/>
                </a:solidFill>
                <a:latin typeface="DejaVu Sans"/>
                <a:ea typeface="DejaVu Sans"/>
                <a:cs typeface="DejaVu Sans"/>
              </a:defRPr>
            </a:lvl9pPr>
          </a:lstStyle>
          <a:p>
            <a:pPr>
              <a:defRPr sz="2700" b="1">
                <a:solidFill>
                  <a:srgbClr val="087F8C"/>
                </a:solidFill>
                <a:latin typeface="DejaVu Sans"/>
                <a:ea typeface="DejaVu Sans"/>
                <a:cs typeface="DejaVu Sans"/>
              </a:defRPr>
            </a:pPr>
            <a:r>
              <a:rPr sz="2700" b="1">
                <a:solidFill>
                  <a:srgbClr val="087F8C"/>
                </a:solidFill>
                <a:latin typeface="DejaVu Sans"/>
                <a:ea typeface="DejaVu Sans"/>
                <a:cs typeface="DejaVu Sans"/>
              </a:rPr>
              <a:t>MP4</a:t>
            </a:r>
          </a:p>
        </p:txBody>
      </p:sp>
      <p:sp>
        <p:nvSpPr>
          <p:cNvPr id="6" name="Rectangle 5">
            <a:extLst>
              <a:ext uri="{FF2B5EF4-FFF2-40B4-BE49-F238E27FC236}">
                <a16:creationId xmlns:a16="http://schemas.microsoft.com/office/drawing/2014/main" id="{41552A07-AEB9-4AA0-8292-8A1C60B3EC99}"/>
              </a:ext>
            </a:extLst>
          </p:cNvPr>
          <p:cNvSpPr>
            <a:spLocks noGrp="1"/>
          </p:cNvSpPr>
          <p:nvPr/>
        </p:nvSpPr>
        <p:spPr>
          <a:xfrm>
            <a:off x="2667000" y="2905125"/>
            <a:ext cx="8715375" cy="857250"/>
          </a:xfrm>
          <a:prstGeom prst="rect">
            <a:avLst/>
          </a:prstGeom>
          <a:noFill/>
          <a:ln w="0">
            <a:noFill/>
            <a:prstDash val="solid"/>
          </a:ln>
        </p:spPr>
        <p:txBody>
          <a:bodyPr lIns="0" tIns="0" rIns="0" bIns="0" anchor="t"/>
          <a:lstStyle>
            <a:defPPr>
              <a:defRPr sz="2400" b="1">
                <a:solidFill>
                  <a:srgbClr val="15364A"/>
                </a:solidFill>
                <a:latin typeface="DejaVu Sans"/>
                <a:ea typeface="DejaVu Sans"/>
                <a:cs typeface="DejaVu Sans"/>
              </a:defRPr>
            </a:defPPr>
            <a:lvl1pPr>
              <a:defRPr sz="2400" b="1">
                <a:solidFill>
                  <a:srgbClr val="15364A"/>
                </a:solidFill>
                <a:latin typeface="DejaVu Sans"/>
                <a:ea typeface="DejaVu Sans"/>
                <a:cs typeface="DejaVu Sans"/>
              </a:defRPr>
            </a:lvl1pPr>
            <a:lvl2pPr>
              <a:defRPr sz="2400" b="1">
                <a:solidFill>
                  <a:srgbClr val="15364A"/>
                </a:solidFill>
                <a:latin typeface="DejaVu Sans"/>
                <a:ea typeface="DejaVu Sans"/>
                <a:cs typeface="DejaVu Sans"/>
              </a:defRPr>
            </a:lvl2pPr>
            <a:lvl3pPr>
              <a:defRPr sz="2400" b="1">
                <a:solidFill>
                  <a:srgbClr val="15364A"/>
                </a:solidFill>
                <a:latin typeface="DejaVu Sans"/>
                <a:ea typeface="DejaVu Sans"/>
                <a:cs typeface="DejaVu Sans"/>
              </a:defRPr>
            </a:lvl3pPr>
            <a:lvl4pPr>
              <a:defRPr sz="2400" b="1">
                <a:solidFill>
                  <a:srgbClr val="15364A"/>
                </a:solidFill>
                <a:latin typeface="DejaVu Sans"/>
                <a:ea typeface="DejaVu Sans"/>
                <a:cs typeface="DejaVu Sans"/>
              </a:defRPr>
            </a:lvl4pPr>
            <a:lvl5pPr>
              <a:defRPr sz="2400" b="1">
                <a:solidFill>
                  <a:srgbClr val="15364A"/>
                </a:solidFill>
                <a:latin typeface="DejaVu Sans"/>
                <a:ea typeface="DejaVu Sans"/>
                <a:cs typeface="DejaVu Sans"/>
              </a:defRPr>
            </a:lvl5pPr>
            <a:lvl6pPr>
              <a:defRPr sz="2400" b="1">
                <a:solidFill>
                  <a:srgbClr val="15364A"/>
                </a:solidFill>
                <a:latin typeface="DejaVu Sans"/>
                <a:ea typeface="DejaVu Sans"/>
                <a:cs typeface="DejaVu Sans"/>
              </a:defRPr>
            </a:lvl6pPr>
            <a:lvl7pPr>
              <a:defRPr sz="2400" b="1">
                <a:solidFill>
                  <a:srgbClr val="15364A"/>
                </a:solidFill>
                <a:latin typeface="DejaVu Sans"/>
                <a:ea typeface="DejaVu Sans"/>
                <a:cs typeface="DejaVu Sans"/>
              </a:defRPr>
            </a:lvl7pPr>
            <a:lvl8pPr>
              <a:defRPr sz="2400" b="1">
                <a:solidFill>
                  <a:srgbClr val="15364A"/>
                </a:solidFill>
                <a:latin typeface="DejaVu Sans"/>
                <a:ea typeface="DejaVu Sans"/>
                <a:cs typeface="DejaVu Sans"/>
              </a:defRPr>
            </a:lvl8pPr>
            <a:lvl9pPr>
              <a:defRPr sz="2400" b="1">
                <a:solidFill>
                  <a:srgbClr val="15364A"/>
                </a:solidFill>
                <a:latin typeface="DejaVu Sans"/>
                <a:ea typeface="DejaVu Sans"/>
                <a:cs typeface="DejaVu Sans"/>
              </a:defRPr>
            </a:lvl9pPr>
          </a:lstStyle>
          <a:p>
            <a:pPr>
              <a:defRPr sz="2400" b="1">
                <a:solidFill>
                  <a:srgbClr val="15364A"/>
                </a:solidFill>
                <a:latin typeface="DejaVu Sans"/>
                <a:ea typeface="DejaVu Sans"/>
                <a:cs typeface="DejaVu Sans"/>
              </a:defRPr>
            </a:pPr>
            <a:r>
              <a:rPr sz="2400" b="1">
                <a:solidFill>
                  <a:srgbClr val="15364A"/>
                </a:solidFill>
                <a:latin typeface="DejaVu Sans"/>
                <a:ea typeface="DejaVu Sans"/>
                <a:cs typeface="DejaVu Sans"/>
              </a:rPr>
              <a:t>Riwayat rawat inap berasosiasi dengan readmisi dini</a:t>
            </a:r>
          </a:p>
        </p:txBody>
      </p:sp>
      <p:sp>
        <p:nvSpPr>
          <p:cNvPr id="7" name="Rectangle 6">
            <a:extLst>
              <a:ext uri="{FF2B5EF4-FFF2-40B4-BE49-F238E27FC236}">
                <a16:creationId xmlns:a16="http://schemas.microsoft.com/office/drawing/2014/main" id="{7710D301-47FE-42AD-B41B-479296545C8C}"/>
              </a:ext>
            </a:extLst>
          </p:cNvPr>
          <p:cNvSpPr>
            <a:spLocks noGrp="1"/>
          </p:cNvSpPr>
          <p:nvPr/>
        </p:nvSpPr>
        <p:spPr>
          <a:xfrm>
            <a:off x="609600" y="4048125"/>
            <a:ext cx="1905000" cy="571500"/>
          </a:xfrm>
          <a:prstGeom prst="rect">
            <a:avLst/>
          </a:prstGeom>
          <a:noFill/>
          <a:ln w="0">
            <a:noFill/>
            <a:prstDash val="solid"/>
          </a:ln>
        </p:spPr>
        <p:txBody>
          <a:bodyPr lIns="0" tIns="0" rIns="0" bIns="0" anchor="t"/>
          <a:lstStyle>
            <a:defPPr>
              <a:defRPr sz="2700" b="1">
                <a:solidFill>
                  <a:srgbClr val="C56A29"/>
                </a:solidFill>
                <a:latin typeface="DejaVu Sans"/>
                <a:ea typeface="DejaVu Sans"/>
                <a:cs typeface="DejaVu Sans"/>
              </a:defRPr>
            </a:defPPr>
            <a:lvl1pPr>
              <a:defRPr sz="2700" b="1">
                <a:solidFill>
                  <a:srgbClr val="C56A29"/>
                </a:solidFill>
                <a:latin typeface="DejaVu Sans"/>
                <a:ea typeface="DejaVu Sans"/>
                <a:cs typeface="DejaVu Sans"/>
              </a:defRPr>
            </a:lvl1pPr>
            <a:lvl2pPr>
              <a:defRPr sz="2700" b="1">
                <a:solidFill>
                  <a:srgbClr val="C56A29"/>
                </a:solidFill>
                <a:latin typeface="DejaVu Sans"/>
                <a:ea typeface="DejaVu Sans"/>
                <a:cs typeface="DejaVu Sans"/>
              </a:defRPr>
            </a:lvl2pPr>
            <a:lvl3pPr>
              <a:defRPr sz="2700" b="1">
                <a:solidFill>
                  <a:srgbClr val="C56A29"/>
                </a:solidFill>
                <a:latin typeface="DejaVu Sans"/>
                <a:ea typeface="DejaVu Sans"/>
                <a:cs typeface="DejaVu Sans"/>
              </a:defRPr>
            </a:lvl3pPr>
            <a:lvl4pPr>
              <a:defRPr sz="2700" b="1">
                <a:solidFill>
                  <a:srgbClr val="C56A29"/>
                </a:solidFill>
                <a:latin typeface="DejaVu Sans"/>
                <a:ea typeface="DejaVu Sans"/>
                <a:cs typeface="DejaVu Sans"/>
              </a:defRPr>
            </a:lvl4pPr>
            <a:lvl5pPr>
              <a:defRPr sz="2700" b="1">
                <a:solidFill>
                  <a:srgbClr val="C56A29"/>
                </a:solidFill>
                <a:latin typeface="DejaVu Sans"/>
                <a:ea typeface="DejaVu Sans"/>
                <a:cs typeface="DejaVu Sans"/>
              </a:defRPr>
            </a:lvl5pPr>
            <a:lvl6pPr>
              <a:defRPr sz="2700" b="1">
                <a:solidFill>
                  <a:srgbClr val="C56A29"/>
                </a:solidFill>
                <a:latin typeface="DejaVu Sans"/>
                <a:ea typeface="DejaVu Sans"/>
                <a:cs typeface="DejaVu Sans"/>
              </a:defRPr>
            </a:lvl6pPr>
            <a:lvl7pPr>
              <a:defRPr sz="2700" b="1">
                <a:solidFill>
                  <a:srgbClr val="C56A29"/>
                </a:solidFill>
                <a:latin typeface="DejaVu Sans"/>
                <a:ea typeface="DejaVu Sans"/>
                <a:cs typeface="DejaVu Sans"/>
              </a:defRPr>
            </a:lvl7pPr>
            <a:lvl8pPr>
              <a:defRPr sz="2700" b="1">
                <a:solidFill>
                  <a:srgbClr val="C56A29"/>
                </a:solidFill>
                <a:latin typeface="DejaVu Sans"/>
                <a:ea typeface="DejaVu Sans"/>
                <a:cs typeface="DejaVu Sans"/>
              </a:defRPr>
            </a:lvl8pPr>
            <a:lvl9pPr>
              <a:defRPr sz="2700" b="1">
                <a:solidFill>
                  <a:srgbClr val="C56A29"/>
                </a:solidFill>
                <a:latin typeface="DejaVu Sans"/>
                <a:ea typeface="DejaVu Sans"/>
                <a:cs typeface="DejaVu Sans"/>
              </a:defRPr>
            </a:lvl9pPr>
          </a:lstStyle>
          <a:p>
            <a:pPr>
              <a:defRPr sz="2700" b="1">
                <a:solidFill>
                  <a:srgbClr val="C56A29"/>
                </a:solidFill>
                <a:latin typeface="DejaVu Sans"/>
                <a:ea typeface="DejaVu Sans"/>
                <a:cs typeface="DejaVu Sans"/>
              </a:defRPr>
            </a:pPr>
            <a:r>
              <a:rPr sz="2700" b="1">
                <a:solidFill>
                  <a:srgbClr val="C56A29"/>
                </a:solidFill>
                <a:latin typeface="DejaVu Sans"/>
                <a:ea typeface="DejaVu Sans"/>
                <a:cs typeface="DejaVu Sans"/>
              </a:rPr>
              <a:t>Batas</a:t>
            </a:r>
          </a:p>
        </p:txBody>
      </p:sp>
      <p:sp>
        <p:nvSpPr>
          <p:cNvPr id="8" name="Rectangle 7">
            <a:extLst>
              <a:ext uri="{FF2B5EF4-FFF2-40B4-BE49-F238E27FC236}">
                <a16:creationId xmlns:a16="http://schemas.microsoft.com/office/drawing/2014/main" id="{DC6E04BE-AD34-47EE-8CD8-EE7873988BA2}"/>
              </a:ext>
            </a:extLst>
          </p:cNvPr>
          <p:cNvSpPr>
            <a:spLocks noGrp="1"/>
          </p:cNvSpPr>
          <p:nvPr/>
        </p:nvSpPr>
        <p:spPr>
          <a:xfrm>
            <a:off x="2667000" y="4048125"/>
            <a:ext cx="8715375" cy="1047750"/>
          </a:xfrm>
          <a:prstGeom prst="rect">
            <a:avLst/>
          </a:prstGeom>
          <a:noFill/>
          <a:ln w="0">
            <a:noFill/>
            <a:prstDash val="solid"/>
          </a:ln>
        </p:spPr>
        <p:txBody>
          <a:bodyPr lIns="0" tIns="0" rIns="0" bIns="0" anchor="t"/>
          <a:lstStyle>
            <a:defPPr>
              <a:defRPr sz="2025" b="0">
                <a:solidFill>
                  <a:srgbClr val="52636F"/>
                </a:solidFill>
                <a:latin typeface="DejaVu Sans"/>
                <a:ea typeface="DejaVu Sans"/>
                <a:cs typeface="DejaVu Sans"/>
              </a:defRPr>
            </a:defPPr>
            <a:lvl1pPr>
              <a:defRPr sz="2025" b="0">
                <a:solidFill>
                  <a:srgbClr val="52636F"/>
                </a:solidFill>
                <a:latin typeface="DejaVu Sans"/>
                <a:ea typeface="DejaVu Sans"/>
                <a:cs typeface="DejaVu Sans"/>
              </a:defRPr>
            </a:lvl1pPr>
            <a:lvl2pPr>
              <a:defRPr sz="2025" b="0">
                <a:solidFill>
                  <a:srgbClr val="52636F"/>
                </a:solidFill>
                <a:latin typeface="DejaVu Sans"/>
                <a:ea typeface="DejaVu Sans"/>
                <a:cs typeface="DejaVu Sans"/>
              </a:defRPr>
            </a:lvl2pPr>
            <a:lvl3pPr>
              <a:defRPr sz="2025" b="0">
                <a:solidFill>
                  <a:srgbClr val="52636F"/>
                </a:solidFill>
                <a:latin typeface="DejaVu Sans"/>
                <a:ea typeface="DejaVu Sans"/>
                <a:cs typeface="DejaVu Sans"/>
              </a:defRPr>
            </a:lvl3pPr>
            <a:lvl4pPr>
              <a:defRPr sz="2025" b="0">
                <a:solidFill>
                  <a:srgbClr val="52636F"/>
                </a:solidFill>
                <a:latin typeface="DejaVu Sans"/>
                <a:ea typeface="DejaVu Sans"/>
                <a:cs typeface="DejaVu Sans"/>
              </a:defRPr>
            </a:lvl4pPr>
            <a:lvl5pPr>
              <a:defRPr sz="2025" b="0">
                <a:solidFill>
                  <a:srgbClr val="52636F"/>
                </a:solidFill>
                <a:latin typeface="DejaVu Sans"/>
                <a:ea typeface="DejaVu Sans"/>
                <a:cs typeface="DejaVu Sans"/>
              </a:defRPr>
            </a:lvl5pPr>
            <a:lvl6pPr>
              <a:defRPr sz="2025" b="0">
                <a:solidFill>
                  <a:srgbClr val="52636F"/>
                </a:solidFill>
                <a:latin typeface="DejaVu Sans"/>
                <a:ea typeface="DejaVu Sans"/>
                <a:cs typeface="DejaVu Sans"/>
              </a:defRPr>
            </a:lvl6pPr>
            <a:lvl7pPr>
              <a:defRPr sz="2025" b="0">
                <a:solidFill>
                  <a:srgbClr val="52636F"/>
                </a:solidFill>
                <a:latin typeface="DejaVu Sans"/>
                <a:ea typeface="DejaVu Sans"/>
                <a:cs typeface="DejaVu Sans"/>
              </a:defRPr>
            </a:lvl7pPr>
            <a:lvl8pPr>
              <a:defRPr sz="2025" b="0">
                <a:solidFill>
                  <a:srgbClr val="52636F"/>
                </a:solidFill>
                <a:latin typeface="DejaVu Sans"/>
                <a:ea typeface="DejaVu Sans"/>
                <a:cs typeface="DejaVu Sans"/>
              </a:defRPr>
            </a:lvl8pPr>
            <a:lvl9pPr>
              <a:defRPr sz="2025" b="0">
                <a:solidFill>
                  <a:srgbClr val="52636F"/>
                </a:solidFill>
                <a:latin typeface="DejaVu Sans"/>
                <a:ea typeface="DejaVu Sans"/>
                <a:cs typeface="DejaVu Sans"/>
              </a:defRPr>
            </a:lvl9pPr>
          </a:lstStyle>
          <a:p>
            <a:pPr>
              <a:defRPr sz="2025" b="0">
                <a:solidFill>
                  <a:srgbClr val="52636F"/>
                </a:solidFill>
                <a:latin typeface="DejaVu Sans"/>
                <a:ea typeface="DejaVu Sans"/>
                <a:cs typeface="DejaVu Sans"/>
              </a:defRPr>
            </a:pPr>
            <a:r>
              <a:rPr sz="2025" b="0">
                <a:solidFill>
                  <a:srgbClr val="52636F"/>
                </a:solidFill>
                <a:latin typeface="DejaVu Sans"/>
                <a:ea typeface="DejaVu Sans"/>
                <a:cs typeface="DejaVu Sans"/>
              </a:rPr>
              <a:t>Data historis dan kunjungan berulang</a:t>
            </a:r>
          </a:p>
          <a:p>
            <a:pPr>
              <a:defRPr sz="2025" b="0">
                <a:solidFill>
                  <a:srgbClr val="52636F"/>
                </a:solidFill>
                <a:latin typeface="DejaVu Sans"/>
                <a:ea typeface="DejaVu Sans"/>
                <a:cs typeface="DejaVu Sans"/>
              </a:defRPr>
            </a:pPr>
            <a:r>
              <a:rPr sz="2025" b="0">
                <a:solidFill>
                  <a:srgbClr val="52636F"/>
                </a:solidFill>
                <a:latin typeface="DejaVu Sans"/>
                <a:ea typeface="DejaVu Sans"/>
                <a:cs typeface="DejaVu Sans"/>
              </a:rPr>
              <a:t>Integrasi satu paket, binning variabel diskrit</a:t>
            </a:r>
          </a:p>
        </p:txBody>
      </p:sp>
      <p:sp>
        <p:nvSpPr>
          <p:cNvPr id="9" name="Rectangle 8">
            <a:extLst>
              <a:ext uri="{FF2B5EF4-FFF2-40B4-BE49-F238E27FC236}">
                <a16:creationId xmlns:a16="http://schemas.microsoft.com/office/drawing/2014/main" id="{E06B93FA-7897-477E-AA2A-913A68BDA2E0}"/>
              </a:ext>
            </a:extLst>
          </p:cNvPr>
          <p:cNvSpPr>
            <a:spLocks noGrp="1"/>
          </p:cNvSpPr>
          <p:nvPr/>
        </p:nvSpPr>
        <p:spPr>
          <a:xfrm>
            <a:off x="609600" y="5667375"/>
            <a:ext cx="10972800" cy="476250"/>
          </a:xfrm>
          <a:prstGeom prst="rect">
            <a:avLst/>
          </a:prstGeom>
          <a:noFill/>
          <a:ln w="0">
            <a:noFill/>
            <a:prstDash val="solid"/>
          </a:ln>
        </p:spPr>
        <p:txBody>
          <a:bodyPr lIns="0" tIns="0" rIns="0" bIns="0" anchor="t"/>
          <a:lstStyle>
            <a:defPPr>
              <a:defRPr sz="1725" b="0">
                <a:solidFill>
                  <a:srgbClr val="52636F"/>
                </a:solidFill>
                <a:latin typeface="DejaVu Sans"/>
                <a:ea typeface="DejaVu Sans"/>
                <a:cs typeface="DejaVu Sans"/>
              </a:defRPr>
            </a:defPPr>
            <a:lvl1pPr>
              <a:defRPr sz="1725" b="0">
                <a:solidFill>
                  <a:srgbClr val="52636F"/>
                </a:solidFill>
                <a:latin typeface="DejaVu Sans"/>
                <a:ea typeface="DejaVu Sans"/>
                <a:cs typeface="DejaVu Sans"/>
              </a:defRPr>
            </a:lvl1pPr>
            <a:lvl2pPr>
              <a:defRPr sz="1725" b="0">
                <a:solidFill>
                  <a:srgbClr val="52636F"/>
                </a:solidFill>
                <a:latin typeface="DejaVu Sans"/>
                <a:ea typeface="DejaVu Sans"/>
                <a:cs typeface="DejaVu Sans"/>
              </a:defRPr>
            </a:lvl2pPr>
            <a:lvl3pPr>
              <a:defRPr sz="1725" b="0">
                <a:solidFill>
                  <a:srgbClr val="52636F"/>
                </a:solidFill>
                <a:latin typeface="DejaVu Sans"/>
                <a:ea typeface="DejaVu Sans"/>
                <a:cs typeface="DejaVu Sans"/>
              </a:defRPr>
            </a:lvl3pPr>
            <a:lvl4pPr>
              <a:defRPr sz="1725" b="0">
                <a:solidFill>
                  <a:srgbClr val="52636F"/>
                </a:solidFill>
                <a:latin typeface="DejaVu Sans"/>
                <a:ea typeface="DejaVu Sans"/>
                <a:cs typeface="DejaVu Sans"/>
              </a:defRPr>
            </a:lvl4pPr>
            <a:lvl5pPr>
              <a:defRPr sz="1725" b="0">
                <a:solidFill>
                  <a:srgbClr val="52636F"/>
                </a:solidFill>
                <a:latin typeface="DejaVu Sans"/>
                <a:ea typeface="DejaVu Sans"/>
                <a:cs typeface="DejaVu Sans"/>
              </a:defRPr>
            </a:lvl5pPr>
            <a:lvl6pPr>
              <a:defRPr sz="1725" b="0">
                <a:solidFill>
                  <a:srgbClr val="52636F"/>
                </a:solidFill>
                <a:latin typeface="DejaVu Sans"/>
                <a:ea typeface="DejaVu Sans"/>
                <a:cs typeface="DejaVu Sans"/>
              </a:defRPr>
            </a:lvl6pPr>
            <a:lvl7pPr>
              <a:defRPr sz="1725" b="0">
                <a:solidFill>
                  <a:srgbClr val="52636F"/>
                </a:solidFill>
                <a:latin typeface="DejaVu Sans"/>
                <a:ea typeface="DejaVu Sans"/>
                <a:cs typeface="DejaVu Sans"/>
              </a:defRPr>
            </a:lvl7pPr>
            <a:lvl8pPr>
              <a:defRPr sz="1725" b="0">
                <a:solidFill>
                  <a:srgbClr val="52636F"/>
                </a:solidFill>
                <a:latin typeface="DejaVu Sans"/>
                <a:ea typeface="DejaVu Sans"/>
                <a:cs typeface="DejaVu Sans"/>
              </a:defRPr>
            </a:lvl8pPr>
            <a:lvl9pPr>
              <a:defRPr sz="1725" b="0">
                <a:solidFill>
                  <a:srgbClr val="52636F"/>
                </a:solidFill>
                <a:latin typeface="DejaVu Sans"/>
                <a:ea typeface="DejaVu Sans"/>
                <a:cs typeface="DejaVu Sans"/>
              </a:defRPr>
            </a:lvl9pPr>
          </a:lstStyle>
          <a:p>
            <a:pPr>
              <a:defRPr sz="1725" b="0">
                <a:solidFill>
                  <a:srgbClr val="52636F"/>
                </a:solidFill>
                <a:latin typeface="DejaVu Sans"/>
                <a:ea typeface="DejaVu Sans"/>
                <a:cs typeface="DejaVu Sans"/>
              </a:defRPr>
            </a:pPr>
            <a:r>
              <a:rPr sz="1725" b="0">
                <a:solidFill>
                  <a:srgbClr val="52636F"/>
                </a:solidFill>
                <a:latin typeface="DejaVu Sans"/>
                <a:ea typeface="DejaVu Sans"/>
                <a:cs typeface="DejaVu Sans"/>
              </a:rPr>
              <a:t>Bantuan AI: kode dan draf materi. Kelompok meninjau interpretasi akhir.</a:t>
            </a:r>
          </a:p>
        </p:txBody>
      </p:sp>
    </p:spTree>
    <p:extLst>
      <p:ext uri="{BB962C8B-B14F-4D97-AF65-F5344CB8AC3E}">
        <p14:creationId xmlns:p14="http://schemas.microsoft.com/office/powerpoint/2010/main" val="584303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CBB728-653E-49C7-90AA-761DC1D9346E}"/>
              </a:ext>
            </a:extLst>
          </p:cNvPr>
          <p:cNvSpPr>
            <a:spLocks noGrp="1"/>
          </p:cNvSpPr>
          <p:nvPr/>
        </p:nvSpPr>
        <p:spPr>
          <a:xfrm>
            <a:off x="609600" y="428625"/>
            <a:ext cx="10972800" cy="1028700"/>
          </a:xfrm>
          <a:prstGeom prst="rect">
            <a:avLst/>
          </a:prstGeom>
          <a:noFill/>
          <a:ln w="0">
            <a:noFill/>
            <a:prstDash val="solid"/>
          </a:ln>
        </p:spPr>
        <p:txBody>
          <a:bodyPr lIns="0" tIns="0" rIns="0" bIns="0" anchor="t"/>
          <a:lstStyle>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Referensi dan sumber hasil</a:t>
            </a:r>
          </a:p>
        </p:txBody>
      </p:sp>
      <p:sp>
        <p:nvSpPr>
          <p:cNvPr id="2" name="Rectangle 1">
            <a:extLst>
              <a:ext uri="{FF2B5EF4-FFF2-40B4-BE49-F238E27FC236}">
                <a16:creationId xmlns:a16="http://schemas.microsoft.com/office/drawing/2014/main" id="{156F0142-E1D3-43E1-B8F0-5BA0E6DFD36D}"/>
              </a:ext>
            </a:extLst>
          </p:cNvPr>
          <p:cNvSpPr>
            <a:spLocks noGrp="1"/>
          </p:cNvSpPr>
          <p:nvPr/>
        </p:nvSpPr>
        <p:spPr>
          <a:xfrm>
            <a:off x="609600" y="6334125"/>
            <a:ext cx="10858500" cy="285750"/>
          </a:xfrm>
          <a:prstGeom prst="rect">
            <a:avLst/>
          </a:prstGeom>
          <a:noFill/>
          <a:ln w="0">
            <a:noFill/>
            <a:prstDash val="solid"/>
          </a:ln>
        </p:spPr>
        <p:txBody>
          <a:bodyPr lIns="0" tIns="0" rIns="0" bIns="0" anchor="t"/>
          <a:lstStyle>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16.  Referensi pendukung</a:t>
            </a:r>
          </a:p>
        </p:txBody>
      </p:sp>
      <p:sp>
        <p:nvSpPr>
          <p:cNvPr id="3" name="Rectangle 2">
            <a:extLst>
              <a:ext uri="{FF2B5EF4-FFF2-40B4-BE49-F238E27FC236}">
                <a16:creationId xmlns:a16="http://schemas.microsoft.com/office/drawing/2014/main" id="{992493B0-6F94-4C9B-B8CE-50066CC3DF75}"/>
              </a:ext>
            </a:extLst>
          </p:cNvPr>
          <p:cNvSpPr>
            <a:spLocks noGrp="1"/>
          </p:cNvSpPr>
          <p:nvPr/>
        </p:nvSpPr>
        <p:spPr>
          <a:xfrm>
            <a:off x="609600" y="1619250"/>
            <a:ext cx="10972800" cy="857250"/>
          </a:xfrm>
          <a:prstGeom prst="rect">
            <a:avLst/>
          </a:prstGeom>
          <a:noFill/>
          <a:ln w="0">
            <a:noFill/>
            <a:prstDash val="solid"/>
          </a:ln>
        </p:spPr>
        <p:txBody>
          <a:bodyPr lIns="0" tIns="0" rIns="0" bIns="0" anchor="t"/>
          <a:lstStyle>
            <a:defPPr>
              <a:defRPr sz="2100" b="1">
                <a:solidFill>
                  <a:srgbClr val="15364A"/>
                </a:solidFill>
                <a:latin typeface="DejaVu Sans"/>
                <a:ea typeface="DejaVu Sans"/>
                <a:cs typeface="DejaVu Sans"/>
              </a:defRPr>
            </a:defPPr>
            <a:lvl1pPr>
              <a:defRPr sz="2100" b="1">
                <a:solidFill>
                  <a:srgbClr val="15364A"/>
                </a:solidFill>
                <a:latin typeface="DejaVu Sans"/>
                <a:ea typeface="DejaVu Sans"/>
                <a:cs typeface="DejaVu Sans"/>
              </a:defRPr>
            </a:lvl1pPr>
            <a:lvl2pPr>
              <a:defRPr sz="2100" b="1">
                <a:solidFill>
                  <a:srgbClr val="15364A"/>
                </a:solidFill>
                <a:latin typeface="DejaVu Sans"/>
                <a:ea typeface="DejaVu Sans"/>
                <a:cs typeface="DejaVu Sans"/>
              </a:defRPr>
            </a:lvl2pPr>
            <a:lvl3pPr>
              <a:defRPr sz="2100" b="1">
                <a:solidFill>
                  <a:srgbClr val="15364A"/>
                </a:solidFill>
                <a:latin typeface="DejaVu Sans"/>
                <a:ea typeface="DejaVu Sans"/>
                <a:cs typeface="DejaVu Sans"/>
              </a:defRPr>
            </a:lvl3pPr>
            <a:lvl4pPr>
              <a:defRPr sz="2100" b="1">
                <a:solidFill>
                  <a:srgbClr val="15364A"/>
                </a:solidFill>
                <a:latin typeface="DejaVu Sans"/>
                <a:ea typeface="DejaVu Sans"/>
                <a:cs typeface="DejaVu Sans"/>
              </a:defRPr>
            </a:lvl4pPr>
            <a:lvl5pPr>
              <a:defRPr sz="2100" b="1">
                <a:solidFill>
                  <a:srgbClr val="15364A"/>
                </a:solidFill>
                <a:latin typeface="DejaVu Sans"/>
                <a:ea typeface="DejaVu Sans"/>
                <a:cs typeface="DejaVu Sans"/>
              </a:defRPr>
            </a:lvl5pPr>
            <a:lvl6pPr>
              <a:defRPr sz="2100" b="1">
                <a:solidFill>
                  <a:srgbClr val="15364A"/>
                </a:solidFill>
                <a:latin typeface="DejaVu Sans"/>
                <a:ea typeface="DejaVu Sans"/>
                <a:cs typeface="DejaVu Sans"/>
              </a:defRPr>
            </a:lvl6pPr>
            <a:lvl7pPr>
              <a:defRPr sz="2100" b="1">
                <a:solidFill>
                  <a:srgbClr val="15364A"/>
                </a:solidFill>
                <a:latin typeface="DejaVu Sans"/>
                <a:ea typeface="DejaVu Sans"/>
                <a:cs typeface="DejaVu Sans"/>
              </a:defRPr>
            </a:lvl7pPr>
            <a:lvl8pPr>
              <a:defRPr sz="2100" b="1">
                <a:solidFill>
                  <a:srgbClr val="15364A"/>
                </a:solidFill>
                <a:latin typeface="DejaVu Sans"/>
                <a:ea typeface="DejaVu Sans"/>
                <a:cs typeface="DejaVu Sans"/>
              </a:defRPr>
            </a:lvl8pPr>
            <a:lvl9pPr>
              <a:defRPr sz="2100" b="1">
                <a:solidFill>
                  <a:srgbClr val="15364A"/>
                </a:solidFill>
                <a:latin typeface="DejaVu Sans"/>
                <a:ea typeface="DejaVu Sans"/>
                <a:cs typeface="DejaVu Sans"/>
              </a:defRPr>
            </a:lvl9pPr>
          </a:lstStyle>
          <a:p>
            <a:pPr>
              <a:defRPr sz="2100" b="1">
                <a:solidFill>
                  <a:srgbClr val="15364A"/>
                </a:solidFill>
                <a:latin typeface="DejaVu Sans"/>
                <a:ea typeface="DejaVu Sans"/>
                <a:cs typeface="DejaVu Sans"/>
              </a:defRPr>
            </a:pPr>
            <a:r>
              <a:rPr sz="2100" b="1">
                <a:solidFill>
                  <a:srgbClr val="15364A"/>
                </a:solidFill>
                <a:latin typeface="DejaVu Sans"/>
                <a:ea typeface="DejaVu Sans"/>
                <a:cs typeface="DejaVu Sans"/>
              </a:rPr>
              <a:t>Sumber hasil</a:t>
            </a:r>
          </a:p>
          <a:p>
            <a:pPr>
              <a:defRPr sz="2100" b="1">
                <a:solidFill>
                  <a:srgbClr val="15364A"/>
                </a:solidFill>
                <a:latin typeface="DejaVu Sans"/>
                <a:ea typeface="DejaVu Sans"/>
                <a:cs typeface="DejaVu Sans"/>
              </a:defRPr>
            </a:pPr>
            <a:r>
              <a:rPr sz="2100" b="1">
                <a:solidFill>
                  <a:srgbClr val="15364A"/>
                </a:solidFill>
                <a:latin typeface="DejaVu Sans"/>
                <a:ea typeface="DejaVu Sans"/>
                <a:cs typeface="DejaVu Sans"/>
              </a:rPr>
              <a:t>Dua laporan MP2 dan MP4 serta output notebook kelompok</a:t>
            </a:r>
          </a:p>
        </p:txBody>
      </p:sp>
      <p:sp>
        <p:nvSpPr>
          <p:cNvPr id="4" name="Rectangle 3">
            <a:extLst>
              <a:ext uri="{FF2B5EF4-FFF2-40B4-BE49-F238E27FC236}">
                <a16:creationId xmlns:a16="http://schemas.microsoft.com/office/drawing/2014/main" id="{A6382C2A-5BBF-4500-949A-A5D3965423BD}"/>
              </a:ext>
            </a:extLst>
          </p:cNvPr>
          <p:cNvSpPr>
            <a:spLocks noGrp="1"/>
          </p:cNvSpPr>
          <p:nvPr/>
        </p:nvSpPr>
        <p:spPr>
          <a:xfrm>
            <a:off x="609600" y="2762250"/>
            <a:ext cx="5429250" cy="2571750"/>
          </a:xfrm>
          <a:prstGeom prst="rect">
            <a:avLst/>
          </a:prstGeom>
          <a:noFill/>
          <a:ln w="0">
            <a:noFill/>
            <a:prstDash val="solid"/>
          </a:ln>
        </p:spPr>
        <p:txBody>
          <a:bodyPr lIns="0" tIns="0" rIns="0" bIns="0" anchor="t"/>
          <a:lstStyle>
            <a:defPPr>
              <a:defRPr sz="1800" b="0">
                <a:solidFill>
                  <a:srgbClr val="52636F"/>
                </a:solidFill>
                <a:latin typeface="DejaVu Sans"/>
                <a:ea typeface="DejaVu Sans"/>
                <a:cs typeface="DejaVu Sans"/>
              </a:defRPr>
            </a:defPPr>
            <a:lvl1pPr>
              <a:defRPr sz="1800" b="0">
                <a:solidFill>
                  <a:srgbClr val="52636F"/>
                </a:solidFill>
                <a:latin typeface="DejaVu Sans"/>
                <a:ea typeface="DejaVu Sans"/>
                <a:cs typeface="DejaVu Sans"/>
              </a:defRPr>
            </a:lvl1pPr>
            <a:lvl2pPr>
              <a:defRPr sz="1800" b="0">
                <a:solidFill>
                  <a:srgbClr val="52636F"/>
                </a:solidFill>
                <a:latin typeface="DejaVu Sans"/>
                <a:ea typeface="DejaVu Sans"/>
                <a:cs typeface="DejaVu Sans"/>
              </a:defRPr>
            </a:lvl2pPr>
            <a:lvl3pPr>
              <a:defRPr sz="1800" b="0">
                <a:solidFill>
                  <a:srgbClr val="52636F"/>
                </a:solidFill>
                <a:latin typeface="DejaVu Sans"/>
                <a:ea typeface="DejaVu Sans"/>
                <a:cs typeface="DejaVu Sans"/>
              </a:defRPr>
            </a:lvl3pPr>
            <a:lvl4pPr>
              <a:defRPr sz="1800" b="0">
                <a:solidFill>
                  <a:srgbClr val="52636F"/>
                </a:solidFill>
                <a:latin typeface="DejaVu Sans"/>
                <a:ea typeface="DejaVu Sans"/>
                <a:cs typeface="DejaVu Sans"/>
              </a:defRPr>
            </a:lvl4pPr>
            <a:lvl5pPr>
              <a:defRPr sz="1800" b="0">
                <a:solidFill>
                  <a:srgbClr val="52636F"/>
                </a:solidFill>
                <a:latin typeface="DejaVu Sans"/>
                <a:ea typeface="DejaVu Sans"/>
                <a:cs typeface="DejaVu Sans"/>
              </a:defRPr>
            </a:lvl5pPr>
            <a:lvl6pPr>
              <a:defRPr sz="1800" b="0">
                <a:solidFill>
                  <a:srgbClr val="52636F"/>
                </a:solidFill>
                <a:latin typeface="DejaVu Sans"/>
                <a:ea typeface="DejaVu Sans"/>
                <a:cs typeface="DejaVu Sans"/>
              </a:defRPr>
            </a:lvl6pPr>
            <a:lvl7pPr>
              <a:defRPr sz="1800" b="0">
                <a:solidFill>
                  <a:srgbClr val="52636F"/>
                </a:solidFill>
                <a:latin typeface="DejaVu Sans"/>
                <a:ea typeface="DejaVu Sans"/>
                <a:cs typeface="DejaVu Sans"/>
              </a:defRPr>
            </a:lvl7pPr>
            <a:lvl8pPr>
              <a:defRPr sz="1800" b="0">
                <a:solidFill>
                  <a:srgbClr val="52636F"/>
                </a:solidFill>
                <a:latin typeface="DejaVu Sans"/>
                <a:ea typeface="DejaVu Sans"/>
                <a:cs typeface="DejaVu Sans"/>
              </a:defRPr>
            </a:lvl8pPr>
            <a:lvl9pPr>
              <a:defRPr sz="1800" b="0">
                <a:solidFill>
                  <a:srgbClr val="52636F"/>
                </a:solidFill>
                <a:latin typeface="DejaVu Sans"/>
                <a:ea typeface="DejaVu Sans"/>
                <a:cs typeface="DejaVu Sans"/>
              </a:defRPr>
            </a:lvl9pPr>
          </a:lstStyle>
          <a:p>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Clore dkk. (2014). UCI Diabetes 130-US Hospitals</a:t>
            </a:r>
          </a:p>
          <a:p>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doi.org/10.24432/C5230J</a:t>
            </a:r>
          </a:p>
          <a:p>
            <a:endParaRPr sz="1800" b="0">
              <a:solidFill>
                <a:srgbClr val="52636F"/>
              </a:solidFill>
              <a:latin typeface="DejaVu Sans"/>
              <a:ea typeface="DejaVu Sans"/>
              <a:cs typeface="DejaVu Sans"/>
            </a:endParaRPr>
          </a:p>
          <a:p>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Strack dkk. (2014). Impact of HbA1c Measurement…</a:t>
            </a:r>
          </a:p>
          <a:p>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doi.org/10.1155/2014/781670</a:t>
            </a:r>
          </a:p>
        </p:txBody>
      </p:sp>
      <p:sp>
        <p:nvSpPr>
          <p:cNvPr id="5" name="Rectangle 4">
            <a:extLst>
              <a:ext uri="{FF2B5EF4-FFF2-40B4-BE49-F238E27FC236}">
                <a16:creationId xmlns:a16="http://schemas.microsoft.com/office/drawing/2014/main" id="{5652A979-EDAF-423E-B614-5F56D0A8A2F5}"/>
              </a:ext>
            </a:extLst>
          </p:cNvPr>
          <p:cNvSpPr>
            <a:spLocks noGrp="1"/>
          </p:cNvSpPr>
          <p:nvPr/>
        </p:nvSpPr>
        <p:spPr>
          <a:xfrm>
            <a:off x="6429375" y="2762250"/>
            <a:ext cx="5095875" cy="2571750"/>
          </a:xfrm>
          <a:prstGeom prst="rect">
            <a:avLst/>
          </a:prstGeom>
          <a:noFill/>
          <a:ln w="0">
            <a:noFill/>
            <a:prstDash val="solid"/>
          </a:ln>
        </p:spPr>
        <p:txBody>
          <a:bodyPr lIns="0" tIns="0" rIns="0" bIns="0" anchor="t"/>
          <a:lstStyle>
            <a:defPPr>
              <a:defRPr sz="1800" b="0">
                <a:solidFill>
                  <a:srgbClr val="52636F"/>
                </a:solidFill>
                <a:latin typeface="DejaVu Sans"/>
                <a:ea typeface="DejaVu Sans"/>
                <a:cs typeface="DejaVu Sans"/>
              </a:defRPr>
            </a:defPPr>
            <a:lvl1pPr>
              <a:defRPr sz="1800" b="0">
                <a:solidFill>
                  <a:srgbClr val="52636F"/>
                </a:solidFill>
                <a:latin typeface="DejaVu Sans"/>
                <a:ea typeface="DejaVu Sans"/>
                <a:cs typeface="DejaVu Sans"/>
              </a:defRPr>
            </a:lvl1pPr>
            <a:lvl2pPr>
              <a:defRPr sz="1800" b="0">
                <a:solidFill>
                  <a:srgbClr val="52636F"/>
                </a:solidFill>
                <a:latin typeface="DejaVu Sans"/>
                <a:ea typeface="DejaVu Sans"/>
                <a:cs typeface="DejaVu Sans"/>
              </a:defRPr>
            </a:lvl2pPr>
            <a:lvl3pPr>
              <a:defRPr sz="1800" b="0">
                <a:solidFill>
                  <a:srgbClr val="52636F"/>
                </a:solidFill>
                <a:latin typeface="DejaVu Sans"/>
                <a:ea typeface="DejaVu Sans"/>
                <a:cs typeface="DejaVu Sans"/>
              </a:defRPr>
            </a:lvl3pPr>
            <a:lvl4pPr>
              <a:defRPr sz="1800" b="0">
                <a:solidFill>
                  <a:srgbClr val="52636F"/>
                </a:solidFill>
                <a:latin typeface="DejaVu Sans"/>
                <a:ea typeface="DejaVu Sans"/>
                <a:cs typeface="DejaVu Sans"/>
              </a:defRPr>
            </a:lvl4pPr>
            <a:lvl5pPr>
              <a:defRPr sz="1800" b="0">
                <a:solidFill>
                  <a:srgbClr val="52636F"/>
                </a:solidFill>
                <a:latin typeface="DejaVu Sans"/>
                <a:ea typeface="DejaVu Sans"/>
                <a:cs typeface="DejaVu Sans"/>
              </a:defRPr>
            </a:lvl5pPr>
            <a:lvl6pPr>
              <a:defRPr sz="1800" b="0">
                <a:solidFill>
                  <a:srgbClr val="52636F"/>
                </a:solidFill>
                <a:latin typeface="DejaVu Sans"/>
                <a:ea typeface="DejaVu Sans"/>
                <a:cs typeface="DejaVu Sans"/>
              </a:defRPr>
            </a:lvl6pPr>
            <a:lvl7pPr>
              <a:defRPr sz="1800" b="0">
                <a:solidFill>
                  <a:srgbClr val="52636F"/>
                </a:solidFill>
                <a:latin typeface="DejaVu Sans"/>
                <a:ea typeface="DejaVu Sans"/>
                <a:cs typeface="DejaVu Sans"/>
              </a:defRPr>
            </a:lvl7pPr>
            <a:lvl8pPr>
              <a:defRPr sz="1800" b="0">
                <a:solidFill>
                  <a:srgbClr val="52636F"/>
                </a:solidFill>
                <a:latin typeface="DejaVu Sans"/>
                <a:ea typeface="DejaVu Sans"/>
                <a:cs typeface="DejaVu Sans"/>
              </a:defRPr>
            </a:lvl8pPr>
            <a:lvl9pPr>
              <a:defRPr sz="1800" b="0">
                <a:solidFill>
                  <a:srgbClr val="52636F"/>
                </a:solidFill>
                <a:latin typeface="DejaVu Sans"/>
                <a:ea typeface="DejaVu Sans"/>
                <a:cs typeface="DejaVu Sans"/>
              </a:defRPr>
            </a:lvl9pPr>
          </a:lstStyle>
          <a:p>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Pedregosa dkk. (2011). Scikit-learn</a:t>
            </a:r>
          </a:p>
          <a:p>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jmlr.org/papers/v12/pedregosa11a.html</a:t>
            </a:r>
          </a:p>
          <a:p>
            <a:endParaRPr sz="1800" b="0">
              <a:solidFill>
                <a:srgbClr val="52636F"/>
              </a:solidFill>
              <a:latin typeface="DejaVu Sans"/>
              <a:ea typeface="DejaVu Sans"/>
              <a:cs typeface="DejaVu Sans"/>
            </a:endParaRPr>
          </a:p>
          <a:p>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Dokumentasi GroupShuffleSplit dan Shapiro–Wilk</a:t>
            </a:r>
          </a:p>
          <a:p>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NIST e-Handbook: Exploratory Data Analysis</a:t>
            </a:r>
          </a:p>
        </p:txBody>
      </p:sp>
      <p:sp>
        <p:nvSpPr>
          <p:cNvPr id="6" name="Rectangle 5">
            <a:extLst>
              <a:ext uri="{FF2B5EF4-FFF2-40B4-BE49-F238E27FC236}">
                <a16:creationId xmlns:a16="http://schemas.microsoft.com/office/drawing/2014/main" id="{E6424527-355A-4153-8B7E-C34DCED6DEC8}"/>
              </a:ext>
            </a:extLst>
          </p:cNvPr>
          <p:cNvSpPr>
            <a:spLocks noGrp="1"/>
          </p:cNvSpPr>
          <p:nvPr/>
        </p:nvSpPr>
        <p:spPr>
          <a:xfrm>
            <a:off x="609600" y="5715000"/>
            <a:ext cx="10972800" cy="381000"/>
          </a:xfrm>
          <a:prstGeom prst="rect">
            <a:avLst/>
          </a:prstGeom>
          <a:noFill/>
          <a:ln w="0">
            <a:noFill/>
            <a:prstDash val="solid"/>
          </a:ln>
        </p:spPr>
        <p:txBody>
          <a:bodyPr lIns="0" tIns="0" rIns="0" bIns="0" anchor="t"/>
          <a:lstStyle>
            <a:defPPr>
              <a:defRPr sz="1950" b="1">
                <a:solidFill>
                  <a:srgbClr val="087F8C"/>
                </a:solidFill>
                <a:latin typeface="DejaVu Sans"/>
                <a:ea typeface="DejaVu Sans"/>
                <a:cs typeface="DejaVu Sans"/>
              </a:defRPr>
            </a:defPPr>
            <a:lvl1pPr>
              <a:defRPr sz="1950" b="1">
                <a:solidFill>
                  <a:srgbClr val="087F8C"/>
                </a:solidFill>
                <a:latin typeface="DejaVu Sans"/>
                <a:ea typeface="DejaVu Sans"/>
                <a:cs typeface="DejaVu Sans"/>
              </a:defRPr>
            </a:lvl1pPr>
            <a:lvl2pPr>
              <a:defRPr sz="1950" b="1">
                <a:solidFill>
                  <a:srgbClr val="087F8C"/>
                </a:solidFill>
                <a:latin typeface="DejaVu Sans"/>
                <a:ea typeface="DejaVu Sans"/>
                <a:cs typeface="DejaVu Sans"/>
              </a:defRPr>
            </a:lvl2pPr>
            <a:lvl3pPr>
              <a:defRPr sz="1950" b="1">
                <a:solidFill>
                  <a:srgbClr val="087F8C"/>
                </a:solidFill>
                <a:latin typeface="DejaVu Sans"/>
                <a:ea typeface="DejaVu Sans"/>
                <a:cs typeface="DejaVu Sans"/>
              </a:defRPr>
            </a:lvl3pPr>
            <a:lvl4pPr>
              <a:defRPr sz="1950" b="1">
                <a:solidFill>
                  <a:srgbClr val="087F8C"/>
                </a:solidFill>
                <a:latin typeface="DejaVu Sans"/>
                <a:ea typeface="DejaVu Sans"/>
                <a:cs typeface="DejaVu Sans"/>
              </a:defRPr>
            </a:lvl4pPr>
            <a:lvl5pPr>
              <a:defRPr sz="1950" b="1">
                <a:solidFill>
                  <a:srgbClr val="087F8C"/>
                </a:solidFill>
                <a:latin typeface="DejaVu Sans"/>
                <a:ea typeface="DejaVu Sans"/>
                <a:cs typeface="DejaVu Sans"/>
              </a:defRPr>
            </a:lvl5pPr>
            <a:lvl6pPr>
              <a:defRPr sz="1950" b="1">
                <a:solidFill>
                  <a:srgbClr val="087F8C"/>
                </a:solidFill>
                <a:latin typeface="DejaVu Sans"/>
                <a:ea typeface="DejaVu Sans"/>
                <a:cs typeface="DejaVu Sans"/>
              </a:defRPr>
            </a:lvl6pPr>
            <a:lvl7pPr>
              <a:defRPr sz="1950" b="1">
                <a:solidFill>
                  <a:srgbClr val="087F8C"/>
                </a:solidFill>
                <a:latin typeface="DejaVu Sans"/>
                <a:ea typeface="DejaVu Sans"/>
                <a:cs typeface="DejaVu Sans"/>
              </a:defRPr>
            </a:lvl7pPr>
            <a:lvl8pPr>
              <a:defRPr sz="1950" b="1">
                <a:solidFill>
                  <a:srgbClr val="087F8C"/>
                </a:solidFill>
                <a:latin typeface="DejaVu Sans"/>
                <a:ea typeface="DejaVu Sans"/>
                <a:cs typeface="DejaVu Sans"/>
              </a:defRPr>
            </a:lvl8pPr>
            <a:lvl9pPr>
              <a:defRPr sz="1950" b="1">
                <a:solidFill>
                  <a:srgbClr val="087F8C"/>
                </a:solidFill>
                <a:latin typeface="DejaVu Sans"/>
                <a:ea typeface="DejaVu Sans"/>
                <a:cs typeface="DejaVu Sans"/>
              </a:defRPr>
            </a:lvl9pPr>
          </a:lstStyle>
          <a:p>
            <a:pPr>
              <a:defRPr sz="1950" b="1">
                <a:solidFill>
                  <a:srgbClr val="087F8C"/>
                </a:solidFill>
                <a:latin typeface="DejaVu Sans"/>
                <a:ea typeface="DejaVu Sans"/>
                <a:cs typeface="DejaVu Sans"/>
              </a:defRPr>
            </a:pPr>
            <a:r>
              <a:rPr sz="1950" b="1">
                <a:solidFill>
                  <a:srgbClr val="087F8C"/>
                </a:solidFill>
                <a:latin typeface="DejaVu Sans"/>
                <a:ea typeface="DejaVu Sans"/>
                <a:cs typeface="DejaVu Sans"/>
              </a:rPr>
              <a:t>Dataset berlisensi CC BY 4.0</a:t>
            </a:r>
          </a:p>
        </p:txBody>
      </p:sp>
    </p:spTree>
    <p:extLst>
      <p:ext uri="{BB962C8B-B14F-4D97-AF65-F5344CB8AC3E}">
        <p14:creationId xmlns:p14="http://schemas.microsoft.com/office/powerpoint/2010/main" val="45847431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3283</Words>
  <Application>Microsoft Office PowerPoint</Application>
  <DocSecurity>0</DocSecurity>
  <PresentationFormat>Widescreen</PresentationFormat>
  <Paragraphs>385</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Bagus Hardiansyah</cp:lastModifiedBy>
  <cp:revision>1</cp:revision>
  <dcterms:created xsi:type="dcterms:W3CDTF">2026-10-26T12:15:06Z</dcterms:created>
  <dcterms:modified xsi:type="dcterms:W3CDTF">2026-10-26T12:20:48Z</dcterms:modified>
</cp:coreProperties>
</file>